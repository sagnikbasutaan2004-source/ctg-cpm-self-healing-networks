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CTG-CPM  //  v1.0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9144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PATENT PENDING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91440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GenAI + AGENTIC AI +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4200" b="0">
                <a:solidFill>
                  <a:srgbClr val="8B949E"/>
                </a:solidFill>
                <a:latin typeface="Segoe UI Light"/>
              </a:defRPr>
            </a:pPr>
            <a:r>
              <a:t>Self-Healing Networks via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5200" b="1">
                <a:solidFill>
                  <a:srgbClr val="FFFFFF"/>
                </a:solidFill>
                <a:latin typeface="Segoe UI"/>
              </a:defRPr>
            </a:pPr>
            <a:r>
              <a:t>Counterfactual Telemetry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23360"/>
            <a:ext cx="2743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914400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8B949E"/>
                </a:solidFill>
                <a:latin typeface="Segoe UI"/>
              </a:defRPr>
            </a:pPr>
            <a:r>
              <a:rPr dirty="0"/>
              <a:t>Autonomous Predictive Maintenance using Generative &amp; Agentic AI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D2A8FF"/>
                </a:solidFill>
                <a:latin typeface="Segoe UI"/>
              </a:defRPr>
            </a:pPr>
            <a:r>
              <a:rPr dirty="0"/>
              <a:t>with Game-Theoretic Multi-Agent </a:t>
            </a:r>
            <a:r>
              <a:rPr dirty="0" smtClean="0"/>
              <a:t>Optimization</a:t>
            </a:r>
            <a:endParaRPr lang="en-US" dirty="0"/>
          </a:p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D2A8FF"/>
                </a:solidFill>
                <a:latin typeface="Segoe UI"/>
              </a:defRPr>
            </a:pPr>
            <a:endParaRPr lang="en-US" dirty="0" smtClean="0"/>
          </a:p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D2A8FF"/>
                </a:solidFill>
                <a:latin typeface="Segoe UI"/>
              </a:defRPr>
            </a:pPr>
            <a:r>
              <a:rPr lang="en-US" sz="1400" dirty="0" smtClean="0"/>
              <a:t>SAGNIK BASU 23MID0042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D2A8FF"/>
                </a:solidFill>
                <a:latin typeface="Segoe UI"/>
              </a:defRPr>
            </a:pPr>
            <a:r>
              <a:rPr lang="en-US" sz="1400" dirty="0" smtClean="0"/>
              <a:t>C SRIHARSHA 23MID0111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D2A8FF"/>
                </a:solidFill>
                <a:latin typeface="Segoe UI"/>
              </a:defRPr>
            </a:pPr>
            <a:r>
              <a:rPr lang="en-US" sz="1400" dirty="0" smtClean="0"/>
              <a:t>MAITREE SINGH 23MID0076</a:t>
            </a:r>
            <a:endParaRPr sz="1400" dirty="0"/>
          </a:p>
        </p:txBody>
      </p:sp>
      <p:sp>
        <p:nvSpPr>
          <p:cNvPr id="10" name="Oval 9"/>
          <p:cNvSpPr/>
          <p:nvPr/>
        </p:nvSpPr>
        <p:spPr>
          <a:xfrm>
            <a:off x="10058400" y="457200"/>
            <a:ext cx="548640" cy="54864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789920" y="914400"/>
            <a:ext cx="365760" cy="36576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515600" y="1645920"/>
            <a:ext cx="274320" cy="27432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155680" y="274320"/>
            <a:ext cx="320040" cy="320040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8288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05156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9784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8B949E"/>
                </a:solidFill>
                <a:latin typeface="Segoe UI"/>
              </a:defRPr>
            </a:pPr>
            <a:r>
              <a:t>Current predictive maintenance (PdM) systems in telecom and cloud infrastructure operate as opaque “black boxes” — they can predict that a failure will occur but cannot explain why or autonomously prescribe what to do about it.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E6EDF3"/>
                </a:solidFill>
                <a:latin typeface="Segoe UI"/>
              </a:defRPr>
            </a:pPr>
            <a:r>
              <a:t>CTG-CPM introduces a novel closed-loop system that leverages Generative AI (Time-Series Diffusion Models) to synthesize hypothetical future network telemetry, Graph Neural Networks (GNNs) to enforce topology-aware constraints, and Multi-Agent Agentic AI to autonomously diagnose, test, and deploy fixes — all within sub-second latency.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D2A8FF"/>
                </a:solidFill>
                <a:latin typeface="Segoe UI"/>
              </a:defRPr>
            </a:pPr>
            <a:r>
              <a:t>We further integrate Algorithmic Game Theory concepts — VCG Auction Mechanisms, Shapley Value decomposition, and Nash Equilibrium coordination — to provably optimize the multi-agent decision-making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1264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&lt; 10s MTTR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61264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40% OPEX SAVINGS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61264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ZERO-RISK FIXES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61264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3 PATENT CLAIMS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Current Predictive Maintenance is a Black 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91840" cy="3200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22402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OPACITY</a:t>
            </a:r>
          </a:p>
        </p:txBody>
      </p:sp>
      <p:sp>
        <p:nvSpPr>
          <p:cNvPr id="10" name="Oval 9"/>
          <p:cNvSpPr/>
          <p:nvPr/>
        </p:nvSpPr>
        <p:spPr>
          <a:xfrm>
            <a:off x="3291840" y="2194560"/>
            <a:ext cx="411480" cy="411480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⚠  The 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Today’s AI can predict that a network node will fail in X hours, but cannot explain WHY or WHAT to do about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3291840" cy="3200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63440" y="22402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MANUAL FIX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0" y="2194560"/>
            <a:ext cx="411480" cy="41148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⚡  The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004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NOC engineers must manually guess the best remediation and deploy it live, risking further cascading outages.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291840" cy="3200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21040" y="22402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OPEX DRAIN</a:t>
            </a:r>
          </a:p>
        </p:txBody>
      </p:sp>
      <p:sp>
        <p:nvSpPr>
          <p:cNvPr id="20" name="Oval 19"/>
          <p:cNvSpPr/>
          <p:nvPr/>
        </p:nvSpPr>
        <p:spPr>
          <a:xfrm>
            <a:off x="10607040" y="2194560"/>
            <a:ext cx="411480" cy="41148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💰  The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Companies perform costly “blind” hardware replacements (truck rolls) because they cannot safely test configurations on live traffic.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10515600" cy="731520"/>
          </a:xfrm>
          <a:prstGeom prst="roundRect">
            <a:avLst/>
          </a:prstGeom>
          <a:solidFill>
            <a:srgbClr val="1C1010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557784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CURRENT STATE:   AI Predicts Failure  →  Human Writes Script  →  MANUAL  •  SLOW  •  RISKY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Introducing CTG-CPM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82880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8B949E"/>
                </a:solidFill>
                <a:latin typeface="Segoe UI"/>
              </a:defRPr>
            </a:pPr>
            <a:r>
              <a:t>A closed-loop system that generates hypothetical futures, tests fixes in a digital twin, and deploys the verified fix autonomously.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3291840" cy="32918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5840" y="26974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STEP 01</a:t>
            </a:r>
          </a:p>
        </p:txBody>
      </p:sp>
      <p:sp>
        <p:nvSpPr>
          <p:cNvPr id="11" name="Oval 10"/>
          <p:cNvSpPr/>
          <p:nvPr/>
        </p:nvSpPr>
        <p:spPr>
          <a:xfrm>
            <a:off x="3291840" y="2651760"/>
            <a:ext cx="411480" cy="4114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GenAI for “What-If”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We use Generative AI (Time-Series Diffusion) to synthesize “Counterfactual Telemetry” — simulated future network data based on hypothetical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468880"/>
            <a:ext cx="3291840" cy="32918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63440" y="26974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STEP 02</a:t>
            </a:r>
          </a:p>
        </p:txBody>
      </p:sp>
      <p:sp>
        <p:nvSpPr>
          <p:cNvPr id="16" name="Oval 15"/>
          <p:cNvSpPr/>
          <p:nvPr/>
        </p:nvSpPr>
        <p:spPr>
          <a:xfrm>
            <a:off x="6949440" y="2651760"/>
            <a:ext cx="411480" cy="41148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Agentic Causal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49039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Multi-Agent AI analyzes this synthetic data to pinpoint exact root causes and test fixes. VCG auctions allocate tasks optimally.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468880"/>
            <a:ext cx="3291840" cy="32918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21040" y="26974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STEP 03</a:t>
            </a:r>
          </a:p>
        </p:txBody>
      </p:sp>
      <p:sp>
        <p:nvSpPr>
          <p:cNvPr id="21" name="Oval 20"/>
          <p:cNvSpPr/>
          <p:nvPr/>
        </p:nvSpPr>
        <p:spPr>
          <a:xfrm>
            <a:off x="10607040" y="2651760"/>
            <a:ext cx="411480" cy="41148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Autonomous Remediation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749039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The system verifies the fix in a digital twin sandbox via Nash Equilibrium coordination, then deploys it to the live network.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943600"/>
            <a:ext cx="10515600" cy="548640"/>
          </a:xfrm>
          <a:prstGeom prst="roundRect">
            <a:avLst/>
          </a:prstGeom>
          <a:solidFill>
            <a:srgbClr val="0C1C0C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9893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7EE787"/>
                </a:solidFill>
                <a:latin typeface="Segoe UI"/>
              </a:defRPr>
            </a:pPr>
            <a:r>
              <a:t>OUR INNOVATION:   AI Predicts  →  AI Generates Futures  →  AI Tests &amp; Fixes Autonomously   •  CLOSED-LOOP  •  &lt; 10 SECONDS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The 4-Stage Patentable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B949E"/>
                </a:solidFill>
                <a:latin typeface="Segoe UI"/>
              </a:defRPr>
            </a:pPr>
            <a:r>
              <a:t>From live telemetry ingestion to autonomous execution — a closed loop that runs in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2468880" cy="34747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5840" y="260604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58A6FF"/>
                </a:solidFill>
                <a:latin typeface="Segoe UI"/>
              </a:defRPr>
            </a:pPr>
            <a:r>
              <a:t>DETECT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301752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~1s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747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GNN maps live topology</a:t>
            </a:r>
            <a:br/>
            <a:r>
              <a:t>and detects anomalies</a:t>
            </a:r>
            <a:br/>
            <a:r>
              <a:t>(thermal, optical, traffic)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37560" y="3931920"/>
            <a:ext cx="274320" cy="22860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66160" y="2377440"/>
            <a:ext cx="2468880" cy="34747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840480" y="2606040"/>
            <a:ext cx="457200" cy="45720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D2A8FF"/>
                </a:solidFill>
                <a:latin typeface="Segoe UI"/>
              </a:defRPr>
            </a:pPr>
            <a:r>
              <a:t>GENERATE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01752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~2s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747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Diffusion model creates</a:t>
            </a:r>
            <a:br/>
            <a:r>
              <a:t>N counterfactual streams</a:t>
            </a:r>
            <a:br/>
            <a:r>
              <a:t>conditioned on K</a:t>
            </a:r>
            <a:br/>
            <a:r>
              <a:t>interventions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72200" y="3931920"/>
            <a:ext cx="274320" cy="22860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0" y="2377440"/>
            <a:ext cx="2468880" cy="34747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75120" y="2606040"/>
            <a:ext cx="457200" cy="45720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7EE787"/>
                </a:solidFill>
                <a:latin typeface="Segoe UI"/>
              </a:defRPr>
            </a:pPr>
            <a:r>
              <a:t>SIMULATE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301752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~2s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747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Agent 1: Root cause via</a:t>
            </a:r>
            <a:br/>
            <a:r>
              <a:t>Shapley + Causal Inf.</a:t>
            </a:r>
            <a:br/>
            <a:r>
              <a:t>Agent 2: Test in DT</a:t>
            </a:r>
            <a:br/>
            <a:r>
              <a:t>Agent 3: Write fix script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06840" y="3931920"/>
            <a:ext cx="274320" cy="22860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235440" y="2377440"/>
            <a:ext cx="2468880" cy="34747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509760" y="2606040"/>
            <a:ext cx="457200" cy="457200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A657"/>
                </a:solidFill>
                <a:latin typeface="Segoe UI"/>
              </a:defRPr>
            </a:pPr>
            <a:r>
              <a:t>DEPLOY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301752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~5s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4747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NETCONF/YANG push</a:t>
            </a:r>
            <a:br/>
            <a:r>
              <a:t>verified config</a:t>
            </a:r>
            <a:br/>
            <a:r>
              <a:t>+ rollback engine</a:t>
            </a:r>
            <a:br/>
            <a:r>
              <a:t>+ full audit trail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035040"/>
            <a:ext cx="10515600" cy="411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605332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79C0FF"/>
                </a:solidFill>
                <a:latin typeface="Segoe UI"/>
              </a:defRPr>
            </a:pPr>
            <a:r>
              <a:t>TOTAL END-TO-END LATENCY:  &lt; 10 SECONDS   │  DETECT ~1s  →  GENERATE ~2s  →  SIMULATE ~2s  →  DEPLOY ~5s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ALGORITHMS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45720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E6EDF3"/>
                </a:solidFill>
                <a:latin typeface="Segoe UI"/>
              </a:defRPr>
            </a:pPr>
            <a:r>
              <a:t>PART 1: CORE ML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Core Algorithm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182880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5840" y="2103120"/>
            <a:ext cx="411480" cy="4114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03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58A6FF"/>
                </a:solidFill>
                <a:latin typeface="Segoe UI"/>
              </a:defRPr>
            </a:pPr>
            <a:r>
              <a:t>Time-Series Diffusion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484F58"/>
                </a:solidFill>
                <a:latin typeface="Segoe UI"/>
              </a:defRPr>
            </a:pPr>
            <a:r>
              <a:t>Counterfactual Telemetry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Denoising score matching on multivariate time-series</a:t>
            </a:r>
            <a:br/>
            <a:r>
              <a:t>• Conditioned on intervention variables</a:t>
            </a:r>
            <a:br/>
            <a:r>
              <a:t>• Protocol-constrained generation (valid OSNR, IP ranges)</a:t>
            </a:r>
            <a:br/>
            <a:r>
              <a:t>• Based on Diffusion-TS architecture (ICLR 2024)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502920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92240" y="2103120"/>
            <a:ext cx="411480" cy="41148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103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7EE787"/>
                </a:solidFill>
                <a:latin typeface="Segoe UI"/>
              </a:defRPr>
            </a:pPr>
            <a:r>
              <a:t>Graph Neural Network (GraphSAGE)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484F58"/>
                </a:solidFill>
                <a:latin typeface="Segoe UI"/>
              </a:defRPr>
            </a:pPr>
            <a:r>
              <a:t>Topology-Aware Anomaly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346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GraphSAGE with temporal attention layers</a:t>
            </a:r>
            <a:br/>
            <a:r>
              <a:t>• Spatial (inter-device) + Temporal (time-series) learning</a:t>
            </a:r>
            <a:br/>
            <a:r>
              <a:t>• Cascade failure propagation modeling</a:t>
            </a:r>
            <a:br/>
            <a:r>
              <a:t>• Dynamic graph updates every 60 seconds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1051560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" y="4389120"/>
            <a:ext cx="411480" cy="411480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A657"/>
                </a:solidFill>
                <a:latin typeface="Segoe UI"/>
              </a:defRPr>
            </a:pPr>
            <a:r>
              <a:t>Multi-Agent Causal Loop (Agentic AI Orchestration)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93776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Agent 1 — Diagnostician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Granger Causality + Do-Calculus</a:t>
            </a:r>
            <a:br/>
            <a:r>
              <a:t>for root cause identification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93776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Agent 2 — Simulator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Tests candidate fixes in</a:t>
            </a:r>
            <a:br/>
            <a:r>
              <a:t>digital twin sandbox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93776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Agent 3 — Executor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Generates NETCONF/YANG</a:t>
            </a:r>
            <a:br/>
            <a:r>
              <a:t>configuration scripts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ALGORITHMS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45720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PART 2: GAME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Algorithmic Game Theory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Provably optimal multi-agent coordination — not heuristic, not approximate, mathematically guaranteed.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5120640" cy="1828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20" y="2468880"/>
            <a:ext cx="365760" cy="3657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58A6FF"/>
                </a:solidFill>
                <a:latin typeface="Segoe UI"/>
              </a:defRPr>
            </a:pPr>
            <a:r>
              <a:t>VCG Auction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4688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DSIC GUARANTEED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34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484F58"/>
                </a:solidFill>
                <a:latin typeface="Segoe UI"/>
              </a:defRPr>
            </a:pPr>
            <a:r>
              <a:t>Agent Task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63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Agents bid on remediation tasks based on true capability. VCG guarantees DSIC — truthful bidding is the dominant strategy, ensuring globally optimal assignment.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5120640" cy="1828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46520" y="2468880"/>
            <a:ext cx="365760" cy="36576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7EE787"/>
                </a:solidFill>
                <a:latin typeface="Segoe UI"/>
              </a:defRPr>
            </a:pPr>
            <a:r>
              <a:t>Shapley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4688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AXIOMATIC FAIR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34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484F58"/>
                </a:solidFill>
                <a:latin typeface="Segoe UI"/>
              </a:defRPr>
            </a:pPr>
            <a:r>
              <a:t>Root-Cause Attribution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Decomposes anomaly contribution across telemetry features with axiomatic fairness: Efficiency, Symmetry, Linearity, and Null-Player properties.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5120640" cy="1828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0120" y="4572000"/>
            <a:ext cx="365760" cy="36576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D2A8FF"/>
                </a:solidFill>
                <a:latin typeface="Segoe UI"/>
              </a:defRPr>
            </a:pPr>
            <a:r>
              <a:t>Nash Equilibrium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5720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STABLE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37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484F58"/>
                </a:solidFill>
                <a:latin typeface="Segoe UI"/>
              </a:defRPr>
            </a:pPr>
            <a:r>
              <a:t>Conflict Resolution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166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Models remediation as a non-cooperative game. Fictitious Play converges to NE — no agent can unilaterally improve by changing its action.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389120"/>
            <a:ext cx="5120640" cy="1828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46520" y="4572000"/>
            <a:ext cx="365760" cy="365760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A657"/>
                </a:solidFill>
                <a:latin typeface="Segoe UI"/>
              </a:defRPr>
            </a:pPr>
            <a:r>
              <a:t>Groves Mechanism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45720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TRUTH-DOMINANT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937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484F58"/>
                </a:solidFill>
                <a:latin typeface="Segoe UI"/>
              </a:defRPr>
            </a:pPr>
            <a:r>
              <a:t>Truthful Telemetry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166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In multi-vendor networks, incentivizes domains to report truthful telemetry. Payment depends on others’ welfare → truth is dominant strategy.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Key Advantages of CTG-CPM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82880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965960"/>
            <a:ext cx="347472" cy="347472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7EE787"/>
                </a:solidFill>
                <a:latin typeface="Segoe UI"/>
              </a:defRPr>
            </a:pPr>
            <a:r>
              <a:t>Sub-Second MTTR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MTTR from hours/days to &lt; 10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828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63240" y="1965960"/>
            <a:ext cx="347472" cy="347472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Zero-Risk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880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Validated in digital twin before live deploy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828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257800" y="1965960"/>
            <a:ext cx="347472" cy="347472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A657"/>
                </a:solidFill>
                <a:latin typeface="Segoe UI"/>
              </a:defRPr>
            </a:pPr>
            <a:r>
              <a:t>40% OPEX Cut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880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Eliminates unnecessary truck rolls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199" y="1828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452359" y="1965960"/>
            <a:ext cx="347472" cy="347472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D2A8FF"/>
                </a:solidFill>
                <a:latin typeface="Segoe UI"/>
              </a:defRPr>
            </a:pPr>
            <a:r>
              <a:t>Explainable RCA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2880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Shapley attribution for transparency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1828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46920" y="1965960"/>
            <a:ext cx="347472" cy="347472"/>
          </a:xfrm>
          <a:prstGeom prst="ellipse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79C0FF"/>
                </a:solidFill>
                <a:latin typeface="Segoe UI"/>
              </a:defRPr>
            </a:pPr>
            <a:r>
              <a:t>Data Scarcity 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880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GenAI creates unlimited synthetic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14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68680" y="4251960"/>
            <a:ext cx="347472" cy="347472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7EE787"/>
                </a:solidFill>
                <a:latin typeface="Segoe UI"/>
              </a:defRPr>
            </a:pPr>
            <a:r>
              <a:t>Topology-Aware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166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GNN respects physical network constraints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4114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063240" y="4251960"/>
            <a:ext cx="347472" cy="347472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A657"/>
                </a:solidFill>
                <a:latin typeface="Segoe UI"/>
              </a:defRPr>
            </a:pPr>
            <a:r>
              <a:t>Optimal Coordination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5166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Game theory guarantees conflict-free ops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0" y="4114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257800" y="4251960"/>
            <a:ext cx="347472" cy="347472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Vendor-Agnostic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5166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NETCONF/YANG works across all vendors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199" y="4114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452359" y="4251960"/>
            <a:ext cx="347472" cy="347472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59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D2A8FF"/>
                </a:solidFill>
                <a:latin typeface="Segoe UI"/>
              </a:defRPr>
            </a:pPr>
            <a:r>
              <a:t>Scalable Agents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59" y="5166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Add more agents without architecture changes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9760" y="4114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646920" y="4251960"/>
            <a:ext cx="347472" cy="347472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7B72"/>
                </a:solidFill>
                <a:latin typeface="Segoe UI"/>
              </a:defRPr>
            </a:pPr>
            <a:r>
              <a:t>Patent Protected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5166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3 novel patent claims for IP defense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Challenges &amp; Mitigation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96596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Computational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Diffusion models are iteratively expensive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8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Distilled diffusion (fewer steps) + edge-optimized architectures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182880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599" y="196596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79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Cold-Start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99" y="23317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Requires initial telemetry for GNN training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79" y="292608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03319" y="29260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19" y="3154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Transfer learning from simulated environments (Simu5G)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182880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46519" y="196596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999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Sim-Reality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19" y="23317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Digital twin may not perfectly replicate live behavior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799" y="292608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39" y="29260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39" y="3154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Domain randomization + periodic model recalibration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182880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235440" y="196596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Regulatory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3317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Autonomous remediation on critical infrastructure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292608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81160" y="29260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154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Human-in-the-loop override + full audit trails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16052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68680" y="429768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270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Multi-Vendor Complexity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6634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NETCONF/YANG varies across vendors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25780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52578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4864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Vendor abstraction layer with per-vendor adaptors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20439" y="416052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657599" y="429768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9079" y="4270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Game Theory Overhead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599" y="46634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VCG computation is NP-hard in general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11879" y="525780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703319" y="52578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3319" y="54864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Bounded agent/task spaces + polynomial approximations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59" y="416052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446519" y="429768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7999" y="4270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Adversarial Robustness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19" y="46634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Counterfactuals could be manipulated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799" y="525780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92239" y="52578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39" y="54864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Adversarial training + anomaly detection on synthetic quality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98280" y="416052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235440" y="429768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46920" y="4270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Trust &amp; Adoption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46634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Engineers may resist fully autonomous systems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89720" y="525780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81160" y="52578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81160" y="54864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Graduated autonomy: Advisory → Semi-Auto → Fully Auto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457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E6EDF3"/>
                </a:solidFill>
                <a:latin typeface="Segoe UI"/>
              </a:defRPr>
            </a:pPr>
            <a:r>
              <a:t>PAGE 1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Related Work &amp; Differentiation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4320" y="1691640"/>
            <a:ext cx="11430000" cy="320040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Paper / Authors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91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691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CTG-CPM Differentiator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057400"/>
            <a:ext cx="11430000" cy="530352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07568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0756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Diffusion-TS</a:t>
            </a:r>
            <a:br/>
            <a:r>
              <a:t>Zeng, Chen, Zhang, Xu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7568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0756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ICLR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0756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Denoising Diffusion</a:t>
            </a:r>
            <a:br/>
            <a:r>
              <a:t>+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0756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We add GNN topology</a:t>
            </a:r>
            <a:br/>
            <a:r>
              <a:t>constraints + intervention</a:t>
            </a:r>
            <a:br/>
            <a:r>
              <a:t>conditioning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2624328"/>
            <a:ext cx="11430000" cy="530352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2642616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64261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TSDiff</a:t>
            </a:r>
            <a:br/>
            <a:r>
              <a:t>Kollovieh, Ansari et 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2642616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264261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NeurIPS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6426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Unconditional Diffusion</a:t>
            </a:r>
            <a:br/>
            <a:r>
              <a:t>+ Self-guidance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64261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CTG-CPM uses conditional</a:t>
            </a:r>
            <a:br/>
            <a:r>
              <a:t>generation tied to</a:t>
            </a:r>
            <a:br/>
            <a:r>
              <a:t>remediation 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191256"/>
            <a:ext cx="11430000" cy="530352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3209544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0954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NetDiffusion</a:t>
            </a:r>
            <a:br/>
            <a:r>
              <a:t>Jiang, Liu, Feamster et 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209544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320954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ACM</a:t>
            </a:r>
            <a:br/>
            <a:r>
              <a:t>POMACS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320954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Protocol-aware</a:t>
            </a:r>
            <a:br/>
            <a:r>
              <a:t>Stable Diffusion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20954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We generate telemetry-</a:t>
            </a:r>
            <a:br/>
            <a:r>
              <a:t>level counterfactuals,</a:t>
            </a:r>
            <a:br/>
            <a:r>
              <a:t>not packet-level traffic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3758183"/>
            <a:ext cx="11430000" cy="530352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3776471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77647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Simba (5G RCA)</a:t>
            </a:r>
            <a:br/>
            <a:r>
              <a:t>Hasan, Boeira et 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3776471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377647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arXiv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3776471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GNN +</a:t>
            </a:r>
            <a:br/>
            <a:r>
              <a:t>Transformer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377647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Simba detects only;</a:t>
            </a:r>
            <a:br/>
            <a:r>
              <a:t>CTG-CPM closes the</a:t>
            </a:r>
            <a:br/>
            <a:r>
              <a:t>loop to remediation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4325112"/>
            <a:ext cx="11430000" cy="530352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434340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4343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Time-Series Diffusion</a:t>
            </a:r>
            <a:br/>
            <a:r>
              <a:t>Survey — Yang et al.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43434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60" y="43434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ACM</a:t>
            </a:r>
            <a:br/>
            <a:r>
              <a:t>Comp.</a:t>
            </a:r>
            <a:br/>
            <a:r>
              <a:t>Surveys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4343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Survey of DDPM,</a:t>
            </a:r>
            <a:br/>
            <a:r>
              <a:t>Score-based models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4343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Survey only; CTG-CPM</a:t>
            </a:r>
            <a:br/>
            <a:r>
              <a:t>is a full end-to-end</a:t>
            </a:r>
            <a:br/>
            <a:r>
              <a:t>deployed system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4892040"/>
            <a:ext cx="11430000" cy="530352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491032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49103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Autohma-LLM</a:t>
            </a:r>
            <a:br/>
            <a:r>
              <a:t>IEEE TCCN authors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49103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51960" y="49103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IEEE</a:t>
            </a:r>
            <a:br/>
            <a:r>
              <a:t>TCCN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49103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LLM hybrid</a:t>
            </a:r>
            <a:br/>
            <a:r>
              <a:t>multi-agent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49103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We use VCG auctions</a:t>
            </a:r>
            <a:br/>
            <a:r>
              <a:t>for provable optimality</a:t>
            </a:r>
            <a:br/>
            <a:r>
              <a:t>vs. heuristic LLM prompts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" y="5458968"/>
            <a:ext cx="11430000" cy="530352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5477256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47725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GNN+SHAP for 5G SDN</a:t>
            </a:r>
            <a:br/>
            <a:r>
              <a:t>SciOpen / Tsinghua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0" y="5477256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51960" y="547725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Big Data</a:t>
            </a:r>
            <a:br/>
            <a:r>
              <a:t>Mining &amp;</a:t>
            </a:r>
            <a:br/>
            <a:r>
              <a:t>Analytics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54772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GNN + Multi-Head</a:t>
            </a:r>
            <a:br/>
            <a:r>
              <a:t>Attention + SHAP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547725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Shapley used in-loop</a:t>
            </a:r>
            <a:br/>
            <a:r>
              <a:t>for real-time RCA,</a:t>
            </a:r>
            <a:br/>
            <a:r>
              <a:t>not post-hoc explanation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" y="6025896"/>
            <a:ext cx="11430000" cy="530352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6044184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604418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VCG+MARL for 6G IoV</a:t>
            </a:r>
            <a:br/>
            <a:r>
              <a:t>arXiv cs.GT / cs.NI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91840" y="6044184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51960" y="604418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arXiv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0" y="60441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VCG + MARL</a:t>
            </a:r>
            <a:br/>
            <a:r>
              <a:t>for resource slicing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1000" y="604418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VCG applied to</a:t>
            </a:r>
            <a:br/>
            <a:r>
              <a:t>remediation allocation,</a:t>
            </a:r>
            <a:br/>
            <a:r>
              <a:t>not traffic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457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E6EDF3"/>
                </a:solidFill>
                <a:latin typeface="Segoe UI"/>
              </a:defRPr>
            </a:pPr>
            <a:r>
              <a:t>PAGE 2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Related Work &amp; Differentiation (cont.)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286000" cy="381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4320" y="1691640"/>
            <a:ext cx="11430000" cy="320040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Paper / Authors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91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691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CTG-CPM Differentiator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057400"/>
            <a:ext cx="11430000" cy="5486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07568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0756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Latency Anomaly in 5G</a:t>
            </a:r>
            <a:br/>
            <a:r>
              <a:t>MDPI Sensors authors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7568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0756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MDPI</a:t>
            </a:r>
            <a:br/>
            <a:r>
              <a:t>Sensors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0756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ConvAE +</a:t>
            </a:r>
            <a:br/>
            <a:r>
              <a:t>LSTM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0756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Limited to latency;</a:t>
            </a:r>
            <a:br/>
            <a:r>
              <a:t>CTG-CPM handles</a:t>
            </a:r>
            <a:br/>
            <a:r>
              <a:t>multivariate telemetry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2651760"/>
            <a:ext cx="11430000" cy="548640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267004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6700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Robust Adaptive Mechs.</a:t>
            </a:r>
            <a:br/>
            <a:r>
              <a:t>arXiv cs.GT authors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267004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26700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arXiv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6700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Online Learning</a:t>
            </a:r>
            <a:br/>
            <a:r>
              <a:t>+ VCG-style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6700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Theoretical only;</a:t>
            </a:r>
            <a:br/>
            <a:r>
              <a:t>CTG-CPM applies in</a:t>
            </a:r>
            <a:br/>
            <a:r>
              <a:t>concrete network system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246120"/>
            <a:ext cx="11430000" cy="5486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326440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6440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GAPPO Task Allocation</a:t>
            </a:r>
            <a:br/>
            <a:r>
              <a:t>MDPI Applied Sciences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2644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32644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MDPI</a:t>
            </a:r>
            <a:br/>
            <a:r>
              <a:t>Applied</a:t>
            </a:r>
            <a:br/>
            <a:r>
              <a:t>Sciences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32644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Genetic Algo</a:t>
            </a:r>
            <a:br/>
            <a:r>
              <a:t>+ PPO (MARL)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26440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We use formal game</a:t>
            </a:r>
            <a:br/>
            <a:r>
              <a:t>theory guarantees, not</a:t>
            </a:r>
            <a:br/>
            <a:r>
              <a:t>evolutionary heuristics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3840480"/>
            <a:ext cx="11430000" cy="548640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385876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8587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MARL Network Healing</a:t>
            </a:r>
            <a:br/>
            <a:r>
              <a:t>IEEE Trans. Veh. Tech.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385876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38587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IEEE</a:t>
            </a:r>
            <a:br/>
            <a:r>
              <a:t>TVT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38587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MAPPO,</a:t>
            </a:r>
            <a:br/>
            <a:r>
              <a:t>MADDPG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3858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CTG-CPM agents use</a:t>
            </a:r>
            <a:br/>
            <a:r>
              <a:t>synthetic counterfactual</a:t>
            </a:r>
            <a:br/>
            <a:r>
              <a:t>data, not just live obs.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4434840"/>
            <a:ext cx="11430000" cy="5486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445312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44531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Generative DT for PdM</a:t>
            </a:r>
            <a:br/>
            <a:r>
              <a:t>MDPI Machines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44531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60" y="44531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MDPI</a:t>
            </a:r>
            <a:br/>
            <a:r>
              <a:t>Machines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44531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GAN-based</a:t>
            </a:r>
            <a:br/>
            <a:r>
              <a:t>Digital Twin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44531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Diffusion &gt; GAN quality;</a:t>
            </a:r>
            <a:br/>
            <a:r>
              <a:t>plus agentic autonomous</a:t>
            </a:r>
            <a:br/>
            <a:r>
              <a:t>remediation layer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029200"/>
            <a:ext cx="11430000" cy="548640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504748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0474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Causal AI &amp; Digital Twins</a:t>
            </a:r>
            <a:br/>
            <a:r>
              <a:t>IEEE/ACM ASE + RESS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504748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51960" y="50474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IEEE/ACM</a:t>
            </a:r>
            <a:br/>
            <a:r>
              <a:t>ASE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50474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Causal DAGs,</a:t>
            </a:r>
            <a:br/>
            <a:r>
              <a:t>Do-Calculus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50474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Theoretical framework;</a:t>
            </a:r>
            <a:br/>
            <a:r>
              <a:t>CTG-CPM deploys a</a:t>
            </a:r>
            <a:br/>
            <a:r>
              <a:t>concrete causal loop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" y="5623560"/>
            <a:ext cx="11430000" cy="5486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564184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6418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GenAI Edge PdM</a:t>
            </a:r>
            <a:br/>
            <a:r>
              <a:t>Pothireddy N.K.R.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0" y="564184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51960" y="56418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IEEE</a:t>
            </a:r>
            <a:br/>
            <a:r>
              <a:t>Transactions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5641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Lightweight GenAI</a:t>
            </a:r>
            <a:br/>
            <a:r>
              <a:t>for IoT edge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56418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Edge-focused only;</a:t>
            </a:r>
            <a:br/>
            <a:r>
              <a:t>CTG-CPM spans full</a:t>
            </a:r>
            <a:br/>
            <a:r>
              <a:t>network + game theory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6263640"/>
            <a:ext cx="10515600" cy="320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14400" y="62636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79C0FF"/>
                </a:solidFill>
                <a:latin typeface="Segoe UI"/>
              </a:defRPr>
            </a:pPr>
            <a:r>
              <a:t>15 PAPERS REVIEWED  │  7 CONFERENCES/JOURNALS  │  4 NOVEL DIFFERENTIATORS: Counterfactual GenAI + Agentic Loop + GNN Topology + Game Theory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5-Layer 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0116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58A6FF"/>
                </a:solidFill>
                <a:latin typeface="Segoe UI"/>
              </a:defRPr>
            </a:pPr>
            <a: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80360"/>
            <a:ext cx="173736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0632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Kafka, gNMI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InfluxDB, Neo4j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etcd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60320" y="3474720"/>
            <a:ext cx="22860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43200" y="1828800"/>
            <a:ext cx="20116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880360" y="2011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LAYER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23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7EE787"/>
                </a:solidFill>
                <a:latin typeface="Segoe UI"/>
              </a:defRPr>
            </a:pPr>
            <a:r>
              <a:t>TOPOLOGY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880360"/>
            <a:ext cx="173736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80360" y="30632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GraphSAGE GNN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Anomaly Detector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Cascade Predictor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46320" y="3474720"/>
            <a:ext cx="22860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29200" y="1828800"/>
            <a:ext cx="20116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66360" y="2011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LAYER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423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D2A8FF"/>
                </a:solidFill>
                <a:latin typeface="Segoe UI"/>
              </a:defRPr>
            </a:pPr>
            <a:r>
              <a:t>GenAI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2880360"/>
            <a:ext cx="173736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66360" y="30632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Time-Series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Diffusion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Counterfactual Gen.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32320" y="3474720"/>
            <a:ext cx="22860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15200" y="1828800"/>
            <a:ext cx="20116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52360" y="2011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LAYER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423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FFA657"/>
                </a:solidFill>
                <a:latin typeface="Segoe UI"/>
              </a:defRPr>
            </a:pPr>
            <a:r>
              <a:t>AGENTIC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2880360"/>
            <a:ext cx="1737360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52360" y="30632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3 AI Agents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VCG Auction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Nash Equilibrium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418320" y="3474720"/>
            <a:ext cx="22860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601200" y="1828800"/>
            <a:ext cx="20116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738360" y="2011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LAYER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2423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FF7B72"/>
                </a:solidFill>
                <a:latin typeface="Segoe UI"/>
              </a:defRPr>
            </a:pPr>
            <a:r>
              <a:t>EXECUTION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38360" y="2880360"/>
            <a:ext cx="1737360" cy="381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38360" y="30632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NETCONF/YANG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Config Validator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Rollback Engine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52160"/>
            <a:ext cx="10972800" cy="457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87044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D2A8FF"/>
                </a:solidFill>
                <a:latin typeface="Segoe UI"/>
              </a:defRPr>
            </a:pPr>
            <a:r>
              <a:t>DATA FLOW:  Live Telemetry  →  Graph Mapping  →  Counterfactual Generation  →  Agent Testing  →  Autonomous Deployment   │  5 LAYERS  •  0 RESEARCH BETS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5G Backhaul Fiber Link Failure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A 5G optical transceiver shows micro-fluctuations in OSNR. Standard PdM flags it for hardware replacement in 2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2468880" cy="2743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2377440"/>
            <a:ext cx="365760" cy="3657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59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58A6FF"/>
                </a:solidFill>
                <a:latin typeface="Segoe UI"/>
              </a:defRPr>
            </a:pPr>
            <a:r>
              <a:t>DETECT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23774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~1s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GNN detects OSNR anomaly.</a:t>
            </a:r>
            <a:br/>
            <a:r>
              <a:t>Cascade Risk Predictor flags</a:t>
            </a:r>
            <a:br/>
            <a:r>
              <a:t>3 downstream nodes at risk.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91840" y="3383280"/>
            <a:ext cx="27432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20439" y="2194560"/>
            <a:ext cx="2468880" cy="2743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703319" y="2377440"/>
            <a:ext cx="365760" cy="36576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19" y="2359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D2A8FF"/>
                </a:solidFill>
                <a:latin typeface="Segoe UI"/>
              </a:defRPr>
            </a:pPr>
            <a:r>
              <a:t>GENERATE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49485" y="236829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~2s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19" y="2880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Diffusion generates 5 counter-</a:t>
            </a:r>
            <a:br/>
            <a:r>
              <a:t>factual streams: shift load,</a:t>
            </a:r>
            <a:br/>
            <a:r>
              <a:t>increase laser bias, reroute,</a:t>
            </a:r>
            <a:br/>
            <a:r>
              <a:t>reduce traffic, replace HW.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80759" y="3383280"/>
            <a:ext cx="27432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09359" y="2194560"/>
            <a:ext cx="2468880" cy="2743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92239" y="2377440"/>
            <a:ext cx="365760" cy="36576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39" y="2359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7EE787"/>
                </a:solidFill>
                <a:latin typeface="Segoe UI"/>
              </a:defRPr>
            </a:pPr>
            <a:r>
              <a:t>SIMULATE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236829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rPr dirty="0"/>
              <a:t>~2s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39" y="2880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VCG assigns Agent 1 to diagnose.</a:t>
            </a:r>
            <a:br/>
            <a:r>
              <a:t>Shapley: Laser = 72% cause.</a:t>
            </a:r>
            <a:br/>
            <a:r>
              <a:t>Agent 2: Increasing laser bias</a:t>
            </a:r>
            <a:br/>
            <a:r>
              <a:t>stabilizes OSNR for 6+ months.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69679" y="3383280"/>
            <a:ext cx="27432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098280" y="2194560"/>
            <a:ext cx="2468880" cy="2743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281160" y="2377440"/>
            <a:ext cx="365760" cy="365760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359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A657"/>
                </a:solidFill>
                <a:latin typeface="Segoe UI"/>
              </a:defRPr>
            </a:pPr>
            <a:r>
              <a:t>DEPLOY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23774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~5s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880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Agent 3 generates NETCONF/</a:t>
            </a:r>
            <a:br/>
            <a:r>
              <a:t>YANG config change for laser</a:t>
            </a:r>
            <a:br/>
            <a:r>
              <a:t>bias. Validator approves.</a:t>
            </a:r>
            <a:br/>
            <a:r>
              <a:t>Pushed live via API.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21208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ZERO DOWNTIME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521208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ZERO TRUCK ROLL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21208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6-MONTH LIFE EXTENSION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521208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FULL AUDIT TRAIL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669280"/>
            <a:ext cx="10515600" cy="548640"/>
          </a:xfrm>
          <a:prstGeom prst="roundRect">
            <a:avLst/>
          </a:prstGeom>
          <a:solidFill>
            <a:srgbClr val="0C1C0C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715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7EE787"/>
                </a:solidFill>
                <a:latin typeface="Segoe UI"/>
              </a:defRPr>
            </a:pPr>
            <a:r>
              <a:t>RESULT:  Software fix deployed autonomously — no service interruption, no hardware replacement, equipment life extended 6 months. Total time: &lt; 10 seconds.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IMPACT &amp;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Transforming Network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468880" cy="25603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7EE787"/>
                </a:solidFill>
                <a:latin typeface="Segoe UI"/>
              </a:defRPr>
            </a:pPr>
            <a:r>
              <a:t>&lt;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7EE787"/>
                </a:solidFill>
                <a:latin typeface="Segoe UI"/>
              </a:defRPr>
            </a:pPr>
            <a:r>
              <a:t>SECONDS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926080"/>
            <a:ext cx="192024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MTTR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From hours/days to</a:t>
            </a:r>
            <a:br/>
            <a:r>
              <a:t>single-digit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1828800"/>
            <a:ext cx="2468880" cy="25603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19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58A6FF"/>
                </a:solidFill>
                <a:latin typeface="Segoe UI"/>
              </a:defRPr>
            </a:pPr>
            <a: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19" y="2606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58A6FF"/>
                </a:solidFill>
                <a:latin typeface="Segoe UI"/>
              </a:defRPr>
            </a:pPr>
            <a:r>
              <a:t>SAVINGS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59" y="2926080"/>
            <a:ext cx="192024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03319" y="3063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OPEX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19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Eliminates unnecessary</a:t>
            </a:r>
            <a:br/>
            <a:r>
              <a:t>hardware truck rolls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1828800"/>
            <a:ext cx="2468880" cy="25603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39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D2A8FF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9" y="2606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D2A8FF"/>
                </a:solidFill>
                <a:latin typeface="Segoe UI"/>
              </a:defRPr>
            </a:pPr>
            <a:r>
              <a:t>VALIDATED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79" y="2926080"/>
            <a:ext cx="192024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39" y="3063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Zero-Risk Fixes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39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All fixes proven safe in</a:t>
            </a:r>
            <a:br/>
            <a:r>
              <a:t>digital twin first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828800"/>
            <a:ext cx="2468880" cy="25603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6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FFA65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606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FFA657"/>
                </a:solidFill>
                <a:latin typeface="Segoe UI"/>
              </a:defRPr>
            </a:pPr>
            <a:r>
              <a:t>CASCADING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600" y="2926080"/>
            <a:ext cx="1920240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60" y="3063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Outages Prevented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Stops failures from</a:t>
            </a:r>
            <a:br/>
            <a:r>
              <a:t>spreading across topology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663440"/>
            <a:ext cx="1051560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728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484F58"/>
                </a:solidFill>
                <a:latin typeface="Segoe UI"/>
              </a:defRPr>
            </a:pPr>
            <a:r>
              <a:t>ADDITIONAL KPIs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E6EDF3"/>
                </a:solidFill>
                <a:latin typeface="Segoe UI"/>
              </a:defRPr>
            </a:pPr>
            <a:r>
              <a:t>Counterfactual Quality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5349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FID &lt; 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Synthetic vs. real telemetry fidelity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E6EDF3"/>
                </a:solidFill>
                <a:latin typeface="Segoe UI"/>
              </a:defRPr>
            </a:pPr>
            <a:r>
              <a:t>Game-Theory Optimality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60" y="5349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≥ 95%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VCG social welfare vs. brute-force optimal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E6EDF3"/>
                </a:solidFill>
                <a:latin typeface="Segoe UI"/>
              </a:defRPr>
            </a:pPr>
            <a:r>
              <a:t>Model Inference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5349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&lt; 500ms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Per-component end-to-end latency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Road to Autonomy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8288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484F58"/>
                </a:solidFill>
                <a:latin typeface="Segoe UI"/>
              </a:defRPr>
            </a:pPr>
            <a:r>
              <a:t>6-MONTH PATH TO 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33832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0120" y="22860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PHASE 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286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484F58"/>
                </a:solidFill>
                <a:latin typeface="Segoe UI"/>
              </a:defRPr>
            </a:pPr>
            <a:r>
              <a:t>MONTHS 1–2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58A6FF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42900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Prior Art Search &amp; PPA Filing</a:t>
            </a:r>
            <a:br/>
            <a:r>
              <a:t>• Complete Literature Review</a:t>
            </a:r>
            <a:br/>
            <a:r>
              <a:t>• Architecture Design Finalized</a:t>
            </a:r>
            <a:br/>
            <a:r>
              <a:t>• Data Collection Pipeline Setup</a:t>
            </a:r>
            <a:br/>
            <a:r>
              <a:t>• Team Assembly &amp; Tooling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06240" y="3840480"/>
            <a:ext cx="22860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89120" y="2103120"/>
            <a:ext cx="33832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617720" y="22860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PHASE 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2286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CURRENT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484F58"/>
                </a:solidFill>
                <a:latin typeface="Segoe UI"/>
              </a:defRPr>
            </a:pPr>
            <a:r>
              <a:t>MONTHS 2–4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D2A8FF"/>
                </a:solidFill>
                <a:latin typeface="Segoe UI"/>
              </a:defRPr>
            </a:pPr>
            <a:r>
              <a:t>PROTOTYPE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3429000"/>
            <a:ext cx="292608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56616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Build all 5 layers in sandbox</a:t>
            </a:r>
            <a:br/>
            <a:r>
              <a:t>• Diffusion model training (Simu5G)</a:t>
            </a:r>
            <a:br/>
            <a:r>
              <a:t>• GNN topology engine integration</a:t>
            </a:r>
            <a:br/>
            <a:r>
              <a:t>• Multi-Agent orchestration</a:t>
            </a:r>
            <a:br/>
            <a:r>
              <a:t>• Game Theory modules (VCG, Nash)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63840" y="3840480"/>
            <a:ext cx="22860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46720" y="2103120"/>
            <a:ext cx="33832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75320" y="22860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PHASE 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286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E6EDF3"/>
                </a:solidFill>
                <a:latin typeface="Segoe UI"/>
              </a:defRPr>
            </a:pPr>
            <a:r>
              <a:t>UPCOMING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484F58"/>
                </a:solidFill>
                <a:latin typeface="Segoe UI"/>
              </a:defRPr>
            </a:pPr>
            <a:r>
              <a:t>MONTHS 4–6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7EE787"/>
                </a:solidFill>
                <a:latin typeface="Segoe UI"/>
              </a:defRPr>
            </a:pPr>
            <a:r>
              <a:t>PRODUCTION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3429000"/>
            <a:ext cx="292608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75320" y="356616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Live enterprise testbed pilot</a:t>
            </a:r>
            <a:br/>
            <a:r>
              <a:t>• Measure all KPIs in production</a:t>
            </a:r>
            <a:br/>
            <a:r>
              <a:t>• Iterate on performance</a:t>
            </a:r>
            <a:br/>
            <a:r>
              <a:t>• Regulatory compliance check</a:t>
            </a:r>
            <a:br/>
            <a:r>
              <a:t>• Prepare for scale deployment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126480"/>
            <a:ext cx="10515600" cy="3657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614476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58A6FF"/>
                </a:solidFill>
                <a:latin typeface="Segoe UI"/>
              </a:defRPr>
            </a:pPr>
            <a:r>
              <a:t>TECHNOLOGY STACK:  Kafka • InfluxDB • Neo4j • PyTorch Geometric • Diffusion-TS • DoWhy • Nashpy • LangGraph • NETCONF • Grafana • MLflow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1621</Words>
  <Application>Microsoft Office PowerPoint</Application>
  <PresentationFormat>Widescreen</PresentationFormat>
  <Paragraphs>424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2026-08-20T06:40:02Z</dcterms:modified>
  <cp:category/>
</cp:coreProperties>
</file>