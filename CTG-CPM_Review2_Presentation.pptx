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REVIEW 2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DESIGN, DEVELOPMENT &amp;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CTG-CPM: Self-Healing Networks via Counterfactual Telemetry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79C0FF"/>
                </a:solidFill>
                <a:latin typeface="Segoe UI"/>
              </a:defRPr>
            </a:pPr>
            <a:r>
              <a:t>Predictive Maintenance Recommendation using Generative AI, Game Theory &amp; Multi-Agent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49039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51560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D2A8FF"/>
                </a:solidFill>
                <a:latin typeface="Segoe UI"/>
              </a:defRPr>
            </a:pPr>
            <a:r>
              <a:t>PROJECT TEAM &amp; EQUAL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Sagnik Basu (23MID0042)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Architecture, Game Theory Engine &amp; LLM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7548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C Sriharsha (23MID0111)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Telemetry Ingestion Engine &amp; Live Host/5G Collectors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548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• Maitree Singh (23MID0076)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Generative Counterfactual Engine &amp; Web App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Abstract &amp; Core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PROJECT ABSTRACT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Current predictive maintenance (PdM) operates as an opaque 'black box' — predicting failures without explaining why or how to fix them.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E6EDF3"/>
                </a:solidFill>
                <a:latin typeface="Segoe UI"/>
              </a:defRPr>
            </a:pPr>
            <a:r>
              <a:t>CTG-CPM is a closed-loop predictive maintenance recommendation system combining: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D2A8FF"/>
                </a:solidFill>
                <a:latin typeface="Segoe UI"/>
              </a:defRPr>
            </a:pPr>
            <a:r>
              <a:t>1. Time-Series Diffusion Models for counterfactual 'What-If' future telemetry.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7EE787"/>
                </a:solidFill>
                <a:latin typeface="Segoe UI"/>
              </a:defRPr>
            </a:pPr>
            <a:r>
              <a:t>2. Graph Neural Networks (GraphSAGE) for topology-aware anomaly detection.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A657"/>
                </a:solidFill>
                <a:latin typeface="Segoe UI"/>
              </a:defRPr>
            </a:pPr>
            <a:r>
              <a:t>3. Algorithmic Game Theory (VCG, Shapley, Nash) for provable agent coordination.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79C0FF"/>
                </a:solidFill>
                <a:latin typeface="Segoe UI"/>
              </a:defRPr>
            </a:pPr>
            <a:r>
              <a:t>4. LLM-Powered Diagnostics (Groq GPT-OSS) for step-by-step remediation.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7B72"/>
                </a:solidFill>
                <a:latin typeface="Segoe UI"/>
              </a:defRPr>
            </a:pPr>
            <a:r>
              <a:t>THREE CRITICAL INDUSTRY SHORTCOMINGS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Opacity ('Black Box')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Predicts failure timestamps but fails to explain the causal chain, leaving NOC engineers stranded.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Manual Bottleneck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Engineers guess remediation scripts manually on live traffic, risking catastrophic cascading outages.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OPEX Truck Roll Drain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Companies resort to costly physical hardware replacements because they cannot safely test software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5-Layer System Architecture &amp; Data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10512"/>
            <a:ext cx="438912" cy="438912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830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LAYER 1: DATA INGESTION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Apache Kafka, gNMI, psutil Live Telemetry &amp; InfluxDB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724912"/>
            <a:ext cx="438912" cy="438912"/>
          </a:xfrm>
          <a:prstGeom prst="ellipse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974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LAYER 2: TOPOLOGY GNN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GraphSAGE Topology Mapper &amp; Anomaly Propagation Predictor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639312"/>
            <a:ext cx="438912" cy="438912"/>
          </a:xfrm>
          <a:prstGeom prst="ellipse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11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LAYER 3: GenAI COUNTERFACTUAL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Time-Series Diffusion Model generating parallel 'What-If' futures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553712"/>
            <a:ext cx="438912" cy="438912"/>
          </a:xfrm>
          <a:prstGeom prst="ellipse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262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A657"/>
                </a:solidFill>
                <a:latin typeface="Segoe UI"/>
              </a:defRPr>
            </a:pPr>
            <a:r>
              <a:t>LAYER 4: AGENTIC GAME THEORY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Multi-Agent Loop: VCG Auction, Shapley RCA, Nash Equilibrium &amp; SPE Solver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5468112"/>
            <a:ext cx="438912" cy="438912"/>
          </a:xfrm>
          <a:prstGeom prst="ellipse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4406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9C0FF"/>
                </a:solidFill>
                <a:latin typeface="Segoe UI"/>
              </a:defRPr>
            </a:pPr>
            <a:r>
              <a:t>LAYER 5: REMEDIATION RECOMMENDATION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Counterfactual projection selection; generates a recommended command (NOT auto-deployed)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Detailed 4-Stage Process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1460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STAGE 1: DETECT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GNN maps live topology and detects telemetry anomalies (OSNR drops, thermal spikes).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51460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20116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STAGE 2: GENERATE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Diffusion model generates N synthetic counterfactual future telemetry streams under candidate interventions.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51460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6888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STAGE 3: SELECT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Agent 1 diagnoses root cause via Shapley Values; Agent 2 runs SPE Game &amp; VCG auction; Agent 3 selects candidate via counterfactual projection.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828800"/>
            <a:ext cx="251460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6840" y="20116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PHASE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46888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STAGE 4: RECOMMEND (NOT DEPLOYED)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Produces a recommended NETCONF/YANG &amp; PowerShell command. Auto-deployment is disabled in the prototype.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Algorithm Choice: Core ML &amp; Generative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ALGORITHM 1: TIME-SERIES DIFFUSION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484F58"/>
                </a:solidFill>
                <a:latin typeface="Segoe UI"/>
              </a:defRPr>
            </a:pPr>
            <a:r>
              <a:t>Counterfactual Telemetry Generation (Diffusion-TS)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100" b="0">
                <a:solidFill>
                  <a:srgbClr val="E6EDF3"/>
                </a:solidFill>
                <a:latin typeface="Segoe UI"/>
              </a:defRPr>
            </a:pPr>
            <a:r>
              <a:t>• Method: Denoising score matching on multivariate time-series data.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Intervention Conditioning: Synthesizes 'What-If' streams conditioned on specific actions (e.g. throttle CPU 15% vs increase cooling).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Protocol Constraints: Ensures generated data obeys physical network laws (valid OSNR, laser bias, packet loss ratios).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ALGORITHM 2: GRAPHSAGE GRAPH NEURAL NETWORK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484F58"/>
                </a:solidFill>
                <a:latin typeface="Segoe UI"/>
              </a:defRPr>
            </a:pPr>
            <a:r>
              <a:t>Topology-Aware Anomaly Detection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100" b="0">
                <a:solidFill>
                  <a:srgbClr val="E6EDF3"/>
                </a:solidFill>
                <a:latin typeface="Segoe UI"/>
              </a:defRPr>
            </a:pPr>
            <a:r>
              <a:t>• Spatial-Temporal Learning: Learns node embeddings capturing both inter-device graph topology and time-series metric streams.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Anomaly Propagation Modeling: Predicts downstream cascade failure risk when an optical node or CPU core degrades.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Dynamic Graphs: Topology refreshed periodically to keep node embeddings current.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Algorithmic Game Theory &amp; Multi-Agent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1. VCG Auction Task Allocation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Agents bid capability scores on tasks. VCG mechanism guarantees DSIC (Dominant-Strategy Incentive Compatibility) — truthfulness is optimal.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443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2. Shapley Value Attribution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Axiomatic feature attribution (Efficiency, Symmetry, Linearity, Null-Player) for fair multi-metric root-cause decomposition (e.g. CPU 50%, Temp 30%).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3308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3. SPE Backward Induction Game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Solves extensive-form investment &amp; bargaining game tree. Proves SPE strategy: (Low Investment, Greedy Proposal, Accept) -&gt; Payoffs (13, 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218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A657"/>
                </a:solidFill>
                <a:latin typeface="Segoe UI"/>
              </a:defRPr>
            </a:pPr>
            <a:r>
              <a:t>4. Nash Equilibrium Coordination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2-Player normal form matrix solver ensures multi-agent remediation strategies converge to a stable Nash Equilibrium, preventing conflicting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LLM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LLM-Powered Intelligent Diagnostics (llm_diagnostician.py)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9C0FF"/>
                </a:solidFill>
                <a:latin typeface="Segoe UI"/>
              </a:defRPr>
            </a:pPr>
            <a:r>
              <a:t>GROQ API INTEGRATION (gpt-oss-20b)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E6EDF3"/>
                </a:solidFill>
                <a:latin typeface="Segoe UI"/>
              </a:defRPr>
            </a:pPr>
            <a:r>
              <a:t>• Role: Transforms low-level telemetry, Shapley weights, and game outcomes into structured JSON diagnostics.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Outputs Generated: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  - Human-Readable Problem Title &amp; Description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  - Physical Root Cause Explanation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  - Step-by-Step Remediation Plan with impact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  - Risk Assessment if Unresolved within 1-4 hrs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  - Business Outcomes (Truck roll avoided, fix time)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SAMPLE LLM DIAGNOSTIC OUTPUT (JSON)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7EE787"/>
                </a:solidFill>
                <a:latin typeface="Segoe UI"/>
              </a:defRPr>
            </a:pPr>
            <a:r>
              <a:t>{</a:t>
            </a:r>
            <a:br/>
            <a:r>
              <a:t>  'severity': 'High',</a:t>
            </a:r>
            <a:br/>
            <a:r>
              <a:t>  'problem_title': 'CPU and Memory Saturation',</a:t>
            </a:r>
            <a:br/>
            <a:r>
              <a:t>  'root_cause': 'High CPU workload (50% Shapley) combined with memory pressure',</a:t>
            </a:r>
            <a:br/>
            <a:r>
              <a:t>  'risk_if_unresolved': 'Thermal throttling &amp; system crash within 2-4 hours',</a:t>
            </a:r>
            <a:br/>
            <a:r>
              <a:t>  'remediation_steps': [</a:t>
            </a:r>
            <a:br/>
            <a:r>
              <a:t>    {'step': 1, 'action': 'Identify High CPU Procs'},</a:t>
            </a:r>
            <a:br/>
            <a:r>
              <a:t>    {'step': 2, 'action': 'Apply CPU Throttle 85%'},</a:t>
            </a:r>
            <a:br/>
            <a:r>
              <a:t>    {'step': 3, 'action': 'Optimize Memory Cache'}</a:t>
            </a:r>
            <a:br/>
            <a:r>
              <a:t>  ],</a:t>
            </a:r>
            <a:br/>
            <a:r>
              <a:t>  'truck_roll_avoided': 'potential (not measured)',</a:t>
            </a:r>
            <a:br/>
            <a:r>
              <a:t>  'estimated_fix_time': 'decision compute only (excludes deployment)'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Actual Working Progress Since Review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✓  Fully Built Core Engine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Implemented all Python backend modules: game_engine.py, telemetry_collector.py, counterfactual_engine.py, agentic_remediator.py.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443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✓  Groq LLM Integration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Created llm_diagnostician.py using openai/gpt-oss-20b model for structured, human-readable problem diagnosis and remediation.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3308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✓  HMW-Inspired Web Dashboard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Developed modern glassmorphism web application (app.py + index.html) with real-time graphs, anomaly injection, and diagnostic panel.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218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A657"/>
                </a:solidFill>
                <a:latin typeface="Segoe UI"/>
              </a:defRPr>
            </a:pPr>
            <a:r>
              <a:t>✓  Automated Test Suite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test_prototype.py unit/integration tests covering 5 core modules (Kafka test asserts honest status rather than emulating a broker).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Code Committed &amp; GitHub Repository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PUBLIC GITHUB REPOSITORY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Repository URL: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79C0FF"/>
                </a:solidFill>
                <a:latin typeface="Segoe UI"/>
              </a:defRPr>
            </a:pPr>
            <a:r>
              <a:t>  github.com/sagnikbasutaan2004-source/</a:t>
            </a:r>
            <a:br/>
            <a:r>
              <a:t>  CTG-CPM-Self-Healing-Networks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Total Committed Files: 15 production files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Total Lines of Code: 3,368+ lines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7EE787"/>
                </a:solidFill>
                <a:latin typeface="Segoe UI"/>
              </a:defRPr>
            </a:pPr>
            <a:r>
              <a:t>• Security Compliance: Zero API key leakage; GROQ_API_KEY managed via user environment variable.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EXECUTABLE SYSTEM COMPONENTS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game_engine.py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   Backward Induction SPE, VCG, Shapley, Nash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telemetry_collector.py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   Live psutil host + 5G transceiver metrics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counterfactual_engine.py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   'What-If' time-series future generator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agentic_remediator.py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   3-Agent closed-loop orchestrator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llm_diagnostician.py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   Groq LLM structured diagnosis generator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app.py &amp; templates/index.html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   Flask web app &amp; glassmorphism UI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• main.py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8B949E"/>
                </a:solidFill>
                <a:latin typeface="Segoe UI"/>
              </a:defRPr>
            </a:pPr>
            <a:r>
              <a:t>   CLI orchestrator (in-process decision compute)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JUSTIFICATION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Justification for Design &amp; Algorithmic Choices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WHY TIME-SERIES DIFFUSION VS. GANS?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Diffusion models avoid mode collapse, provide superior sample quality, and support conditional generation on intervention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443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WHY GNN VS. STANDARD CNNS?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Network topology is inherently non-Euclidean; our GNN (GCN or GraphSAGE, reported per run) models spatial node connectivity and cascading failure propagation.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3308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WHY VCG &amp; NASH THEORY VS. HEURISTIC PROMPTING?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Game theory provides formal guarantees (DSIC truthfulness, stable equilibrium) that heuristic prompting lacks.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218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A657"/>
                </a:solidFill>
                <a:latin typeface="Segoe UI"/>
              </a:defRPr>
            </a:pPr>
            <a:r>
              <a:t>WHY GROQ CLOUD LPU VS. LOCAL LLMS?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Groq LPU offers fast LLM inference useful for the diagnostic step; it is additive to (not the whole) end-to-end MTTR.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Updated Economic Feasibility &amp; Cost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POTENTIAL OPEX &amp; HARDWARE COST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E6EDF3"/>
                </a:solidFill>
                <a:latin typeface="Segoe UI"/>
              </a:defRPr>
            </a:pPr>
            <a:r>
              <a:t>• Potential Truck-Roll Reduction: May avoid physical hardware replacement by recommending configuration fixes (potential benefit, not measured).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Possible Hardware Life Extension: E.g., optical laser bias adjustment might extend transceiver lifespan (not yet validated live).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No New Sensor Cost: Uses existing telemetry streams (SNMP, gNMI, psutil) without new hardware sensors.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CLOUD API &amp; INFRASTRUCTURE COST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E6EDF3"/>
                </a:solidFill>
                <a:latin typeface="Segoe UI"/>
              </a:defRPr>
            </a:pPr>
            <a:r>
              <a:t>• Lightweight Inference: Distilled diffusion model and optimized GNN aim to keep GPU compute costs low (figure not yet benchmarked).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ROI: Cost-benefit depends on prevented outages; no dollar savings figure is claimed without live data.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• Production Feasibility: 5-layer architecture uses proven open-source components (Kafka, PyTorch, Flask, psutil).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Social &amp; Environmental Considerations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🌱  Potential Carbon Footprint Reduction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Potentially fewer technician truck rolls could reduce fuel use from service vehicles (not yet measured).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443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9C0FF"/>
                </a:solidFill>
                <a:latin typeface="Segoe UI"/>
              </a:defRPr>
            </a:pPr>
            <a:r>
              <a:t>🌱  E-Waste Mitigation (potential)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Software-based remediation could extend hardware life cycles, delaying premature e-waste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3308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🌱  Reliability Support (potential)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Fast remediation recommendations could support higher SLA uptime; end-to-end MTTR is not yet claimed.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218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2A8FF"/>
                </a:solidFill>
                <a:latin typeface="Segoe UI"/>
              </a:defRPr>
            </a:pPr>
            <a:r>
              <a:t>🌱  Human Operator Support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Transitions NOC engineers from manual alert firefighting toward overseeing recommended remediations.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Problems Encountered &amp; How Team Adapted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7B72"/>
                </a:solidFill>
                <a:latin typeface="Segoe UI"/>
              </a:defRPr>
            </a:pPr>
            <a:r>
              <a:t>Problem 1: LLM Reasoning Syntax &amp; Think Tags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Issue: Qwen/Llama models initially included internal thinking tags (&lt;think&gt;...&lt;/think&gt;) breaking raw JSON parsing.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7EE787"/>
                </a:solidFill>
                <a:latin typeface="Segoe UI"/>
              </a:defRPr>
            </a:pPr>
            <a:r>
              <a:t>• Team Adaptation: Adapted parser regex in llm_diagnostician.py &amp; switched to openai/gpt-oss-20b for clean JSON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698480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10128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A657"/>
                </a:solidFill>
                <a:latin typeface="Segoe UI"/>
              </a:defRPr>
            </a:pPr>
            <a:r>
              <a:t>Problem 2: VCG Computation Complexity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Issue: Calculating full VCG auction social welfare over arbitrary agents can scale exponentially.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7EE787"/>
                </a:solidFill>
                <a:latin typeface="Segoe UI"/>
              </a:defRPr>
            </a:pPr>
            <a:r>
              <a:t>• Team Adaptation: Restricted auction search space to active 3-agent domain &amp; implemented fast combinatorial allocation.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64608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9C0FF"/>
                </a:solidFill>
                <a:latin typeface="Segoe UI"/>
              </a:defRPr>
            </a:pPr>
            <a:r>
              <a:t>Problem 3: Simulation-Reality Gap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Issue: Synthetic counterfactual futures might deviate from live host behavior.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7EE787"/>
                </a:solidFill>
                <a:latin typeface="Segoe UI"/>
              </a:defRPr>
            </a:pPr>
            <a:r>
              <a:t>• Team Adaptation: Added domain randomization and integrated real psutil telemetry baseline to constrain generation.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TEAM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Equal Individual Contribution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33.3%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Sagnik Basu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58A6FF"/>
                </a:solidFill>
                <a:latin typeface="Segoe UI"/>
              </a:defRPr>
            </a:pPr>
            <a:r>
              <a:t>Reg No: 23MID0042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System Architecture &amp; Patent Claim Formulation</a:t>
            </a:r>
            <a:br/>
            <a:r>
              <a:t>• Game Theory Engine (game_engine.py: VCG, Shapley, SPE, Nash)</a:t>
            </a:r>
            <a:br/>
            <a:r>
              <a:t>• Groq LLM Diagnostics Engine (llm_diagnostician.py)</a:t>
            </a:r>
            <a:br/>
            <a:r>
              <a:t>• Git Repository Management &amp; Automated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33.3%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 Sriharsha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7EE787"/>
                </a:solidFill>
                <a:latin typeface="Segoe UI"/>
              </a:defRPr>
            </a:pPr>
            <a:r>
              <a:t>Reg No: 23MID0111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Telemetry Collector Engine (telemetry_collector.py)</a:t>
            </a:r>
            <a:br/>
            <a:r>
              <a:t>• Real-Time psutil Host Metric Ingestion (CPU, RAM, Disk, Processes)</a:t>
            </a:r>
            <a:br/>
            <a:r>
              <a:t>• 5G Optical Backhaul Transceiver Anomaly Simulator</a:t>
            </a:r>
            <a:br/>
            <a:r>
              <a:t>• CLI Controller &amp; Main Pipeline Integration (main.py)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33.3%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2860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Maitree Singh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A657"/>
                </a:solidFill>
                <a:latin typeface="Segoe UI"/>
              </a:defRPr>
            </a:pPr>
            <a:r>
              <a:t>Reg No: 23MID0076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• Generative Counterfactual Engine (counterfactual_engine.py)</a:t>
            </a:r>
            <a:br/>
            <a:r>
              <a:t>• Multi-Agent Remediation Orchestration (agentic_remediator.py)</a:t>
            </a:r>
            <a:br/>
            <a:r>
              <a:t>• HMW-Style Modern Glassmorphism Web App (templates/index.html)</a:t>
            </a:r>
            <a:br/>
            <a:r>
              <a:t>• Flask Server REST APIs &amp; UI Visualizations (app.py)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5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484F58"/>
                </a:solidFill>
                <a:latin typeface="Segoe UI"/>
              </a:defRPr>
            </a:pPr>
            <a:r>
              <a:t>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484F58"/>
                </a:solidFill>
                <a:latin typeface="Segoe UI"/>
              </a:defRPr>
            </a:pPr>
            <a:r>
              <a:t>CTG-CPM  //  REVIEW 2: DESIGN, DEVELOPMENT &amp;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Summary of Review 2 Achievements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828800" cy="381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7EE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7EE787"/>
                </a:solidFill>
                <a:latin typeface="Segoe UI"/>
              </a:defRPr>
            </a:pPr>
            <a:r>
              <a:t>REVIEW 2 ACHIEVEMENTS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E6EDF3"/>
                </a:solidFill>
                <a:latin typeface="Segoe UI"/>
              </a:defRPr>
            </a:pPr>
            <a:r>
              <a:t>✓ Functional Prototype with fast in-process decision compute (&lt; a few ms, excludes LLM/deployment).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✓ 15 Production Files committed to public GitHub repository.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✓ Automated Test Suite (5/5 unit &amp; integration tests).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✓ LLM-Powered Remediation Recommendation Engine via Groq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NEXT STEPS (ROADMAP TO FINAL REVIEW)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>
                <a:solidFill>
                  <a:srgbClr val="E6EDF3"/>
                </a:solidFill>
                <a:latin typeface="Segoe UI"/>
              </a:defRPr>
            </a:pPr>
            <a:r>
              <a:t>1. Simu5G / ns-3 Sandbox Deployment: Scale testbed to 100+ optical transceiver nodes.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2. Provisional Patent Application (PPA): Complete filing for 3 novel patent claims.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3. Live Enterprise Pilot: Graduate system autonomy from advisory to semi-autonomous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