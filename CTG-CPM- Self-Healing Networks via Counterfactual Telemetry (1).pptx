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6" d="100"/>
          <a:sy n="116" d="100"/>
        </p:scale>
        <p:origin x="490"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3588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are introducing a first-in-the-world, patentable approach to network predictive maintenance. We move beyond alerting networks that they are about to fail, and empower AI to autonomously test and deploy fixes before the failure happens. Think of it as the network turning itself from red, to amber, to green — autonomously, in seconds, without a single truck roll. Over the next ten slides we will walk through the problem, the CTG-CPM pipeline, the patent strategy, a real 5G use case, and the ask. Let us begin.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we keep hearing from every NOC we have talked to. Today's predictive-maintenance AI can tell you a node is going to fail in X hours, but it cannot explain why — that is The Alert. With no explanation, engineers are forced to manually guess the best remediation and deploy it on live traffic — that is The Risk, and it is exactly how cascading outages are born. The alternative is even worse: companies dispatch a truck roll and swap the hardware blind, because nobody can safely test configurations against real customer traffic. Alert without explanation, manual risky remediation, expensive blind truck-roll. There has to be a better way — and that's what CTG-CPM delivers.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CTG-CPM — three steps that form a single closed loop. Step one: a Generative AI model, specifically a time-series diffusion model, synthesizes counterfactual telemetry — what would the network look like if we changed this knob or that one? Step two: a multi-agent AI system interrogates that synthetic data to pinpoint the actual root cause and test candidate fixes entirely off the live network. Step three: the verified fix is validated in a digital twin sandbox, then pushed to production autonomously. Generate, test, deploy. The flow strip below tells the whole story in four pills: live data in, what-if generation, agentic testing, auto-fix out — and the entire loop runs without human intervention once it is configured.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four steps that make this patentable. Step one — Live Ingestion: Graph Neural Networks continuously map the live network topology and surface anomalies like thermal degradation or signal-to-noise drift. Step two — the GenAI Engine: a time-series diffusion model generates parallel counterfactual telemetry streams, asking questions like what if we load-balance traffic, or what if we increase fan speed? Step three — Agentic Simulation: a multi-agent system goes to work — Agent one diagnoses root cause, Agent two tests fixes against the synthetic data inside a digital twin, and Agent three writes the remediation script. Step four — Autonomous Execution: that verified script is pushed live via NETCONF/YANG push — done in seconds, before the failure ever materializes.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independent novel claims anchor our patent strategy. First — using generative diffusion models to synthesize hypothetical future time-series telemetry for network testing. Second — an agentic causal loop where AI agents query the generative model for counterfactual data to determine physical root causes. Third — topology-aware synthetic data generation constrained by graph neural networks, so the AI obeys real physical network laws. Each claim stands on its own as a patentable method; together they form a comprehensive method patent covering the entire closed loop. The contrast with the state of the art is stark: today, AI predicts failure and a human writes a script. With CTG-CPM, AI predicts, generates futures, tests, and fixes autonomously. This is not an incremental improvement — it is a category shift from alerting to autonomous healing.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5G optical transceiver showing micro-fluctuations in OSNR — the optical signal-to-noise ratio. Standard predictive maintenance flags it for replacement in two days, which means costly downtime and a truck roll. CTG-CPM activates instead. GenAI generates two counterfactuals in parallel: what if we shift thirty percent of load to a backup wavelength, versus what if we increase laser bias current. Agents test both synthetic futures inside the digital twin. The discovery: increasing laser bias current stabilizes OSNR for six months — no hardware replacement needed. The agentic system auto-pushes the optical configuration change in five seconds. Zero downtime, zero truck roll, six months of stability. Standard PdM would have triggered a two-day replacement window. We resolved it in five seconds with a software-only change.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audiences benefit from a self-healing network. Telecom and 5G providers reduce OPEX from physical truck rolls and prevent mass outages from cascading across their topology. Cloud infrastructure players like AWS and Azure maintain the five-nines uptime their SLAs promise for data center switching and routing. NOC engineers stop firefighting alerts at three in the morning and shift to overseeing an autonomous self-healing system — a fundamentally higher-leverage role. And managed service providers scale their client base without scaling headcount, because the system handles remediation on its own. Every audience gets the same thing: fewer outages, lower cost, more leverage per engineer. One network, one closed loop, four beneficiaries.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anchor this slide on the four KPIs you see on the left. First, MTTR — mean time to repair — collapses from hours or days down to seconds. Second, we eliminate up to forty percent of unnecessary truck rolls, which is direct OPEX walking back into the budget. Third, every fix is one hundred percent zero-risk because it has already been mathematically proven safe inside a synthetic digital twin before it ever touches the live network. Fourth, and arguably most important, the number of cascading outages drops to zero — localized failures no longer spread across the topology. Now look at the chart on the right. Traditional MTTR stretches across hours and into days. CTG-CPM is a sliver — under ten seconds. This is not a percentage improvement. It is an orders-of-magnitude shift, and that is what makes this a category-defining platform.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down the stack from top to bottom. The Data Layer is Kafka or Redpanda for live streaming telemetry, with InfluxDB for storage — these are the standard telemetry pipelines running in every modern NOC. The Topology Layer is Neo4j plus PyTorch Geometric, which gives us graph-aware constraints so the AI obeys physical network laws. The GenAI Layer is a custom Time-Series Diffusion Model — TimeGrad — that generates the counterfactual telemetry. The Agentic Layer uses LangGraph or Microsoft AutoGen to orchestrate the multi-agent loop. And the Execution Layer is Ansible and Python pushed over REST or NETCONF APIs. Here is the critical point — and the reason this is a credible engineering plan, not a research bet — every single layer is shipping in production today at other companies. The novelty is not in any one component. The novelty is how we wire them into the closed counterfactual loop.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six-month roadmap to autonomy. Phase one, months one and two, is prior art search and provisional patent application filing — locking in our priority date. Phase two, months two through four, is the prototype build — we will use simulated network telemetry data in a sandbox so the diffusion model and agentic loop can be trained and validated safely. Phase three, months four through six, takes us to a live pilot deployment on a real enterprise testbed. Now the ask. We need three things — funding for the PPA, GPU compute for diffusion training, and a live testbed. If any of those resonate, let's talk after this session. We are not asking for a leap of faith on research; every layer of this stack ships in production today. We are asking for the resources to wire it into the closed counterfactual loop and prove autonomous healing on a real network. 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pic>
        <p:nvPicPr>
          <p:cNvPr id="2" name="Image 0" descr="/tmp/h2p-fit-1785740047547-p9acpe.png"/>
          <p:cNvPicPr>
            <a:picLocks noChangeAspect="1"/>
          </p:cNvPicPr>
          <p:nvPr/>
        </p:nvPicPr>
        <p:blipFill>
          <a:blip r:embed="rId3"/>
          <a:stretch>
            <a:fillRect/>
          </a:stretch>
        </p:blipFill>
        <p:spPr>
          <a:xfrm>
            <a:off x="4023382" y="0"/>
            <a:ext cx="5120618" cy="5143500"/>
          </a:xfrm>
          <a:prstGeom prst="rect">
            <a:avLst/>
          </a:prstGeom>
        </p:spPr>
      </p:pic>
      <p:pic>
        <p:nvPicPr>
          <p:cNvPr id="3" name="Image 1" descr="preencoded.png"/>
          <p:cNvPicPr>
            <a:picLocks noChangeAspect="1"/>
          </p:cNvPicPr>
          <p:nvPr/>
        </p:nvPicPr>
        <p:blipFill>
          <a:blip r:embed="rId4"/>
          <a:stretch>
            <a:fillRect/>
          </a:stretch>
        </p:blipFill>
        <p:spPr>
          <a:xfrm>
            <a:off x="4023382" y="0"/>
            <a:ext cx="5120618" cy="5143500"/>
          </a:xfrm>
          <a:prstGeom prst="rect">
            <a:avLst/>
          </a:prstGeom>
        </p:spPr>
      </p:pic>
      <p:sp>
        <p:nvSpPr>
          <p:cNvPr id="4" name="Text 0"/>
          <p:cNvSpPr/>
          <p:nvPr/>
        </p:nvSpPr>
        <p:spPr>
          <a:xfrm>
            <a:off x="7940948" y="200025"/>
            <a:ext cx="1203052" cy="164592"/>
          </a:xfrm>
          <a:prstGeom prst="rect">
            <a:avLst/>
          </a:prstGeom>
          <a:noFill/>
          <a:ln/>
        </p:spPr>
        <p:txBody>
          <a:bodyPr wrap="none" lIns="0" tIns="0" rIns="0" bIns="0" rtlCol="0" anchor="t"/>
          <a:lstStyle/>
          <a:p>
            <a:pPr marL="0" indent="0" algn="l">
              <a:lnSpc>
                <a:spcPts val="928"/>
              </a:lnSpc>
              <a:buNone/>
            </a:pPr>
            <a:r>
              <a:rPr lang="en-US" sz="800" kern="0" spc="124" dirty="0">
                <a:solidFill>
                  <a:srgbClr val="00E5FF"/>
                </a:solidFill>
                <a:latin typeface="Courier New" pitchFamily="34" charset="0"/>
                <a:ea typeface="Courier New" pitchFamily="34" charset="-122"/>
                <a:cs typeface="Courier New" pitchFamily="34" charset="-120"/>
              </a:rPr>
              <a:t>●</a:t>
            </a:r>
            <a:r>
              <a:rPr lang="en-US" sz="800" kern="0" spc="124" dirty="0">
                <a:solidFill>
                  <a:srgbClr val="6B7494"/>
                </a:solidFill>
                <a:latin typeface="Liberation Sans Narrow" pitchFamily="34" charset="0"/>
                <a:ea typeface="Liberation Sans Narrow" pitchFamily="34" charset="-122"/>
                <a:cs typeface="Liberation Sans Narrow" pitchFamily="34" charset="-120"/>
              </a:rPr>
              <a:t> CTG-CPM // v1.0</a:t>
            </a:r>
            <a:endParaRPr lang="en-US" sz="800" dirty="0"/>
          </a:p>
        </p:txBody>
      </p:sp>
      <p:sp>
        <p:nvSpPr>
          <p:cNvPr id="5" name="Text 1"/>
          <p:cNvSpPr/>
          <p:nvPr/>
        </p:nvSpPr>
        <p:spPr>
          <a:xfrm>
            <a:off x="460772" y="903684"/>
            <a:ext cx="1999134" cy="182166"/>
          </a:xfrm>
          <a:prstGeom prst="roundRect">
            <a:avLst>
              <a:gd name="adj" fmla="val 5223519"/>
            </a:avLst>
          </a:prstGeom>
          <a:solidFill>
            <a:srgbClr val="00E5FF">
              <a:alpha val="6000"/>
            </a:srgbClr>
          </a:solidFill>
          <a:ln w="7144">
            <a:solidFill>
              <a:srgbClr val="00E5FF"/>
            </a:solidFill>
            <a:prstDash val="solid"/>
          </a:ln>
        </p:spPr>
        <p:txBody>
          <a:bodyPr wrap="square" rtlCol="0" anchor="ctr"/>
          <a:lstStyle/>
          <a:p>
            <a:pPr marL="0" indent="0">
              <a:buNone/>
            </a:pPr>
            <a:endParaRPr lang="en-US" dirty="0"/>
          </a:p>
        </p:txBody>
      </p:sp>
      <p:sp>
        <p:nvSpPr>
          <p:cNvPr id="6" name="Text 2"/>
          <p:cNvSpPr/>
          <p:nvPr/>
        </p:nvSpPr>
        <p:spPr>
          <a:xfrm>
            <a:off x="685800" y="942975"/>
            <a:ext cx="1684809" cy="139654"/>
          </a:xfrm>
          <a:prstGeom prst="rect">
            <a:avLst/>
          </a:prstGeom>
          <a:noFill/>
          <a:ln/>
        </p:spPr>
        <p:txBody>
          <a:bodyPr wrap="square" lIns="85725" tIns="28575" rIns="85725" bIns="28575" rtlCol="0" anchor="t"/>
          <a:lstStyle/>
          <a:p>
            <a:pPr marL="0" indent="0" algn="l">
              <a:lnSpc>
                <a:spcPts val="928"/>
              </a:lnSpc>
              <a:buNone/>
            </a:pPr>
            <a:r>
              <a:rPr lang="en-US" sz="619" kern="0" spc="74" dirty="0">
                <a:solidFill>
                  <a:srgbClr val="00E5FF"/>
                </a:solidFill>
                <a:latin typeface="Courier New" pitchFamily="34" charset="0"/>
                <a:ea typeface="Courier New" pitchFamily="34" charset="-122"/>
                <a:cs typeface="Courier New" pitchFamily="34" charset="-120"/>
              </a:rPr>
              <a:t>PATENT PENDING · GENAI + AGENTIC AI</a:t>
            </a:r>
            <a:endParaRPr lang="en-US" sz="619" dirty="0"/>
          </a:p>
        </p:txBody>
      </p:sp>
      <p:sp>
        <p:nvSpPr>
          <p:cNvPr id="7" name="Text 3"/>
          <p:cNvSpPr/>
          <p:nvPr/>
        </p:nvSpPr>
        <p:spPr>
          <a:xfrm>
            <a:off x="550069" y="948333"/>
            <a:ext cx="92869" cy="92869"/>
          </a:xfrm>
          <a:prstGeom prst="rect">
            <a:avLst/>
          </a:prstGeom>
          <a:noFill/>
          <a:ln/>
        </p:spPr>
        <p:txBody>
          <a:bodyPr wrap="none" lIns="0" tIns="0" rIns="0" bIns="0" rtlCol="0" anchor="ctr"/>
          <a:lstStyle/>
          <a:p>
            <a:pPr marL="0" indent="0" algn="ctr">
              <a:buNone/>
            </a:pPr>
            <a:r>
              <a:rPr lang="en-US" sz="914" dirty="0">
                <a:solidFill>
                  <a:srgbClr val="00E5FF"/>
                </a:solidFill>
                <a:latin typeface="Segoe UI Symbol" pitchFamily="34" charset="0"/>
                <a:ea typeface="Segoe UI Symbol" pitchFamily="34" charset="-122"/>
                <a:cs typeface="Segoe UI Symbol" pitchFamily="34" charset="-120"/>
              </a:rPr>
              <a:t>✓</a:t>
            </a:r>
            <a:endParaRPr lang="en-US" sz="914" dirty="0"/>
          </a:p>
        </p:txBody>
      </p:sp>
      <p:sp>
        <p:nvSpPr>
          <p:cNvPr id="8" name="Text 4"/>
          <p:cNvSpPr/>
          <p:nvPr/>
        </p:nvSpPr>
        <p:spPr>
          <a:xfrm>
            <a:off x="457200" y="1403747"/>
            <a:ext cx="71438" cy="71438"/>
          </a:xfrm>
          <a:prstGeom prst="ellipse">
            <a:avLst/>
          </a:prstGeom>
          <a:solidFill>
            <a:srgbClr val="FF4D6D"/>
          </a:solidFill>
          <a:ln/>
          <a:effectLst>
            <a:outerShdw blurRad="114300" dist="50800" dir="16200000" algn="bl" rotWithShape="0">
              <a:srgbClr val="FF4D6D">
                <a:alpha val="50000"/>
              </a:srgbClr>
            </a:outerShdw>
          </a:effectLst>
        </p:spPr>
        <p:txBody>
          <a:bodyPr wrap="square" rtlCol="0" anchor="ctr"/>
          <a:lstStyle/>
          <a:p>
            <a:pPr marL="0" indent="0">
              <a:buNone/>
            </a:pPr>
            <a:endParaRPr lang="en-US" dirty="0"/>
          </a:p>
        </p:txBody>
      </p:sp>
      <p:sp>
        <p:nvSpPr>
          <p:cNvPr id="9" name="Text 5"/>
          <p:cNvSpPr/>
          <p:nvPr/>
        </p:nvSpPr>
        <p:spPr>
          <a:xfrm>
            <a:off x="628650" y="1382316"/>
            <a:ext cx="114300" cy="114300"/>
          </a:xfrm>
          <a:prstGeom prst="rect">
            <a:avLst/>
          </a:prstGeom>
          <a:noFill/>
          <a:ln/>
        </p:spPr>
        <p:txBody>
          <a:bodyPr wrap="none" lIns="0" tIns="0" rIns="0" bIns="0" rtlCol="0" anchor="ctr"/>
          <a:lstStyle/>
          <a:p>
            <a:pPr marL="0" indent="0" algn="ctr">
              <a:buNone/>
            </a:pPr>
            <a:r>
              <a:rPr lang="en-US" sz="1125" dirty="0">
                <a:solidFill>
                  <a:srgbClr val="6B7494"/>
                </a:solidFill>
                <a:latin typeface="Segoe UI Symbol" pitchFamily="34" charset="0"/>
                <a:ea typeface="Segoe UI Symbol" pitchFamily="34" charset="-122"/>
                <a:cs typeface="Segoe UI Symbol" pitchFamily="34" charset="-120"/>
              </a:rPr>
              <a:t>→</a:t>
            </a:r>
            <a:endParaRPr lang="en-US" sz="1125" dirty="0"/>
          </a:p>
        </p:txBody>
      </p:sp>
      <p:sp>
        <p:nvSpPr>
          <p:cNvPr id="10" name="Text 6"/>
          <p:cNvSpPr/>
          <p:nvPr/>
        </p:nvSpPr>
        <p:spPr>
          <a:xfrm>
            <a:off x="842963" y="1403747"/>
            <a:ext cx="71438" cy="71438"/>
          </a:xfrm>
          <a:prstGeom prst="ellipse">
            <a:avLst/>
          </a:prstGeom>
          <a:solidFill>
            <a:srgbClr val="FFB347"/>
          </a:solidFill>
          <a:ln/>
          <a:effectLst>
            <a:outerShdw blurRad="114300" dist="50800" dir="16200000" algn="bl" rotWithShape="0">
              <a:srgbClr val="FFB347">
                <a:alpha val="50000"/>
              </a:srgbClr>
            </a:outerShdw>
          </a:effectLst>
        </p:spPr>
        <p:txBody>
          <a:bodyPr wrap="square" rtlCol="0" anchor="ctr"/>
          <a:lstStyle/>
          <a:p>
            <a:pPr marL="0" indent="0">
              <a:buNone/>
            </a:pPr>
            <a:endParaRPr lang="en-US" dirty="0"/>
          </a:p>
        </p:txBody>
      </p:sp>
      <p:sp>
        <p:nvSpPr>
          <p:cNvPr id="11" name="Text 7"/>
          <p:cNvSpPr/>
          <p:nvPr/>
        </p:nvSpPr>
        <p:spPr>
          <a:xfrm>
            <a:off x="1014413" y="1382316"/>
            <a:ext cx="114300" cy="114300"/>
          </a:xfrm>
          <a:prstGeom prst="rect">
            <a:avLst/>
          </a:prstGeom>
          <a:noFill/>
          <a:ln/>
        </p:spPr>
        <p:txBody>
          <a:bodyPr wrap="none" lIns="0" tIns="0" rIns="0" bIns="0" rtlCol="0" anchor="ctr"/>
          <a:lstStyle/>
          <a:p>
            <a:pPr marL="0" indent="0" algn="ctr">
              <a:buNone/>
            </a:pPr>
            <a:r>
              <a:rPr lang="en-US" sz="1125" dirty="0">
                <a:solidFill>
                  <a:srgbClr val="6B7494"/>
                </a:solidFill>
                <a:latin typeface="Segoe UI Symbol" pitchFamily="34" charset="0"/>
                <a:ea typeface="Segoe UI Symbol" pitchFamily="34" charset="-122"/>
                <a:cs typeface="Segoe UI Symbol" pitchFamily="34" charset="-120"/>
              </a:rPr>
              <a:t>→</a:t>
            </a:r>
            <a:endParaRPr lang="en-US" sz="1125" dirty="0"/>
          </a:p>
        </p:txBody>
      </p:sp>
      <p:sp>
        <p:nvSpPr>
          <p:cNvPr id="12" name="Text 8"/>
          <p:cNvSpPr/>
          <p:nvPr/>
        </p:nvSpPr>
        <p:spPr>
          <a:xfrm>
            <a:off x="1228725" y="1403747"/>
            <a:ext cx="71438" cy="71438"/>
          </a:xfrm>
          <a:prstGeom prst="ellipse">
            <a:avLst/>
          </a:prstGeom>
          <a:solidFill>
            <a:srgbClr val="10E0A0"/>
          </a:solidFill>
          <a:ln/>
          <a:effectLst>
            <a:outerShdw blurRad="114300" dist="50800" dir="16200000" algn="bl" rotWithShape="0">
              <a:srgbClr val="10E0A0">
                <a:alpha val="50000"/>
              </a:srgbClr>
            </a:outerShdw>
          </a:effectLst>
        </p:spPr>
        <p:txBody>
          <a:bodyPr wrap="square" rtlCol="0" anchor="ctr"/>
          <a:lstStyle/>
          <a:p>
            <a:pPr marL="0" indent="0">
              <a:buNone/>
            </a:pPr>
            <a:endParaRPr lang="en-US" dirty="0"/>
          </a:p>
        </p:txBody>
      </p:sp>
      <p:sp>
        <p:nvSpPr>
          <p:cNvPr id="13" name="Text 9"/>
          <p:cNvSpPr/>
          <p:nvPr/>
        </p:nvSpPr>
        <p:spPr>
          <a:xfrm>
            <a:off x="1457325" y="1375172"/>
            <a:ext cx="4303328" cy="164592"/>
          </a:xfrm>
          <a:prstGeom prst="rect">
            <a:avLst/>
          </a:prstGeom>
          <a:noFill/>
          <a:ln/>
        </p:spPr>
        <p:txBody>
          <a:bodyPr wrap="none" lIns="0" tIns="0" rIns="0" bIns="0" rtlCol="0" anchor="t"/>
          <a:lstStyle/>
          <a:p>
            <a:pPr marL="0" indent="0" algn="l">
              <a:lnSpc>
                <a:spcPts val="1013"/>
              </a:lnSpc>
              <a:buNone/>
            </a:pPr>
            <a:r>
              <a:rPr lang="en-US" sz="800" kern="0" spc="122" dirty="0">
                <a:solidFill>
                  <a:srgbClr val="A9B4CC"/>
                </a:solidFill>
                <a:latin typeface="Courier New" pitchFamily="34" charset="0"/>
                <a:ea typeface="Courier New" pitchFamily="34" charset="-122"/>
                <a:cs typeface="Courier New" pitchFamily="34" charset="-120"/>
              </a:rPr>
              <a:t>RED → GREEN SELF-HEALING</a:t>
            </a:r>
            <a:endParaRPr lang="en-US" sz="800" dirty="0"/>
          </a:p>
        </p:txBody>
      </p:sp>
      <p:sp>
        <p:nvSpPr>
          <p:cNvPr id="14" name="Text 10"/>
          <p:cNvSpPr/>
          <p:nvPr/>
        </p:nvSpPr>
        <p:spPr>
          <a:xfrm>
            <a:off x="457200" y="1675209"/>
            <a:ext cx="5833798" cy="1444078"/>
          </a:xfrm>
          <a:prstGeom prst="rect">
            <a:avLst/>
          </a:prstGeom>
          <a:noFill/>
          <a:ln/>
        </p:spPr>
        <p:txBody>
          <a:bodyPr wrap="square" lIns="0" tIns="0" rIns="0" bIns="0" rtlCol="0" anchor="t"/>
          <a:lstStyle/>
          <a:p>
            <a:pPr marL="0" indent="0" algn="l">
              <a:lnSpc>
                <a:spcPts val="3510"/>
              </a:lnSpc>
              <a:buNone/>
            </a:pPr>
            <a:r>
              <a:rPr lang="en-US" sz="3375" b="1" kern="0" spc="-51" dirty="0">
                <a:solidFill>
                  <a:srgbClr val="00E5FF"/>
                </a:solidFill>
                <a:latin typeface="Carlito" pitchFamily="34" charset="0"/>
                <a:ea typeface="Carlito" pitchFamily="34" charset="-122"/>
                <a:cs typeface="Carlito" pitchFamily="34" charset="-120"/>
              </a:rPr>
              <a:t>CTG-CPM:</a:t>
            </a:r>
            <a:endParaRPr lang="en-US" sz="3375" dirty="0"/>
          </a:p>
          <a:p>
            <a:pPr marL="0" indent="0" algn="l">
              <a:lnSpc>
                <a:spcPts val="3510"/>
              </a:lnSpc>
              <a:buNone/>
            </a:pPr>
            <a:r>
              <a:rPr lang="en-US" sz="3375" b="1" kern="0" spc="-51" dirty="0">
                <a:solidFill>
                  <a:srgbClr val="E6F1FF"/>
                </a:solidFill>
                <a:latin typeface="Carlito" pitchFamily="34" charset="0"/>
                <a:ea typeface="Carlito" pitchFamily="34" charset="-122"/>
                <a:cs typeface="Carlito" pitchFamily="34" charset="-120"/>
              </a:rPr>
              <a:t>Self-Healing Networks via Counterfactual Telemetry</a:t>
            </a:r>
            <a:endParaRPr lang="en-US" sz="3375" dirty="0"/>
          </a:p>
        </p:txBody>
      </p:sp>
      <p:sp>
        <p:nvSpPr>
          <p:cNvPr id="15" name="Text 11"/>
          <p:cNvSpPr/>
          <p:nvPr/>
        </p:nvSpPr>
        <p:spPr>
          <a:xfrm>
            <a:off x="457200" y="3183768"/>
            <a:ext cx="4000500" cy="492088"/>
          </a:xfrm>
          <a:prstGeom prst="rect">
            <a:avLst/>
          </a:prstGeom>
          <a:noFill/>
          <a:ln/>
        </p:spPr>
        <p:txBody>
          <a:bodyPr wrap="square" lIns="0" tIns="0" rIns="0" bIns="0" rtlCol="0" anchor="t"/>
          <a:lstStyle/>
          <a:p>
            <a:pPr marL="0" indent="0" algn="l">
              <a:lnSpc>
                <a:spcPts val="1794"/>
              </a:lnSpc>
              <a:buNone/>
            </a:pPr>
            <a:r>
              <a:rPr lang="en-US" sz="1238" dirty="0">
                <a:solidFill>
                  <a:srgbClr val="A9B4CC"/>
                </a:solidFill>
                <a:latin typeface="Carlito" pitchFamily="34" charset="0"/>
                <a:ea typeface="Carlito" pitchFamily="34" charset="-122"/>
                <a:cs typeface="Carlito" pitchFamily="34" charset="-120"/>
              </a:rPr>
              <a:t>Autonomous Predictive Maintenance using Generative &amp; Agentic AI</a:t>
            </a:r>
            <a:endParaRPr lang="en-US" sz="1238" dirty="0"/>
          </a:p>
        </p:txBody>
      </p:sp>
      <p:pic>
        <p:nvPicPr>
          <p:cNvPr id="16" name="Image 2" descr="preencoded.png"/>
          <p:cNvPicPr>
            <a:picLocks noChangeAspect="1"/>
          </p:cNvPicPr>
          <p:nvPr/>
        </p:nvPicPr>
        <p:blipFill>
          <a:blip r:embed="rId5"/>
          <a:stretch>
            <a:fillRect/>
          </a:stretch>
        </p:blipFill>
        <p:spPr>
          <a:xfrm>
            <a:off x="457200" y="4950619"/>
            <a:ext cx="1571625" cy="7144"/>
          </a:xfrm>
          <a:prstGeom prst="rect">
            <a:avLst/>
          </a:prstGeom>
        </p:spPr>
      </p:pic>
      <p:sp>
        <p:nvSpPr>
          <p:cNvPr id="17" name="Text 12"/>
          <p:cNvSpPr/>
          <p:nvPr/>
        </p:nvSpPr>
        <p:spPr>
          <a:xfrm>
            <a:off x="457200" y="5072063"/>
            <a:ext cx="6372704" cy="91440"/>
          </a:xfrm>
          <a:prstGeom prst="rect">
            <a:avLst/>
          </a:prstGeom>
          <a:noFill/>
          <a:ln/>
        </p:spPr>
        <p:txBody>
          <a:bodyPr wrap="square" lIns="0" tIns="0" rIns="0" bIns="0" rtlCol="0" anchor="t"/>
          <a:lstStyle/>
          <a:p>
            <a:pPr marL="0" indent="0" algn="l">
              <a:lnSpc>
                <a:spcPts val="1013"/>
              </a:lnSpc>
              <a:buNone/>
            </a:pP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457200" y="1583903"/>
            <a:ext cx="4715991" cy="0"/>
          </a:xfrm>
          <a:prstGeom prst="line">
            <a:avLst/>
          </a:prstGeom>
          <a:noFill/>
          <a:ln w="7144">
            <a:solidFill>
              <a:srgbClr val="FFFFFF"/>
            </a:solidFill>
            <a:prstDash val="solid"/>
          </a:ln>
        </p:spPr>
      </p:sp>
      <p:sp>
        <p:nvSpPr>
          <p:cNvPr id="3" name="Shape 1"/>
          <p:cNvSpPr/>
          <p:nvPr/>
        </p:nvSpPr>
        <p:spPr>
          <a:xfrm>
            <a:off x="5169619" y="1580331"/>
            <a:ext cx="0" cy="775097"/>
          </a:xfrm>
          <a:prstGeom prst="line">
            <a:avLst/>
          </a:prstGeom>
          <a:noFill/>
          <a:ln w="7144">
            <a:solidFill>
              <a:srgbClr val="FFFFFF"/>
            </a:solidFill>
            <a:prstDash val="solid"/>
          </a:ln>
        </p:spPr>
      </p:sp>
      <p:sp>
        <p:nvSpPr>
          <p:cNvPr id="4" name="Shape 2"/>
          <p:cNvSpPr/>
          <p:nvPr/>
        </p:nvSpPr>
        <p:spPr>
          <a:xfrm>
            <a:off x="457200" y="2351856"/>
            <a:ext cx="4715991" cy="0"/>
          </a:xfrm>
          <a:prstGeom prst="line">
            <a:avLst/>
          </a:prstGeom>
          <a:noFill/>
          <a:ln w="7144">
            <a:solidFill>
              <a:srgbClr val="FFFFFF"/>
            </a:solidFill>
            <a:prstDash val="solid"/>
          </a:ln>
        </p:spPr>
      </p:sp>
      <p:sp>
        <p:nvSpPr>
          <p:cNvPr id="5" name="Shape 3"/>
          <p:cNvSpPr/>
          <p:nvPr/>
        </p:nvSpPr>
        <p:spPr>
          <a:xfrm>
            <a:off x="467916" y="1580331"/>
            <a:ext cx="0" cy="775097"/>
          </a:xfrm>
          <a:prstGeom prst="line">
            <a:avLst/>
          </a:prstGeom>
          <a:noFill/>
          <a:ln w="21431">
            <a:solidFill>
              <a:srgbClr val="FFB347"/>
            </a:solidFill>
            <a:prstDash val="solid"/>
          </a:ln>
        </p:spPr>
      </p:sp>
      <p:sp>
        <p:nvSpPr>
          <p:cNvPr id="6" name="Shape 4"/>
          <p:cNvSpPr/>
          <p:nvPr/>
        </p:nvSpPr>
        <p:spPr>
          <a:xfrm>
            <a:off x="457200" y="2444725"/>
            <a:ext cx="4715991" cy="0"/>
          </a:xfrm>
          <a:prstGeom prst="line">
            <a:avLst/>
          </a:prstGeom>
          <a:noFill/>
          <a:ln w="7144">
            <a:solidFill>
              <a:srgbClr val="FFFFFF"/>
            </a:solidFill>
            <a:prstDash val="solid"/>
          </a:ln>
        </p:spPr>
      </p:sp>
      <p:sp>
        <p:nvSpPr>
          <p:cNvPr id="7" name="Shape 5"/>
          <p:cNvSpPr/>
          <p:nvPr/>
        </p:nvSpPr>
        <p:spPr>
          <a:xfrm>
            <a:off x="5169619" y="2441153"/>
            <a:ext cx="0" cy="775097"/>
          </a:xfrm>
          <a:prstGeom prst="line">
            <a:avLst/>
          </a:prstGeom>
          <a:noFill/>
          <a:ln w="7144">
            <a:solidFill>
              <a:srgbClr val="FFFFFF"/>
            </a:solidFill>
            <a:prstDash val="solid"/>
          </a:ln>
        </p:spPr>
      </p:sp>
      <p:sp>
        <p:nvSpPr>
          <p:cNvPr id="8" name="Shape 6"/>
          <p:cNvSpPr/>
          <p:nvPr/>
        </p:nvSpPr>
        <p:spPr>
          <a:xfrm>
            <a:off x="457200" y="3212678"/>
            <a:ext cx="4715991" cy="0"/>
          </a:xfrm>
          <a:prstGeom prst="line">
            <a:avLst/>
          </a:prstGeom>
          <a:noFill/>
          <a:ln w="7144">
            <a:solidFill>
              <a:srgbClr val="FFFFFF"/>
            </a:solidFill>
            <a:prstDash val="solid"/>
          </a:ln>
        </p:spPr>
      </p:sp>
      <p:sp>
        <p:nvSpPr>
          <p:cNvPr id="9" name="Shape 7"/>
          <p:cNvSpPr/>
          <p:nvPr/>
        </p:nvSpPr>
        <p:spPr>
          <a:xfrm>
            <a:off x="467916" y="2441153"/>
            <a:ext cx="0" cy="775097"/>
          </a:xfrm>
          <a:prstGeom prst="line">
            <a:avLst/>
          </a:prstGeom>
          <a:noFill/>
          <a:ln w="21431">
            <a:solidFill>
              <a:srgbClr val="FF4D6D"/>
            </a:solidFill>
            <a:prstDash val="solid"/>
          </a:ln>
        </p:spPr>
      </p:sp>
      <p:sp>
        <p:nvSpPr>
          <p:cNvPr id="10" name="Shape 8"/>
          <p:cNvSpPr/>
          <p:nvPr/>
        </p:nvSpPr>
        <p:spPr>
          <a:xfrm>
            <a:off x="457200" y="3305547"/>
            <a:ext cx="4715991" cy="0"/>
          </a:xfrm>
          <a:prstGeom prst="line">
            <a:avLst/>
          </a:prstGeom>
          <a:noFill/>
          <a:ln w="7144">
            <a:solidFill>
              <a:srgbClr val="FFFFFF"/>
            </a:solidFill>
            <a:prstDash val="solid"/>
          </a:ln>
        </p:spPr>
      </p:sp>
      <p:sp>
        <p:nvSpPr>
          <p:cNvPr id="11" name="Shape 9"/>
          <p:cNvSpPr/>
          <p:nvPr/>
        </p:nvSpPr>
        <p:spPr>
          <a:xfrm>
            <a:off x="5169619" y="3301975"/>
            <a:ext cx="0" cy="775097"/>
          </a:xfrm>
          <a:prstGeom prst="line">
            <a:avLst/>
          </a:prstGeom>
          <a:noFill/>
          <a:ln w="7144">
            <a:solidFill>
              <a:srgbClr val="FFFFFF"/>
            </a:solidFill>
            <a:prstDash val="solid"/>
          </a:ln>
        </p:spPr>
      </p:sp>
      <p:sp>
        <p:nvSpPr>
          <p:cNvPr id="12" name="Shape 10"/>
          <p:cNvSpPr/>
          <p:nvPr/>
        </p:nvSpPr>
        <p:spPr>
          <a:xfrm>
            <a:off x="457200" y="4073500"/>
            <a:ext cx="4715991" cy="0"/>
          </a:xfrm>
          <a:prstGeom prst="line">
            <a:avLst/>
          </a:prstGeom>
          <a:noFill/>
          <a:ln w="7144">
            <a:solidFill>
              <a:srgbClr val="FFFFFF"/>
            </a:solidFill>
            <a:prstDash val="solid"/>
          </a:ln>
        </p:spPr>
      </p:sp>
      <p:sp>
        <p:nvSpPr>
          <p:cNvPr id="13" name="Shape 11"/>
          <p:cNvSpPr/>
          <p:nvPr/>
        </p:nvSpPr>
        <p:spPr>
          <a:xfrm>
            <a:off x="467916" y="3301975"/>
            <a:ext cx="0" cy="775097"/>
          </a:xfrm>
          <a:prstGeom prst="line">
            <a:avLst/>
          </a:prstGeom>
          <a:noFill/>
          <a:ln w="21431">
            <a:solidFill>
              <a:srgbClr val="7C4DFF"/>
            </a:solidFill>
            <a:prstDash val="solid"/>
          </a:ln>
        </p:spPr>
      </p:sp>
      <p:sp>
        <p:nvSpPr>
          <p:cNvPr id="14" name="Text 12"/>
          <p:cNvSpPr/>
          <p:nvPr/>
        </p:nvSpPr>
        <p:spPr>
          <a:xfrm>
            <a:off x="434340" y="388691"/>
            <a:ext cx="903193" cy="212027"/>
          </a:xfrm>
          <a:prstGeom prst="roundRect">
            <a:avLst>
              <a:gd name="adj" fmla="val 4487860"/>
            </a:avLst>
          </a:prstGeom>
          <a:solidFill>
            <a:srgbClr val="00E5FF">
              <a:alpha val="6000"/>
            </a:srgbClr>
          </a:solidFill>
          <a:ln w="7144">
            <a:solidFill>
              <a:srgbClr val="00E5FF"/>
            </a:solidFill>
            <a:prstDash val="solid"/>
          </a:ln>
        </p:spPr>
        <p:txBody>
          <a:bodyPr wrap="square" rtlCol="0" anchor="ctr"/>
          <a:lstStyle/>
          <a:p>
            <a:pPr marL="0" indent="0">
              <a:buNone/>
            </a:pPr>
            <a:endParaRPr lang="en-US" dirty="0"/>
          </a:p>
        </p:txBody>
      </p:sp>
      <p:sp>
        <p:nvSpPr>
          <p:cNvPr id="15" name="Text 13"/>
          <p:cNvSpPr/>
          <p:nvPr/>
        </p:nvSpPr>
        <p:spPr>
          <a:xfrm>
            <a:off x="685800" y="442913"/>
            <a:ext cx="7071978" cy="139654"/>
          </a:xfrm>
          <a:prstGeom prst="rect">
            <a:avLst/>
          </a:prstGeom>
          <a:noFill/>
          <a:ln/>
        </p:spPr>
        <p:txBody>
          <a:bodyPr wrap="none" lIns="0" tIns="0" rIns="0" bIns="0" rtlCol="0" anchor="t"/>
          <a:lstStyle/>
          <a:p>
            <a:pPr marL="0" indent="0" algn="l">
              <a:lnSpc>
                <a:spcPts val="928"/>
              </a:lnSpc>
              <a:buNone/>
            </a:pPr>
            <a:r>
              <a:rPr lang="en-US" sz="800" kern="0" spc="74" dirty="0">
                <a:solidFill>
                  <a:srgbClr val="00E5FF"/>
                </a:solidFill>
                <a:latin typeface="Courier New" pitchFamily="34" charset="0"/>
                <a:ea typeface="Courier New" pitchFamily="34" charset="-122"/>
                <a:cs typeface="Courier New" pitchFamily="34" charset="-120"/>
              </a:rPr>
              <a:t>THE PROBLEM</a:t>
            </a:r>
            <a:endParaRPr lang="en-US" sz="800" dirty="0"/>
          </a:p>
        </p:txBody>
      </p:sp>
      <p:sp>
        <p:nvSpPr>
          <p:cNvPr id="16" name="Text 14"/>
          <p:cNvSpPr/>
          <p:nvPr/>
        </p:nvSpPr>
        <p:spPr>
          <a:xfrm>
            <a:off x="550069" y="448270"/>
            <a:ext cx="92869" cy="92869"/>
          </a:xfrm>
          <a:prstGeom prst="rect">
            <a:avLst/>
          </a:prstGeom>
          <a:noFill/>
          <a:ln/>
        </p:spPr>
        <p:txBody>
          <a:bodyPr wrap="none" lIns="0" tIns="0" rIns="0" bIns="0" rtlCol="0" anchor="ctr"/>
          <a:lstStyle/>
          <a:p>
            <a:pPr marL="0" indent="0" algn="ctr">
              <a:buNone/>
            </a:pPr>
            <a:r>
              <a:rPr lang="en-US" sz="914" dirty="0">
                <a:solidFill>
                  <a:srgbClr val="00E5FF"/>
                </a:solidFill>
                <a:latin typeface="Segoe UI Symbol" pitchFamily="34" charset="0"/>
                <a:ea typeface="Segoe UI Symbol" pitchFamily="34" charset="-122"/>
                <a:cs typeface="Segoe UI Symbol" pitchFamily="34" charset="-120"/>
              </a:rPr>
              <a:t>⊗</a:t>
            </a:r>
            <a:endParaRPr lang="en-US" sz="914" dirty="0"/>
          </a:p>
        </p:txBody>
      </p:sp>
      <p:sp>
        <p:nvSpPr>
          <p:cNvPr id="17" name="Text 15"/>
          <p:cNvSpPr/>
          <p:nvPr/>
        </p:nvSpPr>
        <p:spPr>
          <a:xfrm>
            <a:off x="7772065" y="435769"/>
            <a:ext cx="1213567" cy="164592"/>
          </a:xfrm>
          <a:prstGeom prst="rect">
            <a:avLst/>
          </a:prstGeom>
          <a:noFill/>
          <a:ln/>
        </p:spPr>
        <p:txBody>
          <a:bodyPr wrap="none" lIns="0" tIns="0" rIns="0" bIns="0" rtlCol="0" anchor="t"/>
          <a:lstStyle/>
          <a:p>
            <a:pPr marL="0" indent="0" algn="l">
              <a:lnSpc>
                <a:spcPts val="928"/>
              </a:lnSpc>
              <a:buNone/>
            </a:pPr>
            <a:r>
              <a:rPr lang="en-US" sz="800" kern="0" spc="124" dirty="0">
                <a:solidFill>
                  <a:srgbClr val="6B7494"/>
                </a:solidFill>
                <a:latin typeface="Liberation Sans Narrow" pitchFamily="34" charset="0"/>
                <a:ea typeface="Liberation Sans Narrow" pitchFamily="34" charset="-122"/>
                <a:cs typeface="Liberation Sans Narrow" pitchFamily="34" charset="-120"/>
              </a:rPr>
              <a:t>CTG-CPM · 02 / 10</a:t>
            </a:r>
            <a:endParaRPr lang="en-US" sz="800" dirty="0"/>
          </a:p>
        </p:txBody>
      </p:sp>
      <p:sp>
        <p:nvSpPr>
          <p:cNvPr id="18" name="Text 16"/>
          <p:cNvSpPr/>
          <p:nvPr/>
        </p:nvSpPr>
        <p:spPr>
          <a:xfrm>
            <a:off x="457200" y="760809"/>
            <a:ext cx="5187590" cy="699918"/>
          </a:xfrm>
          <a:prstGeom prst="rect">
            <a:avLst/>
          </a:prstGeom>
          <a:noFill/>
          <a:ln/>
        </p:spPr>
        <p:txBody>
          <a:bodyPr wrap="none" lIns="0" tIns="0" rIns="0" bIns="0" rtlCol="0" anchor="t"/>
          <a:lstStyle/>
          <a:p>
            <a:pPr marL="0" indent="0" algn="l">
              <a:lnSpc>
                <a:spcPts val="2551"/>
              </a:lnSpc>
              <a:buNone/>
            </a:pPr>
            <a:r>
              <a:rPr lang="en-US" sz="2363" b="1" kern="0" spc="-24" dirty="0">
                <a:solidFill>
                  <a:srgbClr val="E6F1FF"/>
                </a:solidFill>
                <a:latin typeface="Carlito" pitchFamily="34" charset="0"/>
                <a:ea typeface="Carlito" pitchFamily="34" charset="-122"/>
                <a:cs typeface="Carlito" pitchFamily="34" charset="-120"/>
              </a:rPr>
              <a:t>Current Predictive Maintenance</a:t>
            </a:r>
            <a:endParaRPr lang="en-US" sz="2363" dirty="0"/>
          </a:p>
          <a:p>
            <a:pPr marL="0" indent="0" algn="l">
              <a:lnSpc>
                <a:spcPts val="2551"/>
              </a:lnSpc>
              <a:buNone/>
            </a:pPr>
            <a:r>
              <a:rPr lang="en-US" sz="2363" b="1" kern="0" spc="-24" dirty="0">
                <a:solidFill>
                  <a:srgbClr val="E6F1FF"/>
                </a:solidFill>
                <a:latin typeface="Carlito" pitchFamily="34" charset="0"/>
                <a:ea typeface="Carlito" pitchFamily="34" charset="-122"/>
                <a:cs typeface="Carlito" pitchFamily="34" charset="-120"/>
              </a:rPr>
              <a:t>is a </a:t>
            </a:r>
            <a:r>
              <a:rPr lang="en-US" sz="2363" b="1" kern="0" spc="-24" dirty="0">
                <a:solidFill>
                  <a:srgbClr val="00E5FF"/>
                </a:solidFill>
                <a:latin typeface="Carlito" pitchFamily="34" charset="0"/>
                <a:ea typeface="Carlito" pitchFamily="34" charset="-122"/>
                <a:cs typeface="Carlito" pitchFamily="34" charset="-120"/>
              </a:rPr>
              <a:t>Black Box</a:t>
            </a:r>
            <a:endParaRPr lang="en-US" sz="2363" dirty="0"/>
          </a:p>
        </p:txBody>
      </p:sp>
      <p:sp>
        <p:nvSpPr>
          <p:cNvPr id="19" name="Text 17"/>
          <p:cNvSpPr/>
          <p:nvPr/>
        </p:nvSpPr>
        <p:spPr>
          <a:xfrm>
            <a:off x="457200" y="1580331"/>
            <a:ext cx="4715991" cy="775097"/>
          </a:xfrm>
          <a:prstGeom prst="roundRect">
            <a:avLst>
              <a:gd name="adj" fmla="val 14747"/>
            </a:avLst>
          </a:prstGeom>
          <a:solidFill>
            <a:srgbClr val="FFFFFF">
              <a:alpha val="4000"/>
            </a:srgbClr>
          </a:solidFill>
          <a:ln/>
        </p:spPr>
        <p:txBody>
          <a:bodyPr wrap="square" rtlCol="0" anchor="ctr"/>
          <a:lstStyle/>
          <a:p>
            <a:pPr marL="0" indent="0">
              <a:buNone/>
            </a:pPr>
            <a:endParaRPr lang="en-US" dirty="0"/>
          </a:p>
        </p:txBody>
      </p:sp>
      <p:sp>
        <p:nvSpPr>
          <p:cNvPr id="20" name="Text 18"/>
          <p:cNvSpPr/>
          <p:nvPr/>
        </p:nvSpPr>
        <p:spPr>
          <a:xfrm>
            <a:off x="607219" y="1701775"/>
            <a:ext cx="314325" cy="314325"/>
          </a:xfrm>
          <a:prstGeom prst="roundRect">
            <a:avLst>
              <a:gd name="adj" fmla="val 30303"/>
            </a:avLst>
          </a:prstGeom>
          <a:solidFill>
            <a:srgbClr val="FFB347">
              <a:alpha val="10000"/>
            </a:srgbClr>
          </a:solidFill>
          <a:ln/>
        </p:spPr>
        <p:txBody>
          <a:bodyPr wrap="square" rtlCol="0" anchor="ctr"/>
          <a:lstStyle/>
          <a:p>
            <a:pPr marL="0" indent="0">
              <a:buNone/>
            </a:pPr>
            <a:endParaRPr lang="en-US" dirty="0"/>
          </a:p>
        </p:txBody>
      </p:sp>
      <p:sp>
        <p:nvSpPr>
          <p:cNvPr id="21" name="Text 19"/>
          <p:cNvSpPr/>
          <p:nvPr/>
        </p:nvSpPr>
        <p:spPr>
          <a:xfrm>
            <a:off x="640080" y="1734636"/>
            <a:ext cx="248602" cy="248602"/>
          </a:xfrm>
          <a:prstGeom prst="rect">
            <a:avLst/>
          </a:prstGeom>
          <a:noFill/>
          <a:ln/>
        </p:spPr>
        <p:txBody>
          <a:bodyPr wrap="none" lIns="0" tIns="0" rIns="0" bIns="0" rtlCol="0" anchor="ctr"/>
          <a:lstStyle/>
          <a:p>
            <a:pPr marL="0" indent="0" algn="ctr">
              <a:buNone/>
            </a:pPr>
            <a:r>
              <a:rPr lang="en-US" sz="1688" dirty="0">
                <a:solidFill>
                  <a:srgbClr val="FFB347"/>
                </a:solidFill>
                <a:latin typeface="Segoe UI Symbol" pitchFamily="34" charset="0"/>
                <a:ea typeface="Segoe UI Symbol" pitchFamily="34" charset="-122"/>
                <a:cs typeface="Segoe UI Symbol" pitchFamily="34" charset="-120"/>
              </a:rPr>
              <a:t>⚠</a:t>
            </a:r>
            <a:endParaRPr lang="en-US" sz="1688" dirty="0"/>
          </a:p>
        </p:txBody>
      </p:sp>
      <p:sp>
        <p:nvSpPr>
          <p:cNvPr id="22" name="Text 20"/>
          <p:cNvSpPr/>
          <p:nvPr/>
        </p:nvSpPr>
        <p:spPr>
          <a:xfrm>
            <a:off x="1035844" y="1701775"/>
            <a:ext cx="4001616" cy="194024"/>
          </a:xfrm>
          <a:prstGeom prst="rect">
            <a:avLst/>
          </a:prstGeom>
          <a:noFill/>
          <a:ln/>
        </p:spPr>
        <p:txBody>
          <a:bodyPr wrap="none" lIns="0" tIns="0" rIns="0" bIns="0" rtlCol="0" anchor="t">
            <a:normAutofit/>
          </a:bodyPr>
          <a:lstStyle/>
          <a:p>
            <a:pPr marL="0" indent="0" algn="l">
              <a:lnSpc>
                <a:spcPts val="1519"/>
              </a:lnSpc>
              <a:buNone/>
            </a:pPr>
            <a:r>
              <a:rPr lang="en-US" sz="1013" kern="0" spc="-5" dirty="0">
                <a:solidFill>
                  <a:srgbClr val="E6F1FF"/>
                </a:solidFill>
                <a:latin typeface="Carlito" pitchFamily="34" charset="0"/>
                <a:ea typeface="Carlito" pitchFamily="34" charset="-122"/>
                <a:cs typeface="Carlito" pitchFamily="34" charset="-120"/>
              </a:rPr>
              <a:t>The Alert</a:t>
            </a:r>
            <a:endParaRPr lang="en-US" sz="1013" dirty="0"/>
          </a:p>
        </p:txBody>
      </p:sp>
      <p:sp>
        <p:nvSpPr>
          <p:cNvPr id="23" name="Text 21"/>
          <p:cNvSpPr/>
          <p:nvPr/>
        </p:nvSpPr>
        <p:spPr>
          <a:xfrm>
            <a:off x="1035844" y="1923231"/>
            <a:ext cx="4001616" cy="310753"/>
          </a:xfrm>
          <a:prstGeom prst="rect">
            <a:avLst/>
          </a:prstGeom>
          <a:noFill/>
          <a:ln/>
        </p:spPr>
        <p:txBody>
          <a:bodyPr wrap="square" lIns="0" tIns="0" rIns="0" bIns="0" rtlCol="0" anchor="t"/>
          <a:lstStyle/>
          <a:p>
            <a:pPr marL="0" indent="0" algn="l">
              <a:lnSpc>
                <a:spcPts val="1223"/>
              </a:lnSpc>
              <a:buNone/>
            </a:pPr>
            <a:r>
              <a:rPr lang="en-US" sz="816" dirty="0">
                <a:solidFill>
                  <a:srgbClr val="A9B4CC"/>
                </a:solidFill>
                <a:latin typeface="Carlito" pitchFamily="34" charset="0"/>
                <a:ea typeface="Carlito" pitchFamily="34" charset="-122"/>
                <a:cs typeface="Carlito" pitchFamily="34" charset="-120"/>
              </a:rPr>
              <a:t>Today's AI can predict that a network node will fail in X hours, but cannot explain why or what to do about it.</a:t>
            </a:r>
            <a:endParaRPr lang="en-US" sz="816" dirty="0"/>
          </a:p>
        </p:txBody>
      </p:sp>
      <p:sp>
        <p:nvSpPr>
          <p:cNvPr id="24" name="Text 22"/>
          <p:cNvSpPr/>
          <p:nvPr/>
        </p:nvSpPr>
        <p:spPr>
          <a:xfrm>
            <a:off x="457200" y="2441153"/>
            <a:ext cx="4715991" cy="775097"/>
          </a:xfrm>
          <a:prstGeom prst="roundRect">
            <a:avLst>
              <a:gd name="adj" fmla="val 14747"/>
            </a:avLst>
          </a:prstGeom>
          <a:solidFill>
            <a:srgbClr val="FFFFFF">
              <a:alpha val="4000"/>
            </a:srgbClr>
          </a:solidFill>
          <a:ln/>
        </p:spPr>
        <p:txBody>
          <a:bodyPr wrap="square" rtlCol="0" anchor="ctr"/>
          <a:lstStyle/>
          <a:p>
            <a:pPr marL="0" indent="0">
              <a:buNone/>
            </a:pPr>
            <a:endParaRPr lang="en-US" dirty="0"/>
          </a:p>
        </p:txBody>
      </p:sp>
      <p:sp>
        <p:nvSpPr>
          <p:cNvPr id="25" name="Text 23"/>
          <p:cNvSpPr/>
          <p:nvPr/>
        </p:nvSpPr>
        <p:spPr>
          <a:xfrm>
            <a:off x="607219" y="2562597"/>
            <a:ext cx="314325" cy="314325"/>
          </a:xfrm>
          <a:prstGeom prst="roundRect">
            <a:avLst>
              <a:gd name="adj" fmla="val 30303"/>
            </a:avLst>
          </a:prstGeom>
          <a:solidFill>
            <a:srgbClr val="FF4D6D">
              <a:alpha val="10000"/>
            </a:srgbClr>
          </a:solidFill>
          <a:ln/>
        </p:spPr>
        <p:txBody>
          <a:bodyPr wrap="square" rtlCol="0" anchor="ctr"/>
          <a:lstStyle/>
          <a:p>
            <a:pPr marL="0" indent="0">
              <a:buNone/>
            </a:pPr>
            <a:endParaRPr lang="en-US" dirty="0"/>
          </a:p>
        </p:txBody>
      </p:sp>
      <p:sp>
        <p:nvSpPr>
          <p:cNvPr id="26" name="Text 24"/>
          <p:cNvSpPr/>
          <p:nvPr/>
        </p:nvSpPr>
        <p:spPr>
          <a:xfrm>
            <a:off x="640080" y="2595458"/>
            <a:ext cx="248602" cy="248602"/>
          </a:xfrm>
          <a:prstGeom prst="rect">
            <a:avLst/>
          </a:prstGeom>
          <a:noFill/>
          <a:ln/>
        </p:spPr>
        <p:txBody>
          <a:bodyPr wrap="none" lIns="0" tIns="0" rIns="0" bIns="0" rtlCol="0" anchor="ctr"/>
          <a:lstStyle/>
          <a:p>
            <a:pPr marL="0" indent="0" algn="ctr">
              <a:buNone/>
            </a:pPr>
            <a:r>
              <a:rPr lang="en-US" sz="1688" dirty="0">
                <a:solidFill>
                  <a:srgbClr val="FF4D6D"/>
                </a:solidFill>
                <a:latin typeface="Segoe UI Symbol" pitchFamily="34" charset="0"/>
                <a:ea typeface="Segoe UI Symbol" pitchFamily="34" charset="-122"/>
                <a:cs typeface="Segoe UI Symbol" pitchFamily="34" charset="-120"/>
              </a:rPr>
              <a:t>⚠</a:t>
            </a:r>
            <a:endParaRPr lang="en-US" sz="1688" dirty="0"/>
          </a:p>
        </p:txBody>
      </p:sp>
      <p:sp>
        <p:nvSpPr>
          <p:cNvPr id="27" name="Text 25"/>
          <p:cNvSpPr/>
          <p:nvPr/>
        </p:nvSpPr>
        <p:spPr>
          <a:xfrm>
            <a:off x="1035844" y="2562597"/>
            <a:ext cx="4001616" cy="194024"/>
          </a:xfrm>
          <a:prstGeom prst="rect">
            <a:avLst/>
          </a:prstGeom>
          <a:noFill/>
          <a:ln/>
        </p:spPr>
        <p:txBody>
          <a:bodyPr wrap="none" lIns="0" tIns="0" rIns="0" bIns="0" rtlCol="0" anchor="t">
            <a:normAutofit/>
          </a:bodyPr>
          <a:lstStyle/>
          <a:p>
            <a:pPr marL="0" indent="0" algn="l">
              <a:lnSpc>
                <a:spcPts val="1519"/>
              </a:lnSpc>
              <a:buNone/>
            </a:pPr>
            <a:r>
              <a:rPr lang="en-US" sz="1013" kern="0" spc="-5" dirty="0">
                <a:solidFill>
                  <a:srgbClr val="E6F1FF"/>
                </a:solidFill>
                <a:latin typeface="Carlito" pitchFamily="34" charset="0"/>
                <a:ea typeface="Carlito" pitchFamily="34" charset="-122"/>
                <a:cs typeface="Carlito" pitchFamily="34" charset="-120"/>
              </a:rPr>
              <a:t>The Risk</a:t>
            </a:r>
            <a:endParaRPr lang="en-US" sz="1013" dirty="0"/>
          </a:p>
        </p:txBody>
      </p:sp>
      <p:sp>
        <p:nvSpPr>
          <p:cNvPr id="28" name="Text 26"/>
          <p:cNvSpPr/>
          <p:nvPr/>
        </p:nvSpPr>
        <p:spPr>
          <a:xfrm>
            <a:off x="1035844" y="2784053"/>
            <a:ext cx="4001616" cy="310753"/>
          </a:xfrm>
          <a:prstGeom prst="rect">
            <a:avLst/>
          </a:prstGeom>
          <a:noFill/>
          <a:ln/>
        </p:spPr>
        <p:txBody>
          <a:bodyPr wrap="square" lIns="0" tIns="0" rIns="0" bIns="0" rtlCol="0" anchor="t"/>
          <a:lstStyle/>
          <a:p>
            <a:pPr marL="0" indent="0" algn="l">
              <a:lnSpc>
                <a:spcPts val="1223"/>
              </a:lnSpc>
              <a:buNone/>
            </a:pPr>
            <a:r>
              <a:rPr lang="en-US" sz="816" dirty="0">
                <a:solidFill>
                  <a:srgbClr val="A9B4CC"/>
                </a:solidFill>
                <a:latin typeface="Carlito" pitchFamily="34" charset="0"/>
                <a:ea typeface="Carlito" pitchFamily="34" charset="-122"/>
                <a:cs typeface="Carlito" pitchFamily="34" charset="-120"/>
              </a:rPr>
              <a:t>NOC engineers must manually guess the best remediation and deploy it live, risking further cascading outages.</a:t>
            </a:r>
            <a:endParaRPr lang="en-US" sz="816" dirty="0"/>
          </a:p>
        </p:txBody>
      </p:sp>
      <p:sp>
        <p:nvSpPr>
          <p:cNvPr id="29" name="Text 27"/>
          <p:cNvSpPr/>
          <p:nvPr/>
        </p:nvSpPr>
        <p:spPr>
          <a:xfrm>
            <a:off x="457200" y="3301975"/>
            <a:ext cx="4715991" cy="775097"/>
          </a:xfrm>
          <a:prstGeom prst="roundRect">
            <a:avLst>
              <a:gd name="adj" fmla="val 14747"/>
            </a:avLst>
          </a:prstGeom>
          <a:solidFill>
            <a:srgbClr val="FFFFFF">
              <a:alpha val="4000"/>
            </a:srgbClr>
          </a:solidFill>
          <a:ln/>
        </p:spPr>
        <p:txBody>
          <a:bodyPr wrap="square" rtlCol="0" anchor="ctr"/>
          <a:lstStyle/>
          <a:p>
            <a:pPr marL="0" indent="0">
              <a:buNone/>
            </a:pPr>
            <a:endParaRPr lang="en-US" dirty="0"/>
          </a:p>
        </p:txBody>
      </p:sp>
      <p:sp>
        <p:nvSpPr>
          <p:cNvPr id="30" name="Text 28"/>
          <p:cNvSpPr/>
          <p:nvPr/>
        </p:nvSpPr>
        <p:spPr>
          <a:xfrm>
            <a:off x="607219" y="3423419"/>
            <a:ext cx="314325" cy="314325"/>
          </a:xfrm>
          <a:prstGeom prst="roundRect">
            <a:avLst>
              <a:gd name="adj" fmla="val 30303"/>
            </a:avLst>
          </a:prstGeom>
          <a:solidFill>
            <a:srgbClr val="7C4DFF">
              <a:alpha val="12000"/>
            </a:srgbClr>
          </a:solidFill>
          <a:ln/>
        </p:spPr>
        <p:txBody>
          <a:bodyPr wrap="square" rtlCol="0" anchor="ctr"/>
          <a:lstStyle/>
          <a:p>
            <a:pPr marL="0" indent="0">
              <a:buNone/>
            </a:pPr>
            <a:endParaRPr lang="en-US" dirty="0"/>
          </a:p>
        </p:txBody>
      </p:sp>
      <p:sp>
        <p:nvSpPr>
          <p:cNvPr id="31" name="Text 29"/>
          <p:cNvSpPr/>
          <p:nvPr/>
        </p:nvSpPr>
        <p:spPr>
          <a:xfrm>
            <a:off x="640080" y="3456280"/>
            <a:ext cx="248602" cy="248602"/>
          </a:xfrm>
          <a:prstGeom prst="rect">
            <a:avLst/>
          </a:prstGeom>
          <a:noFill/>
          <a:ln/>
        </p:spPr>
        <p:txBody>
          <a:bodyPr wrap="none" lIns="0" tIns="0" rIns="0" bIns="0" rtlCol="0" anchor="ctr"/>
          <a:lstStyle/>
          <a:p>
            <a:pPr marL="0" indent="0" algn="ctr">
              <a:buNone/>
            </a:pPr>
            <a:r>
              <a:rPr lang="en-US" sz="1688" dirty="0">
                <a:solidFill>
                  <a:srgbClr val="7C4DFF"/>
                </a:solidFill>
                <a:latin typeface="Segoe UI Symbol" pitchFamily="34" charset="0"/>
                <a:ea typeface="Segoe UI Symbol" pitchFamily="34" charset="-122"/>
                <a:cs typeface="Segoe UI Symbol" pitchFamily="34" charset="-120"/>
              </a:rPr>
              <a:t>$</a:t>
            </a:r>
            <a:endParaRPr lang="en-US" sz="1688" dirty="0"/>
          </a:p>
        </p:txBody>
      </p:sp>
      <p:sp>
        <p:nvSpPr>
          <p:cNvPr id="32" name="Text 30"/>
          <p:cNvSpPr/>
          <p:nvPr/>
        </p:nvSpPr>
        <p:spPr>
          <a:xfrm>
            <a:off x="1035844" y="3423419"/>
            <a:ext cx="4001616" cy="194024"/>
          </a:xfrm>
          <a:prstGeom prst="rect">
            <a:avLst/>
          </a:prstGeom>
          <a:noFill/>
          <a:ln/>
        </p:spPr>
        <p:txBody>
          <a:bodyPr wrap="none" lIns="0" tIns="0" rIns="0" bIns="0" rtlCol="0" anchor="t">
            <a:normAutofit/>
          </a:bodyPr>
          <a:lstStyle/>
          <a:p>
            <a:pPr marL="0" indent="0" algn="l">
              <a:lnSpc>
                <a:spcPts val="1519"/>
              </a:lnSpc>
              <a:buNone/>
            </a:pPr>
            <a:r>
              <a:rPr lang="en-US" sz="1013" kern="0" spc="-5" dirty="0">
                <a:solidFill>
                  <a:srgbClr val="E6F1FF"/>
                </a:solidFill>
                <a:latin typeface="Carlito" pitchFamily="34" charset="0"/>
                <a:ea typeface="Carlito" pitchFamily="34" charset="-122"/>
                <a:cs typeface="Carlito" pitchFamily="34" charset="-120"/>
              </a:rPr>
              <a:t>The Cost</a:t>
            </a:r>
            <a:endParaRPr lang="en-US" sz="1013" dirty="0"/>
          </a:p>
        </p:txBody>
      </p:sp>
      <p:sp>
        <p:nvSpPr>
          <p:cNvPr id="33" name="Text 31"/>
          <p:cNvSpPr/>
          <p:nvPr/>
        </p:nvSpPr>
        <p:spPr>
          <a:xfrm>
            <a:off x="1035844" y="3644875"/>
            <a:ext cx="4001616" cy="310753"/>
          </a:xfrm>
          <a:prstGeom prst="rect">
            <a:avLst/>
          </a:prstGeom>
          <a:noFill/>
          <a:ln/>
        </p:spPr>
        <p:txBody>
          <a:bodyPr wrap="square" lIns="0" tIns="0" rIns="0" bIns="0" rtlCol="0" anchor="t"/>
          <a:lstStyle/>
          <a:p>
            <a:pPr marL="0" indent="0" algn="l">
              <a:lnSpc>
                <a:spcPts val="1223"/>
              </a:lnSpc>
              <a:buNone/>
            </a:pPr>
            <a:r>
              <a:rPr lang="en-US" sz="816" dirty="0">
                <a:solidFill>
                  <a:srgbClr val="A9B4CC"/>
                </a:solidFill>
                <a:latin typeface="Carlito" pitchFamily="34" charset="0"/>
                <a:ea typeface="Carlito" pitchFamily="34" charset="-122"/>
                <a:cs typeface="Carlito" pitchFamily="34" charset="-120"/>
              </a:rPr>
              <a:t>Alternatively, companies perform costly "blind" hardware replacements (truck rolls) because they cannot safely test configurations on live traffic.</a:t>
            </a:r>
            <a:endParaRPr lang="en-US" sz="816" dirty="0"/>
          </a:p>
        </p:txBody>
      </p:sp>
      <p:pic>
        <p:nvPicPr>
          <p:cNvPr id="34" name="Image 0" descr="preencoded.png"/>
          <p:cNvPicPr>
            <a:picLocks noChangeAspect="1"/>
          </p:cNvPicPr>
          <p:nvPr/>
        </p:nvPicPr>
        <p:blipFill>
          <a:blip r:embed="rId3"/>
          <a:stretch>
            <a:fillRect/>
          </a:stretch>
        </p:blipFill>
        <p:spPr>
          <a:xfrm>
            <a:off x="5344641" y="617934"/>
            <a:ext cx="3742097" cy="4204097"/>
          </a:xfrm>
          <a:prstGeom prst="rect">
            <a:avLst/>
          </a:prstGeom>
        </p:spPr>
      </p:pic>
      <p:sp>
        <p:nvSpPr>
          <p:cNvPr id="35" name="Text 32"/>
          <p:cNvSpPr/>
          <p:nvPr/>
        </p:nvSpPr>
        <p:spPr>
          <a:xfrm>
            <a:off x="5344641" y="617934"/>
            <a:ext cx="3742097" cy="4204097"/>
          </a:xfrm>
          <a:prstGeom prst="rect">
            <a:avLst/>
          </a:prstGeom>
          <a:solidFill>
            <a:srgbClr val="FFFFFF">
              <a:alpha val="0"/>
            </a:srgbClr>
          </a:solidFill>
          <a:ln/>
        </p:spPr>
        <p:txBody>
          <a:bodyPr wrap="square" rtlCol="0" anchor="ctr"/>
          <a:lstStyle/>
          <a:p>
            <a:pPr marL="0" indent="0">
              <a:buNone/>
            </a:pPr>
            <a:endParaRPr lang="en-US" dirty="0"/>
          </a:p>
        </p:txBody>
      </p:sp>
      <p:sp>
        <p:nvSpPr>
          <p:cNvPr id="36" name="Text 33"/>
          <p:cNvSpPr/>
          <p:nvPr/>
        </p:nvSpPr>
        <p:spPr>
          <a:xfrm>
            <a:off x="5491088" y="764381"/>
            <a:ext cx="3449203" cy="3707606"/>
          </a:xfrm>
          <a:prstGeom prst="roundRect">
            <a:avLst>
              <a:gd name="adj" fmla="val 4418"/>
            </a:avLst>
          </a:prstGeom>
          <a:noFill/>
          <a:ln w="7144">
            <a:solidFill>
              <a:srgbClr val="FFFFFF"/>
            </a:solidFill>
            <a:prstDash val="solid"/>
          </a:ln>
          <a:effectLst>
            <a:outerShdw blurRad="571500" dist="50800" dir="16200000" algn="bl" rotWithShape="0">
              <a:srgbClr val="00E5FF">
                <a:alpha val="12000"/>
              </a:srgbClr>
            </a:outerShdw>
          </a:effectLst>
        </p:spPr>
        <p:txBody>
          <a:bodyPr wrap="square" rtlCol="0" anchor="ctr"/>
          <a:lstStyle/>
          <a:p>
            <a:pPr marL="0" indent="0">
              <a:buNone/>
            </a:pPr>
            <a:endParaRPr lang="en-US" dirty="0"/>
          </a:p>
        </p:txBody>
      </p:sp>
      <p:pic>
        <p:nvPicPr>
          <p:cNvPr id="37" name="Image 1" descr="/tmp/h2p-fit-1785740047420-vr715y.png"/>
          <p:cNvPicPr>
            <a:picLocks noChangeAspect="1"/>
          </p:cNvPicPr>
          <p:nvPr/>
        </p:nvPicPr>
        <p:blipFill>
          <a:blip r:embed="rId4"/>
          <a:stretch>
            <a:fillRect/>
          </a:stretch>
        </p:blipFill>
        <p:spPr>
          <a:xfrm>
            <a:off x="5494660" y="767953"/>
            <a:ext cx="3442060" cy="3700463"/>
          </a:xfrm>
          <a:prstGeom prst="rect">
            <a:avLst/>
          </a:prstGeom>
        </p:spPr>
      </p:pic>
      <p:pic>
        <p:nvPicPr>
          <p:cNvPr id="38" name="Image 2" descr="preencoded.png"/>
          <p:cNvPicPr>
            <a:picLocks noChangeAspect="1"/>
          </p:cNvPicPr>
          <p:nvPr/>
        </p:nvPicPr>
        <p:blipFill>
          <a:blip r:embed="rId5"/>
          <a:stretch>
            <a:fillRect/>
          </a:stretch>
        </p:blipFill>
        <p:spPr>
          <a:xfrm>
            <a:off x="5494660" y="767953"/>
            <a:ext cx="3442060" cy="3700463"/>
          </a:xfrm>
          <a:prstGeom prst="rect">
            <a:avLst/>
          </a:prstGeom>
        </p:spPr>
      </p:pic>
      <p:sp>
        <p:nvSpPr>
          <p:cNvPr id="39" name="Text 34"/>
          <p:cNvSpPr/>
          <p:nvPr/>
        </p:nvSpPr>
        <p:spPr>
          <a:xfrm>
            <a:off x="8203726" y="857250"/>
            <a:ext cx="655841" cy="200025"/>
          </a:xfrm>
          <a:prstGeom prst="roundRect">
            <a:avLst>
              <a:gd name="adj" fmla="val 28571"/>
            </a:avLst>
          </a:prstGeom>
          <a:solidFill>
            <a:srgbClr val="0A0E1A">
              <a:alpha val="70000"/>
            </a:srgbClr>
          </a:solidFill>
          <a:ln w="7144">
            <a:solidFill>
              <a:srgbClr val="FFFFFF"/>
            </a:solidFill>
            <a:prstDash val="solid"/>
          </a:ln>
        </p:spPr>
        <p:txBody>
          <a:bodyPr wrap="square" rtlCol="0" anchor="ctr"/>
          <a:lstStyle/>
          <a:p>
            <a:pPr marL="0" indent="0">
              <a:buNone/>
            </a:pPr>
            <a:endParaRPr lang="en-US" dirty="0"/>
          </a:p>
        </p:txBody>
      </p:sp>
      <p:sp>
        <p:nvSpPr>
          <p:cNvPr id="40" name="Text 35"/>
          <p:cNvSpPr/>
          <p:nvPr/>
        </p:nvSpPr>
        <p:spPr>
          <a:xfrm>
            <a:off x="8193166" y="867966"/>
            <a:ext cx="676961" cy="178594"/>
          </a:xfrm>
          <a:prstGeom prst="rect">
            <a:avLst/>
          </a:prstGeom>
          <a:noFill/>
          <a:ln/>
        </p:spPr>
        <p:txBody>
          <a:bodyPr wrap="none" lIns="0" tIns="0" rIns="0" bIns="0" rtlCol="0" anchor="ctr"/>
          <a:lstStyle/>
          <a:p>
            <a:pPr marL="0" indent="0" algn="ctr">
              <a:lnSpc>
                <a:spcPts val="844"/>
              </a:lnSpc>
              <a:buNone/>
            </a:pPr>
            <a:r>
              <a:rPr lang="en-US" sz="800" kern="0" spc="113" dirty="0">
                <a:solidFill>
                  <a:srgbClr val="A9B4CC"/>
                </a:solidFill>
                <a:latin typeface="Courier New" pitchFamily="34" charset="0"/>
                <a:ea typeface="Courier New" pitchFamily="34" charset="-122"/>
                <a:cs typeface="Courier New" pitchFamily="34" charset="-120"/>
              </a:rPr>
              <a:t>NOC · LIVE</a:t>
            </a:r>
            <a:endParaRPr lang="en-US" sz="800" dirty="0"/>
          </a:p>
        </p:txBody>
      </p:sp>
      <p:sp>
        <p:nvSpPr>
          <p:cNvPr id="42" name="Text 37"/>
          <p:cNvSpPr/>
          <p:nvPr/>
        </p:nvSpPr>
        <p:spPr>
          <a:xfrm>
            <a:off x="5687541" y="4227314"/>
            <a:ext cx="64294" cy="64294"/>
          </a:xfrm>
          <a:prstGeom prst="roundRect">
            <a:avLst>
              <a:gd name="adj" fmla="val 66666"/>
            </a:avLst>
          </a:prstGeom>
          <a:solidFill>
            <a:srgbClr val="FF4D6D"/>
          </a:solidFill>
          <a:ln/>
        </p:spPr>
        <p:txBody>
          <a:bodyPr wrap="square" rtlCol="0" anchor="ctr"/>
          <a:lstStyle/>
          <a:p>
            <a:pPr marL="0" indent="0">
              <a:buNone/>
            </a:pPr>
            <a:endParaRPr lang="en-US" dirty="0"/>
          </a:p>
        </p:txBody>
      </p:sp>
      <p:sp>
        <p:nvSpPr>
          <p:cNvPr id="43" name="Text 38"/>
          <p:cNvSpPr/>
          <p:nvPr/>
        </p:nvSpPr>
        <p:spPr>
          <a:xfrm>
            <a:off x="5594672" y="4150519"/>
            <a:ext cx="1355415" cy="217884"/>
          </a:xfrm>
          <a:prstGeom prst="rect">
            <a:avLst/>
          </a:prstGeom>
          <a:noFill/>
          <a:ln/>
        </p:spPr>
        <p:txBody>
          <a:bodyPr wrap="none" lIns="0" tIns="0" rIns="0" bIns="0" rtlCol="0" anchor="ctr"/>
          <a:lstStyle/>
          <a:p>
            <a:pPr marL="0" indent="0" algn="ctr">
              <a:lnSpc>
                <a:spcPts val="928"/>
              </a:lnSpc>
              <a:buNone/>
            </a:pPr>
            <a:endParaRPr lang="en-US" sz="800" dirty="0"/>
          </a:p>
        </p:txBody>
      </p:sp>
      <p:sp>
        <p:nvSpPr>
          <p:cNvPr id="44" name="Text 39"/>
          <p:cNvSpPr/>
          <p:nvPr/>
        </p:nvSpPr>
        <p:spPr>
          <a:xfrm>
            <a:off x="5487516" y="4561284"/>
            <a:ext cx="3656484" cy="164592"/>
          </a:xfrm>
          <a:prstGeom prst="rect">
            <a:avLst/>
          </a:prstGeom>
          <a:noFill/>
          <a:ln/>
        </p:spPr>
        <p:txBody>
          <a:bodyPr wrap="square" lIns="0" tIns="0" rIns="0" bIns="0" rtlCol="0" anchor="t"/>
          <a:lstStyle/>
          <a:p>
            <a:pPr marL="0" indent="0" algn="l">
              <a:lnSpc>
                <a:spcPts val="928"/>
              </a:lnSpc>
              <a:buNone/>
            </a:pPr>
            <a:r>
              <a:rPr lang="en-US" sz="800" kern="0" spc="99" dirty="0">
                <a:solidFill>
                  <a:srgbClr val="6B7494"/>
                </a:solidFill>
                <a:latin typeface="Liberation Sans Narrow" pitchFamily="34" charset="0"/>
                <a:ea typeface="Liberation Sans Narrow" pitchFamily="34" charset="-122"/>
                <a:cs typeface="Liberation Sans Narrow" pitchFamily="34" charset="-120"/>
              </a:rPr>
              <a:t>SOURCE: NOC TELEMETRY · 2026-Q1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34340" y="388691"/>
            <a:ext cx="951860" cy="212027"/>
          </a:xfrm>
          <a:prstGeom prst="roundRect">
            <a:avLst>
              <a:gd name="adj" fmla="val 4487860"/>
            </a:avLst>
          </a:prstGeom>
          <a:solidFill>
            <a:srgbClr val="00E5FF">
              <a:alpha val="6000"/>
            </a:srgbClr>
          </a:solidFill>
          <a:ln w="7144">
            <a:solidFill>
              <a:srgbClr val="00E5FF"/>
            </a:solidFill>
            <a:prstDash val="solid"/>
          </a:ln>
        </p:spPr>
        <p:txBody>
          <a:bodyPr wrap="square" rtlCol="0" anchor="ctr"/>
          <a:lstStyle/>
          <a:p>
            <a:pPr marL="0" indent="0">
              <a:buNone/>
            </a:pPr>
            <a:endParaRPr lang="en-US" dirty="0"/>
          </a:p>
        </p:txBody>
      </p:sp>
      <p:sp>
        <p:nvSpPr>
          <p:cNvPr id="3" name="Text 1"/>
          <p:cNvSpPr/>
          <p:nvPr/>
        </p:nvSpPr>
        <p:spPr>
          <a:xfrm>
            <a:off x="685800" y="442913"/>
            <a:ext cx="7071978" cy="139654"/>
          </a:xfrm>
          <a:prstGeom prst="rect">
            <a:avLst/>
          </a:prstGeom>
          <a:noFill/>
          <a:ln/>
        </p:spPr>
        <p:txBody>
          <a:bodyPr wrap="none" lIns="0" tIns="0" rIns="0" bIns="0" rtlCol="0" anchor="t"/>
          <a:lstStyle/>
          <a:p>
            <a:pPr marL="0" indent="0" algn="l">
              <a:lnSpc>
                <a:spcPts val="928"/>
              </a:lnSpc>
              <a:buNone/>
            </a:pPr>
            <a:r>
              <a:rPr lang="en-US" sz="800" kern="0" spc="74" dirty="0">
                <a:solidFill>
                  <a:srgbClr val="00E5FF"/>
                </a:solidFill>
                <a:latin typeface="Courier New" pitchFamily="34" charset="0"/>
                <a:ea typeface="Courier New" pitchFamily="34" charset="-122"/>
                <a:cs typeface="Courier New" pitchFamily="34" charset="-120"/>
              </a:rPr>
              <a:t>OUR SOLUTION</a:t>
            </a:r>
            <a:endParaRPr lang="en-US" sz="800" dirty="0"/>
          </a:p>
        </p:txBody>
      </p:sp>
      <p:sp>
        <p:nvSpPr>
          <p:cNvPr id="4" name="Text 2"/>
          <p:cNvSpPr/>
          <p:nvPr/>
        </p:nvSpPr>
        <p:spPr>
          <a:xfrm>
            <a:off x="550069" y="448270"/>
            <a:ext cx="92869" cy="92869"/>
          </a:xfrm>
          <a:prstGeom prst="rect">
            <a:avLst/>
          </a:prstGeom>
          <a:noFill/>
          <a:ln/>
        </p:spPr>
        <p:txBody>
          <a:bodyPr wrap="none" lIns="0" tIns="0" rIns="0" bIns="0" rtlCol="0" anchor="ctr"/>
          <a:lstStyle/>
          <a:p>
            <a:pPr marL="0" indent="0" algn="ctr">
              <a:buNone/>
            </a:pPr>
            <a:r>
              <a:rPr lang="en-US" sz="914" dirty="0">
                <a:solidFill>
                  <a:srgbClr val="00E5FF"/>
                </a:solidFill>
                <a:latin typeface="Segoe UI Symbol" pitchFamily="34" charset="0"/>
                <a:ea typeface="Segoe UI Symbol" pitchFamily="34" charset="-122"/>
                <a:cs typeface="Segoe UI Symbol" pitchFamily="34" charset="-120"/>
              </a:rPr>
              <a:t>⚡</a:t>
            </a:r>
            <a:endParaRPr lang="en-US" sz="914" dirty="0"/>
          </a:p>
        </p:txBody>
      </p:sp>
      <p:sp>
        <p:nvSpPr>
          <p:cNvPr id="5" name="Text 3"/>
          <p:cNvSpPr/>
          <p:nvPr/>
        </p:nvSpPr>
        <p:spPr>
          <a:xfrm>
            <a:off x="7772065" y="435769"/>
            <a:ext cx="1213567" cy="164592"/>
          </a:xfrm>
          <a:prstGeom prst="rect">
            <a:avLst/>
          </a:prstGeom>
          <a:noFill/>
          <a:ln/>
        </p:spPr>
        <p:txBody>
          <a:bodyPr wrap="none" lIns="0" tIns="0" rIns="0" bIns="0" rtlCol="0" anchor="t"/>
          <a:lstStyle/>
          <a:p>
            <a:pPr marL="0" indent="0" algn="l">
              <a:lnSpc>
                <a:spcPts val="928"/>
              </a:lnSpc>
              <a:buNone/>
            </a:pPr>
            <a:r>
              <a:rPr lang="en-US" sz="800" kern="0" spc="124" dirty="0">
                <a:solidFill>
                  <a:srgbClr val="6B7494"/>
                </a:solidFill>
                <a:latin typeface="Liberation Sans Narrow" pitchFamily="34" charset="0"/>
                <a:ea typeface="Liberation Sans Narrow" pitchFamily="34" charset="-122"/>
                <a:cs typeface="Liberation Sans Narrow" pitchFamily="34" charset="-120"/>
              </a:rPr>
              <a:t>CTG-CPM · 03 / 10</a:t>
            </a:r>
            <a:endParaRPr lang="en-US" sz="800" dirty="0"/>
          </a:p>
        </p:txBody>
      </p:sp>
      <p:sp>
        <p:nvSpPr>
          <p:cNvPr id="6" name="Text 4"/>
          <p:cNvSpPr/>
          <p:nvPr/>
        </p:nvSpPr>
        <p:spPr>
          <a:xfrm>
            <a:off x="457200" y="732234"/>
            <a:ext cx="8636000" cy="339471"/>
          </a:xfrm>
          <a:prstGeom prst="rect">
            <a:avLst/>
          </a:prstGeom>
          <a:noFill/>
          <a:ln/>
        </p:spPr>
        <p:txBody>
          <a:bodyPr wrap="square" lIns="0" tIns="0" rIns="0" bIns="0" rtlCol="0" anchor="t"/>
          <a:lstStyle/>
          <a:p>
            <a:pPr marL="0" indent="0" algn="l">
              <a:lnSpc>
                <a:spcPts val="2475"/>
              </a:lnSpc>
              <a:buNone/>
            </a:pPr>
            <a:r>
              <a:rPr lang="en-US" sz="2250" b="1" kern="0" spc="-23" dirty="0">
                <a:solidFill>
                  <a:srgbClr val="E6F1FF"/>
                </a:solidFill>
                <a:latin typeface="Carlito" pitchFamily="34" charset="0"/>
                <a:ea typeface="Carlito" pitchFamily="34" charset="-122"/>
                <a:cs typeface="Carlito" pitchFamily="34" charset="-120"/>
              </a:rPr>
              <a:t>Introducing </a:t>
            </a:r>
            <a:r>
              <a:rPr lang="en-US" sz="2250" b="1" kern="0" spc="-23" dirty="0">
                <a:solidFill>
                  <a:srgbClr val="00E5FF"/>
                </a:solidFill>
                <a:latin typeface="Carlito" pitchFamily="34" charset="0"/>
                <a:ea typeface="Carlito" pitchFamily="34" charset="-122"/>
                <a:cs typeface="Carlito" pitchFamily="34" charset="-120"/>
              </a:rPr>
              <a:t>CTG-CPM</a:t>
            </a:r>
            <a:r>
              <a:rPr lang="en-US" sz="2250" b="1" kern="0" spc="-23" dirty="0">
                <a:solidFill>
                  <a:srgbClr val="E6F1FF"/>
                </a:solidFill>
                <a:latin typeface="Carlito" pitchFamily="34" charset="0"/>
                <a:ea typeface="Carlito" pitchFamily="34" charset="-122"/>
                <a:cs typeface="Carlito" pitchFamily="34" charset="-120"/>
              </a:rPr>
              <a:t> (Counterfactual Telemetry Generation)</a:t>
            </a:r>
            <a:endParaRPr lang="en-US" sz="2250" dirty="0"/>
          </a:p>
        </p:txBody>
      </p:sp>
      <p:sp>
        <p:nvSpPr>
          <p:cNvPr id="7" name="Text 5"/>
          <p:cNvSpPr/>
          <p:nvPr/>
        </p:nvSpPr>
        <p:spPr>
          <a:xfrm>
            <a:off x="457200" y="1132284"/>
            <a:ext cx="6572250" cy="191314"/>
          </a:xfrm>
          <a:prstGeom prst="rect">
            <a:avLst/>
          </a:prstGeom>
          <a:noFill/>
          <a:ln/>
        </p:spPr>
        <p:txBody>
          <a:bodyPr wrap="square" lIns="0" tIns="0" rIns="0" bIns="0" rtlCol="0" anchor="t"/>
          <a:lstStyle/>
          <a:p>
            <a:pPr marL="0" indent="0" algn="l">
              <a:lnSpc>
                <a:spcPts val="1395"/>
              </a:lnSpc>
              <a:buNone/>
            </a:pPr>
            <a:r>
              <a:rPr lang="en-US" sz="900" dirty="0">
                <a:solidFill>
                  <a:srgbClr val="A9B4CC"/>
                </a:solidFill>
                <a:latin typeface="Carlito" pitchFamily="34" charset="0"/>
                <a:ea typeface="Carlito" pitchFamily="34" charset="-122"/>
                <a:cs typeface="Carlito" pitchFamily="34" charset="-120"/>
              </a:rPr>
              <a:t>A closed-loop system that generates hypothetical futures, tests fixes in a digital twin, and deploys the verified fix autonomously.</a:t>
            </a:r>
            <a:endParaRPr lang="en-US" sz="900" dirty="0"/>
          </a:p>
        </p:txBody>
      </p:sp>
      <p:pic>
        <p:nvPicPr>
          <p:cNvPr id="8" name="Image 0" descr="preencoded.png"/>
          <p:cNvPicPr>
            <a:picLocks noChangeAspect="1"/>
          </p:cNvPicPr>
          <p:nvPr/>
        </p:nvPicPr>
        <p:blipFill>
          <a:blip r:embed="rId3"/>
          <a:stretch>
            <a:fillRect/>
          </a:stretch>
        </p:blipFill>
        <p:spPr>
          <a:xfrm>
            <a:off x="457200" y="1509452"/>
            <a:ext cx="2647876" cy="2619635"/>
          </a:xfrm>
          <a:prstGeom prst="rect">
            <a:avLst/>
          </a:prstGeom>
        </p:spPr>
      </p:pic>
      <p:sp>
        <p:nvSpPr>
          <p:cNvPr id="9" name="Text 6"/>
          <p:cNvSpPr/>
          <p:nvPr/>
        </p:nvSpPr>
        <p:spPr>
          <a:xfrm>
            <a:off x="460772" y="1513024"/>
            <a:ext cx="2640732" cy="2612492"/>
          </a:xfrm>
          <a:prstGeom prst="roundRect">
            <a:avLst>
              <a:gd name="adj" fmla="val 5104"/>
            </a:avLst>
          </a:prstGeom>
          <a:noFill/>
          <a:ln w="7144">
            <a:solidFill>
              <a:srgbClr val="00E5FF"/>
            </a:solidFill>
            <a:prstDash val="solid"/>
          </a:ln>
          <a:effectLst>
            <a:outerShdw blurRad="101600" dist="50800" dir="16200000" algn="bl" rotWithShape="0">
              <a:srgbClr val="00E5FF">
                <a:alpha val="18000"/>
              </a:srgbClr>
            </a:outerShdw>
          </a:effectLst>
        </p:spPr>
        <p:txBody>
          <a:bodyPr wrap="square" rtlCol="0" anchor="ctr"/>
          <a:lstStyle/>
          <a:p>
            <a:pPr marL="0" indent="0">
              <a:buNone/>
            </a:pPr>
            <a:endParaRPr lang="en-US" dirty="0"/>
          </a:p>
        </p:txBody>
      </p:sp>
      <p:sp>
        <p:nvSpPr>
          <p:cNvPr id="10" name="Text 7"/>
          <p:cNvSpPr/>
          <p:nvPr/>
        </p:nvSpPr>
        <p:spPr>
          <a:xfrm>
            <a:off x="621506" y="1673758"/>
            <a:ext cx="2319263" cy="147590"/>
          </a:xfrm>
          <a:prstGeom prst="rect">
            <a:avLst/>
          </a:prstGeom>
          <a:noFill/>
          <a:ln/>
        </p:spPr>
        <p:txBody>
          <a:bodyPr wrap="none" lIns="0" tIns="0" rIns="0" bIns="0" rtlCol="0" anchor="t">
            <a:normAutofit/>
          </a:bodyPr>
          <a:lstStyle/>
          <a:p>
            <a:pPr marL="0" indent="0" algn="l">
              <a:lnSpc>
                <a:spcPts val="928"/>
              </a:lnSpc>
              <a:buNone/>
            </a:pPr>
            <a:r>
              <a:rPr lang="en-US" sz="800" kern="0" spc="136" dirty="0">
                <a:solidFill>
                  <a:srgbClr val="6B7494"/>
                </a:solidFill>
                <a:latin typeface="Liberation Sans Narrow" pitchFamily="34" charset="0"/>
                <a:ea typeface="Liberation Sans Narrow" pitchFamily="34" charset="-122"/>
                <a:cs typeface="Liberation Sans Narrow" pitchFamily="34" charset="-120"/>
              </a:rPr>
              <a:t>STEP 01</a:t>
            </a:r>
            <a:endParaRPr lang="en-US" sz="800" dirty="0"/>
          </a:p>
        </p:txBody>
      </p:sp>
      <p:sp>
        <p:nvSpPr>
          <p:cNvPr id="11" name="Text 8"/>
          <p:cNvSpPr/>
          <p:nvPr/>
        </p:nvSpPr>
        <p:spPr>
          <a:xfrm>
            <a:off x="621506" y="1848780"/>
            <a:ext cx="342900" cy="342900"/>
          </a:xfrm>
          <a:prstGeom prst="roundRect">
            <a:avLst>
              <a:gd name="adj" fmla="val 33333"/>
            </a:avLst>
          </a:prstGeom>
          <a:solidFill>
            <a:srgbClr val="00E5FF">
              <a:alpha val="10000"/>
            </a:srgbClr>
          </a:solidFill>
          <a:ln/>
        </p:spPr>
        <p:txBody>
          <a:bodyPr wrap="square" rtlCol="0" anchor="ctr"/>
          <a:lstStyle/>
          <a:p>
            <a:pPr marL="0" indent="0">
              <a:buNone/>
            </a:pPr>
            <a:endParaRPr lang="en-US" dirty="0"/>
          </a:p>
        </p:txBody>
      </p:sp>
      <p:sp>
        <p:nvSpPr>
          <p:cNvPr id="12" name="Text 9"/>
          <p:cNvSpPr/>
          <p:nvPr/>
        </p:nvSpPr>
        <p:spPr>
          <a:xfrm>
            <a:off x="658297" y="1885570"/>
            <a:ext cx="269319" cy="269319"/>
          </a:xfrm>
          <a:prstGeom prst="rect">
            <a:avLst/>
          </a:prstGeom>
          <a:noFill/>
          <a:ln/>
        </p:spPr>
        <p:txBody>
          <a:bodyPr wrap="none" lIns="0" tIns="0" rIns="0" bIns="0" rtlCol="0" anchor="ctr"/>
          <a:lstStyle/>
          <a:p>
            <a:pPr marL="0" indent="0" algn="ctr">
              <a:buNone/>
            </a:pPr>
            <a:r>
              <a:rPr lang="en-US" sz="1828" dirty="0">
                <a:solidFill>
                  <a:srgbClr val="00E5FF"/>
                </a:solidFill>
                <a:latin typeface="Segoe UI Symbol" pitchFamily="34" charset="0"/>
                <a:ea typeface="Segoe UI Symbol" pitchFamily="34" charset="-122"/>
                <a:cs typeface="Segoe UI Symbol" pitchFamily="34" charset="-120"/>
              </a:rPr>
              <a:t>✦</a:t>
            </a:r>
            <a:endParaRPr lang="en-US" sz="1828" dirty="0"/>
          </a:p>
        </p:txBody>
      </p:sp>
      <p:sp>
        <p:nvSpPr>
          <p:cNvPr id="13" name="Text 10"/>
          <p:cNvSpPr/>
          <p:nvPr/>
        </p:nvSpPr>
        <p:spPr>
          <a:xfrm>
            <a:off x="621506" y="2305980"/>
            <a:ext cx="2319263" cy="194328"/>
          </a:xfrm>
          <a:prstGeom prst="rect">
            <a:avLst/>
          </a:prstGeom>
          <a:noFill/>
          <a:ln/>
        </p:spPr>
        <p:txBody>
          <a:bodyPr wrap="none" lIns="0" tIns="0" rIns="0" bIns="0" rtlCol="0" anchor="t"/>
          <a:lstStyle/>
          <a:p>
            <a:pPr marL="0" indent="0" algn="l">
              <a:lnSpc>
                <a:spcPts val="1418"/>
              </a:lnSpc>
              <a:buNone/>
            </a:pPr>
            <a:r>
              <a:rPr lang="en-US" sz="1181" kern="0" spc="-6" dirty="0">
                <a:solidFill>
                  <a:srgbClr val="E6F1FF"/>
                </a:solidFill>
                <a:latin typeface="Carlito" pitchFamily="34" charset="0"/>
                <a:ea typeface="Carlito" pitchFamily="34" charset="-122"/>
                <a:cs typeface="Carlito" pitchFamily="34" charset="-120"/>
              </a:rPr>
              <a:t>GenAI for "What-If" Data</a:t>
            </a:r>
            <a:endParaRPr lang="en-US" sz="1181" dirty="0"/>
          </a:p>
        </p:txBody>
      </p:sp>
      <p:sp>
        <p:nvSpPr>
          <p:cNvPr id="14" name="Text 11"/>
          <p:cNvSpPr/>
          <p:nvPr/>
        </p:nvSpPr>
        <p:spPr>
          <a:xfrm>
            <a:off x="621506" y="2557351"/>
            <a:ext cx="2319263" cy="509941"/>
          </a:xfrm>
          <a:prstGeom prst="rect">
            <a:avLst/>
          </a:prstGeom>
          <a:noFill/>
          <a:ln/>
        </p:spPr>
        <p:txBody>
          <a:bodyPr wrap="square" lIns="0" tIns="0" rIns="0" bIns="0" rtlCol="0" anchor="t"/>
          <a:lstStyle/>
          <a:p>
            <a:pPr marL="0" indent="0" algn="l">
              <a:lnSpc>
                <a:spcPts val="1221"/>
              </a:lnSpc>
              <a:buNone/>
            </a:pPr>
            <a:r>
              <a:rPr lang="en-US" sz="800" dirty="0">
                <a:solidFill>
                  <a:srgbClr val="A9B4CC"/>
                </a:solidFill>
                <a:latin typeface="Carlito" pitchFamily="34" charset="0"/>
                <a:ea typeface="Carlito" pitchFamily="34" charset="-122"/>
                <a:cs typeface="Carlito" pitchFamily="34" charset="-120"/>
              </a:rPr>
              <a:t>We use Generative AI (Time-Series Diffusion) to synthesize "Counterfactual Telemetry"—simulated future network data based on hypothetical changes.</a:t>
            </a:r>
            <a:endParaRPr lang="en-US" sz="800" dirty="0"/>
          </a:p>
        </p:txBody>
      </p:sp>
      <p:sp>
        <p:nvSpPr>
          <p:cNvPr id="15" name="Text 12"/>
          <p:cNvSpPr/>
          <p:nvPr/>
        </p:nvSpPr>
        <p:spPr>
          <a:xfrm>
            <a:off x="2004698" y="3564731"/>
            <a:ext cx="1243493" cy="385763"/>
          </a:xfrm>
          <a:prstGeom prst="rect">
            <a:avLst/>
          </a:prstGeom>
          <a:noFill/>
          <a:ln/>
        </p:spPr>
        <p:txBody>
          <a:bodyPr wrap="square" lIns="0" tIns="0" rIns="0" bIns="0" rtlCol="0" anchor="t"/>
          <a:lstStyle/>
          <a:p>
            <a:pPr marL="0" indent="0" algn="l">
              <a:lnSpc>
                <a:spcPts val="5400"/>
              </a:lnSpc>
              <a:buNone/>
            </a:pPr>
            <a:r>
              <a:rPr lang="en-US" sz="5400" b="1" dirty="0">
                <a:solidFill>
                  <a:srgbClr val="FFFFFF">
                    <a:alpha val="4000"/>
                  </a:srgbClr>
                </a:solidFill>
                <a:latin typeface="Liberation Sans Narrow" pitchFamily="34" charset="0"/>
                <a:ea typeface="Liberation Sans Narrow" pitchFamily="34" charset="-122"/>
                <a:cs typeface="Liberation Sans Narrow" pitchFamily="34" charset="-120"/>
              </a:rPr>
              <a:t>01</a:t>
            </a:r>
            <a:endParaRPr lang="en-US" sz="5400" dirty="0"/>
          </a:p>
        </p:txBody>
      </p:sp>
      <p:pic>
        <p:nvPicPr>
          <p:cNvPr id="16" name="Image 1" descr="preencoded.png"/>
          <p:cNvPicPr>
            <a:picLocks noChangeAspect="1"/>
          </p:cNvPicPr>
          <p:nvPr/>
        </p:nvPicPr>
        <p:blipFill>
          <a:blip r:embed="rId4"/>
          <a:stretch>
            <a:fillRect/>
          </a:stretch>
        </p:blipFill>
        <p:spPr>
          <a:xfrm>
            <a:off x="3247951" y="1509452"/>
            <a:ext cx="2647987" cy="2619635"/>
          </a:xfrm>
          <a:prstGeom prst="rect">
            <a:avLst/>
          </a:prstGeom>
        </p:spPr>
      </p:pic>
      <p:sp>
        <p:nvSpPr>
          <p:cNvPr id="17" name="Text 13"/>
          <p:cNvSpPr/>
          <p:nvPr/>
        </p:nvSpPr>
        <p:spPr>
          <a:xfrm>
            <a:off x="3405113" y="1666615"/>
            <a:ext cx="2333662" cy="147590"/>
          </a:xfrm>
          <a:prstGeom prst="rect">
            <a:avLst/>
          </a:prstGeom>
          <a:noFill/>
          <a:ln/>
        </p:spPr>
        <p:txBody>
          <a:bodyPr wrap="none" lIns="0" tIns="0" rIns="0" bIns="0" rtlCol="0" anchor="t">
            <a:normAutofit/>
          </a:bodyPr>
          <a:lstStyle/>
          <a:p>
            <a:pPr marL="0" indent="0" algn="l">
              <a:lnSpc>
                <a:spcPts val="928"/>
              </a:lnSpc>
              <a:buNone/>
            </a:pPr>
            <a:r>
              <a:rPr lang="en-US" sz="800" kern="0" spc="136" dirty="0">
                <a:solidFill>
                  <a:srgbClr val="6B7494"/>
                </a:solidFill>
                <a:latin typeface="Liberation Sans Narrow" pitchFamily="34" charset="0"/>
                <a:ea typeface="Liberation Sans Narrow" pitchFamily="34" charset="-122"/>
                <a:cs typeface="Liberation Sans Narrow" pitchFamily="34" charset="-120"/>
              </a:rPr>
              <a:t>STEP 02</a:t>
            </a:r>
            <a:endParaRPr lang="en-US" sz="800" dirty="0"/>
          </a:p>
        </p:txBody>
      </p:sp>
      <p:sp>
        <p:nvSpPr>
          <p:cNvPr id="18" name="Text 14"/>
          <p:cNvSpPr/>
          <p:nvPr/>
        </p:nvSpPr>
        <p:spPr>
          <a:xfrm>
            <a:off x="3405113" y="1841636"/>
            <a:ext cx="342900" cy="342900"/>
          </a:xfrm>
          <a:prstGeom prst="roundRect">
            <a:avLst>
              <a:gd name="adj" fmla="val 33333"/>
            </a:avLst>
          </a:prstGeom>
          <a:solidFill>
            <a:srgbClr val="7C4DFF">
              <a:alpha val="12000"/>
            </a:srgbClr>
          </a:solidFill>
          <a:ln/>
        </p:spPr>
        <p:txBody>
          <a:bodyPr wrap="square" rtlCol="0" anchor="ctr"/>
          <a:lstStyle/>
          <a:p>
            <a:pPr marL="0" indent="0">
              <a:buNone/>
            </a:pPr>
            <a:endParaRPr lang="en-US" dirty="0"/>
          </a:p>
        </p:txBody>
      </p:sp>
      <p:sp>
        <p:nvSpPr>
          <p:cNvPr id="19" name="Text 15"/>
          <p:cNvSpPr/>
          <p:nvPr/>
        </p:nvSpPr>
        <p:spPr>
          <a:xfrm>
            <a:off x="3441903" y="1878427"/>
            <a:ext cx="269319" cy="269319"/>
          </a:xfrm>
          <a:prstGeom prst="rect">
            <a:avLst/>
          </a:prstGeom>
          <a:noFill/>
          <a:ln/>
        </p:spPr>
        <p:txBody>
          <a:bodyPr wrap="none" lIns="0" tIns="0" rIns="0" bIns="0" rtlCol="0" anchor="ctr"/>
          <a:lstStyle/>
          <a:p>
            <a:pPr marL="0" indent="0" algn="ctr">
              <a:buNone/>
            </a:pPr>
            <a:r>
              <a:rPr lang="en-US" sz="1828" dirty="0">
                <a:solidFill>
                  <a:srgbClr val="7C4DFF"/>
                </a:solidFill>
                <a:latin typeface="Segoe UI Symbol" pitchFamily="34" charset="0"/>
                <a:ea typeface="Segoe UI Symbol" pitchFamily="34" charset="-122"/>
                <a:cs typeface="Segoe UI Symbol" pitchFamily="34" charset="-120"/>
              </a:rPr>
              <a:t>✦</a:t>
            </a:r>
            <a:endParaRPr lang="en-US" sz="1828" dirty="0"/>
          </a:p>
        </p:txBody>
      </p:sp>
      <p:sp>
        <p:nvSpPr>
          <p:cNvPr id="20" name="Text 16"/>
          <p:cNvSpPr/>
          <p:nvPr/>
        </p:nvSpPr>
        <p:spPr>
          <a:xfrm>
            <a:off x="3405113" y="2298836"/>
            <a:ext cx="2333662" cy="194328"/>
          </a:xfrm>
          <a:prstGeom prst="rect">
            <a:avLst/>
          </a:prstGeom>
          <a:noFill/>
          <a:ln/>
        </p:spPr>
        <p:txBody>
          <a:bodyPr wrap="none" lIns="0" tIns="0" rIns="0" bIns="0" rtlCol="0" anchor="t"/>
          <a:lstStyle/>
          <a:p>
            <a:pPr marL="0" indent="0" algn="l">
              <a:lnSpc>
                <a:spcPts val="1418"/>
              </a:lnSpc>
              <a:buNone/>
            </a:pPr>
            <a:r>
              <a:rPr lang="en-US" sz="1181" kern="0" spc="-6" dirty="0">
                <a:solidFill>
                  <a:srgbClr val="E6F1FF"/>
                </a:solidFill>
                <a:latin typeface="Carlito" pitchFamily="34" charset="0"/>
                <a:ea typeface="Carlito" pitchFamily="34" charset="-122"/>
                <a:cs typeface="Carlito" pitchFamily="34" charset="-120"/>
              </a:rPr>
              <a:t>Agentic Causal Loop</a:t>
            </a:r>
            <a:endParaRPr lang="en-US" sz="1181" dirty="0"/>
          </a:p>
        </p:txBody>
      </p:sp>
      <p:sp>
        <p:nvSpPr>
          <p:cNvPr id="21" name="Text 17"/>
          <p:cNvSpPr/>
          <p:nvPr/>
        </p:nvSpPr>
        <p:spPr>
          <a:xfrm>
            <a:off x="3405113" y="2550207"/>
            <a:ext cx="2333662" cy="339961"/>
          </a:xfrm>
          <a:prstGeom prst="rect">
            <a:avLst/>
          </a:prstGeom>
          <a:noFill/>
          <a:ln/>
        </p:spPr>
        <p:txBody>
          <a:bodyPr wrap="square" lIns="0" tIns="0" rIns="0" bIns="0" rtlCol="0" anchor="t"/>
          <a:lstStyle/>
          <a:p>
            <a:pPr marL="0" indent="0" algn="l">
              <a:lnSpc>
                <a:spcPts val="1221"/>
              </a:lnSpc>
              <a:buNone/>
            </a:pPr>
            <a:r>
              <a:rPr lang="en-US" sz="800" dirty="0">
                <a:solidFill>
                  <a:srgbClr val="A9B4CC"/>
                </a:solidFill>
                <a:latin typeface="Carlito" pitchFamily="34" charset="0"/>
                <a:ea typeface="Carlito" pitchFamily="34" charset="-122"/>
                <a:cs typeface="Carlito" pitchFamily="34" charset="-120"/>
              </a:rPr>
              <a:t>Multi-Agent AI analyzes this synthetic data to pinpoint exact root causes and test fixes.</a:t>
            </a:r>
            <a:endParaRPr lang="en-US" sz="800" dirty="0"/>
          </a:p>
        </p:txBody>
      </p:sp>
      <p:sp>
        <p:nvSpPr>
          <p:cNvPr id="22" name="Text 18"/>
          <p:cNvSpPr/>
          <p:nvPr/>
        </p:nvSpPr>
        <p:spPr>
          <a:xfrm>
            <a:off x="4802704" y="3571875"/>
            <a:ext cx="1243493" cy="385763"/>
          </a:xfrm>
          <a:prstGeom prst="rect">
            <a:avLst/>
          </a:prstGeom>
          <a:noFill/>
          <a:ln/>
        </p:spPr>
        <p:txBody>
          <a:bodyPr wrap="square" lIns="0" tIns="0" rIns="0" bIns="0" rtlCol="0" anchor="t"/>
          <a:lstStyle/>
          <a:p>
            <a:pPr marL="0" indent="0" algn="l">
              <a:lnSpc>
                <a:spcPts val="5400"/>
              </a:lnSpc>
              <a:buNone/>
            </a:pPr>
            <a:r>
              <a:rPr lang="en-US" sz="5400" b="1" dirty="0">
                <a:solidFill>
                  <a:srgbClr val="FFFFFF">
                    <a:alpha val="4000"/>
                  </a:srgbClr>
                </a:solidFill>
                <a:latin typeface="Liberation Sans Narrow" pitchFamily="34" charset="0"/>
                <a:ea typeface="Liberation Sans Narrow" pitchFamily="34" charset="-122"/>
                <a:cs typeface="Liberation Sans Narrow" pitchFamily="34" charset="-120"/>
              </a:rPr>
              <a:t>02</a:t>
            </a:r>
            <a:endParaRPr lang="en-US" sz="5400" dirty="0"/>
          </a:p>
        </p:txBody>
      </p:sp>
      <p:pic>
        <p:nvPicPr>
          <p:cNvPr id="23" name="Image 2" descr="preencoded.png"/>
          <p:cNvPicPr>
            <a:picLocks noChangeAspect="1"/>
          </p:cNvPicPr>
          <p:nvPr/>
        </p:nvPicPr>
        <p:blipFill>
          <a:blip r:embed="rId3"/>
          <a:stretch>
            <a:fillRect/>
          </a:stretch>
        </p:blipFill>
        <p:spPr>
          <a:xfrm>
            <a:off x="6038813" y="1509452"/>
            <a:ext cx="2647876" cy="2619635"/>
          </a:xfrm>
          <a:prstGeom prst="rect">
            <a:avLst/>
          </a:prstGeom>
        </p:spPr>
      </p:pic>
      <p:sp>
        <p:nvSpPr>
          <p:cNvPr id="24" name="Text 19"/>
          <p:cNvSpPr/>
          <p:nvPr/>
        </p:nvSpPr>
        <p:spPr>
          <a:xfrm>
            <a:off x="6042385" y="1513024"/>
            <a:ext cx="2640732" cy="2612492"/>
          </a:xfrm>
          <a:prstGeom prst="roundRect">
            <a:avLst>
              <a:gd name="adj" fmla="val 5104"/>
            </a:avLst>
          </a:prstGeom>
          <a:noFill/>
          <a:ln w="7144">
            <a:solidFill>
              <a:srgbClr val="00E5FF"/>
            </a:solidFill>
            <a:prstDash val="solid"/>
          </a:ln>
          <a:effectLst>
            <a:outerShdw blurRad="101600" dist="50800" dir="16200000" algn="bl" rotWithShape="0">
              <a:srgbClr val="00E5FF">
                <a:alpha val="18000"/>
              </a:srgbClr>
            </a:outerShdw>
          </a:effectLst>
        </p:spPr>
        <p:txBody>
          <a:bodyPr wrap="square" rtlCol="0" anchor="ctr"/>
          <a:lstStyle/>
          <a:p>
            <a:pPr marL="0" indent="0">
              <a:buNone/>
            </a:pPr>
            <a:endParaRPr lang="en-US" dirty="0"/>
          </a:p>
        </p:txBody>
      </p:sp>
      <p:sp>
        <p:nvSpPr>
          <p:cNvPr id="25" name="Text 20"/>
          <p:cNvSpPr/>
          <p:nvPr/>
        </p:nvSpPr>
        <p:spPr>
          <a:xfrm>
            <a:off x="6203119" y="1673758"/>
            <a:ext cx="2319263" cy="147590"/>
          </a:xfrm>
          <a:prstGeom prst="rect">
            <a:avLst/>
          </a:prstGeom>
          <a:noFill/>
          <a:ln/>
        </p:spPr>
        <p:txBody>
          <a:bodyPr wrap="none" lIns="0" tIns="0" rIns="0" bIns="0" rtlCol="0" anchor="t">
            <a:normAutofit/>
          </a:bodyPr>
          <a:lstStyle/>
          <a:p>
            <a:pPr marL="0" indent="0" algn="l">
              <a:lnSpc>
                <a:spcPts val="928"/>
              </a:lnSpc>
              <a:buNone/>
            </a:pPr>
            <a:r>
              <a:rPr lang="en-US" sz="800" kern="0" spc="136" dirty="0">
                <a:solidFill>
                  <a:srgbClr val="6B7494"/>
                </a:solidFill>
                <a:latin typeface="Liberation Sans Narrow" pitchFamily="34" charset="0"/>
                <a:ea typeface="Liberation Sans Narrow" pitchFamily="34" charset="-122"/>
                <a:cs typeface="Liberation Sans Narrow" pitchFamily="34" charset="-120"/>
              </a:rPr>
              <a:t>STEP 03</a:t>
            </a:r>
            <a:endParaRPr lang="en-US" sz="800" dirty="0"/>
          </a:p>
        </p:txBody>
      </p:sp>
      <p:sp>
        <p:nvSpPr>
          <p:cNvPr id="26" name="Text 21"/>
          <p:cNvSpPr/>
          <p:nvPr/>
        </p:nvSpPr>
        <p:spPr>
          <a:xfrm>
            <a:off x="6203119" y="1848780"/>
            <a:ext cx="342900" cy="342900"/>
          </a:xfrm>
          <a:prstGeom prst="roundRect">
            <a:avLst>
              <a:gd name="adj" fmla="val 33333"/>
            </a:avLst>
          </a:prstGeom>
          <a:solidFill>
            <a:srgbClr val="00E5FF">
              <a:alpha val="10000"/>
            </a:srgbClr>
          </a:solidFill>
          <a:ln/>
        </p:spPr>
        <p:txBody>
          <a:bodyPr wrap="square" rtlCol="0" anchor="ctr"/>
          <a:lstStyle/>
          <a:p>
            <a:pPr marL="0" indent="0">
              <a:buNone/>
            </a:pPr>
            <a:endParaRPr lang="en-US" dirty="0"/>
          </a:p>
        </p:txBody>
      </p:sp>
      <p:sp>
        <p:nvSpPr>
          <p:cNvPr id="27" name="Text 22"/>
          <p:cNvSpPr/>
          <p:nvPr/>
        </p:nvSpPr>
        <p:spPr>
          <a:xfrm>
            <a:off x="6239909" y="1885570"/>
            <a:ext cx="269319" cy="269319"/>
          </a:xfrm>
          <a:prstGeom prst="rect">
            <a:avLst/>
          </a:prstGeom>
          <a:noFill/>
          <a:ln/>
        </p:spPr>
        <p:txBody>
          <a:bodyPr wrap="none" lIns="0" tIns="0" rIns="0" bIns="0" rtlCol="0" anchor="ctr"/>
          <a:lstStyle/>
          <a:p>
            <a:pPr marL="0" indent="0" algn="ctr">
              <a:buNone/>
            </a:pPr>
            <a:r>
              <a:rPr lang="en-US" sz="1828" dirty="0">
                <a:solidFill>
                  <a:srgbClr val="00E5FF"/>
                </a:solidFill>
                <a:latin typeface="Segoe UI Symbol" pitchFamily="34" charset="0"/>
                <a:ea typeface="Segoe UI Symbol" pitchFamily="34" charset="-122"/>
                <a:cs typeface="Segoe UI Symbol" pitchFamily="34" charset="-120"/>
              </a:rPr>
              <a:t>➤</a:t>
            </a:r>
            <a:endParaRPr lang="en-US" sz="1828" dirty="0"/>
          </a:p>
        </p:txBody>
      </p:sp>
      <p:sp>
        <p:nvSpPr>
          <p:cNvPr id="28" name="Text 23"/>
          <p:cNvSpPr/>
          <p:nvPr/>
        </p:nvSpPr>
        <p:spPr>
          <a:xfrm>
            <a:off x="6203119" y="2305980"/>
            <a:ext cx="2319263" cy="194328"/>
          </a:xfrm>
          <a:prstGeom prst="rect">
            <a:avLst/>
          </a:prstGeom>
          <a:noFill/>
          <a:ln/>
        </p:spPr>
        <p:txBody>
          <a:bodyPr wrap="none" lIns="0" tIns="0" rIns="0" bIns="0" rtlCol="0" anchor="t"/>
          <a:lstStyle/>
          <a:p>
            <a:pPr marL="0" indent="0" algn="l">
              <a:lnSpc>
                <a:spcPts val="1418"/>
              </a:lnSpc>
              <a:buNone/>
            </a:pPr>
            <a:r>
              <a:rPr lang="en-US" sz="1181" kern="0" spc="-6" dirty="0">
                <a:solidFill>
                  <a:srgbClr val="E6F1FF"/>
                </a:solidFill>
                <a:latin typeface="Carlito" pitchFamily="34" charset="0"/>
                <a:ea typeface="Carlito" pitchFamily="34" charset="-122"/>
                <a:cs typeface="Carlito" pitchFamily="34" charset="-120"/>
              </a:rPr>
              <a:t>Autonomous Remediation</a:t>
            </a:r>
            <a:endParaRPr lang="en-US" sz="1181" dirty="0"/>
          </a:p>
        </p:txBody>
      </p:sp>
      <p:sp>
        <p:nvSpPr>
          <p:cNvPr id="29" name="Text 24"/>
          <p:cNvSpPr/>
          <p:nvPr/>
        </p:nvSpPr>
        <p:spPr>
          <a:xfrm>
            <a:off x="6203119" y="2557351"/>
            <a:ext cx="2319263" cy="339961"/>
          </a:xfrm>
          <a:prstGeom prst="rect">
            <a:avLst/>
          </a:prstGeom>
          <a:noFill/>
          <a:ln/>
        </p:spPr>
        <p:txBody>
          <a:bodyPr wrap="square" lIns="0" tIns="0" rIns="0" bIns="0" rtlCol="0" anchor="t"/>
          <a:lstStyle/>
          <a:p>
            <a:pPr marL="0" indent="0" algn="l">
              <a:lnSpc>
                <a:spcPts val="1221"/>
              </a:lnSpc>
              <a:buNone/>
            </a:pPr>
            <a:r>
              <a:rPr lang="en-US" sz="800" dirty="0">
                <a:solidFill>
                  <a:srgbClr val="A9B4CC"/>
                </a:solidFill>
                <a:latin typeface="Carlito" pitchFamily="34" charset="0"/>
                <a:ea typeface="Carlito" pitchFamily="34" charset="-122"/>
                <a:cs typeface="Carlito" pitchFamily="34" charset="-120"/>
              </a:rPr>
              <a:t>The system verifies the fix in a digital twin sandbox, then autonomously deploys it to the live network.</a:t>
            </a:r>
            <a:endParaRPr lang="en-US" sz="800" dirty="0"/>
          </a:p>
        </p:txBody>
      </p:sp>
      <p:sp>
        <p:nvSpPr>
          <p:cNvPr id="30" name="Text 25"/>
          <p:cNvSpPr/>
          <p:nvPr/>
        </p:nvSpPr>
        <p:spPr>
          <a:xfrm>
            <a:off x="7586311" y="3564731"/>
            <a:ext cx="1243493" cy="385763"/>
          </a:xfrm>
          <a:prstGeom prst="rect">
            <a:avLst/>
          </a:prstGeom>
          <a:noFill/>
          <a:ln/>
        </p:spPr>
        <p:txBody>
          <a:bodyPr wrap="square" lIns="0" tIns="0" rIns="0" bIns="0" rtlCol="0" anchor="t"/>
          <a:lstStyle/>
          <a:p>
            <a:pPr marL="0" indent="0" algn="l">
              <a:lnSpc>
                <a:spcPts val="5400"/>
              </a:lnSpc>
              <a:buNone/>
            </a:pPr>
            <a:r>
              <a:rPr lang="en-US" sz="5400" b="1" dirty="0">
                <a:solidFill>
                  <a:srgbClr val="FFFFFF">
                    <a:alpha val="4000"/>
                  </a:srgbClr>
                </a:solidFill>
                <a:latin typeface="Liberation Sans Narrow" pitchFamily="34" charset="0"/>
                <a:ea typeface="Liberation Sans Narrow" pitchFamily="34" charset="-122"/>
                <a:cs typeface="Liberation Sans Narrow" pitchFamily="34" charset="-120"/>
              </a:rPr>
              <a:t>03</a:t>
            </a:r>
            <a:endParaRPr lang="en-US" sz="5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457200" y="1954932"/>
            <a:ext cx="1800225" cy="0"/>
          </a:xfrm>
          <a:prstGeom prst="line">
            <a:avLst/>
          </a:prstGeom>
          <a:noFill/>
          <a:ln w="21431">
            <a:solidFill>
              <a:srgbClr val="FFFFFF"/>
            </a:solidFill>
            <a:prstDash val="solid"/>
          </a:ln>
        </p:spPr>
      </p:sp>
      <p:sp>
        <p:nvSpPr>
          <p:cNvPr id="3" name="Shape 1"/>
          <p:cNvSpPr/>
          <p:nvPr/>
        </p:nvSpPr>
        <p:spPr>
          <a:xfrm>
            <a:off x="2253853" y="1944216"/>
            <a:ext cx="0" cy="2017998"/>
          </a:xfrm>
          <a:prstGeom prst="line">
            <a:avLst/>
          </a:prstGeom>
          <a:noFill/>
          <a:ln w="7144">
            <a:solidFill>
              <a:srgbClr val="FFFFFF"/>
            </a:solidFill>
            <a:prstDash val="solid"/>
          </a:ln>
        </p:spPr>
      </p:sp>
      <p:sp>
        <p:nvSpPr>
          <p:cNvPr id="4" name="Shape 2"/>
          <p:cNvSpPr/>
          <p:nvPr/>
        </p:nvSpPr>
        <p:spPr>
          <a:xfrm>
            <a:off x="457200" y="3958642"/>
            <a:ext cx="1800225" cy="0"/>
          </a:xfrm>
          <a:prstGeom prst="line">
            <a:avLst/>
          </a:prstGeom>
          <a:noFill/>
          <a:ln w="7144">
            <a:solidFill>
              <a:srgbClr val="FFFFFF"/>
            </a:solidFill>
            <a:prstDash val="solid"/>
          </a:ln>
        </p:spPr>
      </p:sp>
      <p:sp>
        <p:nvSpPr>
          <p:cNvPr id="5" name="Shape 3"/>
          <p:cNvSpPr/>
          <p:nvPr/>
        </p:nvSpPr>
        <p:spPr>
          <a:xfrm>
            <a:off x="460772" y="1944216"/>
            <a:ext cx="0" cy="2017998"/>
          </a:xfrm>
          <a:prstGeom prst="line">
            <a:avLst/>
          </a:prstGeom>
          <a:noFill/>
          <a:ln w="7144">
            <a:solidFill>
              <a:srgbClr val="FFFFFF"/>
            </a:solidFill>
            <a:prstDash val="solid"/>
          </a:ln>
        </p:spPr>
      </p:sp>
      <p:sp>
        <p:nvSpPr>
          <p:cNvPr id="6" name="Shape 4"/>
          <p:cNvSpPr/>
          <p:nvPr/>
        </p:nvSpPr>
        <p:spPr>
          <a:xfrm>
            <a:off x="2600325" y="1954932"/>
            <a:ext cx="1800225" cy="0"/>
          </a:xfrm>
          <a:prstGeom prst="line">
            <a:avLst/>
          </a:prstGeom>
          <a:noFill/>
          <a:ln w="21431">
            <a:solidFill>
              <a:srgbClr val="FFFFFF"/>
            </a:solidFill>
            <a:prstDash val="solid"/>
          </a:ln>
        </p:spPr>
      </p:sp>
      <p:sp>
        <p:nvSpPr>
          <p:cNvPr id="7" name="Shape 5"/>
          <p:cNvSpPr/>
          <p:nvPr/>
        </p:nvSpPr>
        <p:spPr>
          <a:xfrm>
            <a:off x="4396978" y="1944216"/>
            <a:ext cx="0" cy="2017998"/>
          </a:xfrm>
          <a:prstGeom prst="line">
            <a:avLst/>
          </a:prstGeom>
          <a:noFill/>
          <a:ln w="7144">
            <a:solidFill>
              <a:srgbClr val="FFFFFF"/>
            </a:solidFill>
            <a:prstDash val="solid"/>
          </a:ln>
        </p:spPr>
      </p:sp>
      <p:sp>
        <p:nvSpPr>
          <p:cNvPr id="8" name="Shape 6"/>
          <p:cNvSpPr/>
          <p:nvPr/>
        </p:nvSpPr>
        <p:spPr>
          <a:xfrm>
            <a:off x="2600325" y="3958642"/>
            <a:ext cx="1800225" cy="0"/>
          </a:xfrm>
          <a:prstGeom prst="line">
            <a:avLst/>
          </a:prstGeom>
          <a:noFill/>
          <a:ln w="7144">
            <a:solidFill>
              <a:srgbClr val="FFFFFF"/>
            </a:solidFill>
            <a:prstDash val="solid"/>
          </a:ln>
        </p:spPr>
      </p:sp>
      <p:sp>
        <p:nvSpPr>
          <p:cNvPr id="9" name="Shape 7"/>
          <p:cNvSpPr/>
          <p:nvPr/>
        </p:nvSpPr>
        <p:spPr>
          <a:xfrm>
            <a:off x="2603897" y="1944216"/>
            <a:ext cx="0" cy="2017998"/>
          </a:xfrm>
          <a:prstGeom prst="line">
            <a:avLst/>
          </a:prstGeom>
          <a:noFill/>
          <a:ln w="7144">
            <a:solidFill>
              <a:srgbClr val="FFFFFF"/>
            </a:solidFill>
            <a:prstDash val="solid"/>
          </a:ln>
        </p:spPr>
      </p:sp>
      <p:sp>
        <p:nvSpPr>
          <p:cNvPr id="10" name="Shape 8"/>
          <p:cNvSpPr/>
          <p:nvPr/>
        </p:nvSpPr>
        <p:spPr>
          <a:xfrm>
            <a:off x="4743450" y="1954932"/>
            <a:ext cx="1800225" cy="0"/>
          </a:xfrm>
          <a:prstGeom prst="line">
            <a:avLst/>
          </a:prstGeom>
          <a:noFill/>
          <a:ln w="21431">
            <a:solidFill>
              <a:srgbClr val="FFFFFF"/>
            </a:solidFill>
            <a:prstDash val="solid"/>
          </a:ln>
        </p:spPr>
      </p:sp>
      <p:sp>
        <p:nvSpPr>
          <p:cNvPr id="11" name="Shape 9"/>
          <p:cNvSpPr/>
          <p:nvPr/>
        </p:nvSpPr>
        <p:spPr>
          <a:xfrm>
            <a:off x="6540103" y="1944216"/>
            <a:ext cx="0" cy="2017998"/>
          </a:xfrm>
          <a:prstGeom prst="line">
            <a:avLst/>
          </a:prstGeom>
          <a:noFill/>
          <a:ln w="7144">
            <a:solidFill>
              <a:srgbClr val="FFFFFF"/>
            </a:solidFill>
            <a:prstDash val="solid"/>
          </a:ln>
        </p:spPr>
      </p:sp>
      <p:sp>
        <p:nvSpPr>
          <p:cNvPr id="12" name="Shape 10"/>
          <p:cNvSpPr/>
          <p:nvPr/>
        </p:nvSpPr>
        <p:spPr>
          <a:xfrm>
            <a:off x="4743450" y="3958642"/>
            <a:ext cx="1800225" cy="0"/>
          </a:xfrm>
          <a:prstGeom prst="line">
            <a:avLst/>
          </a:prstGeom>
          <a:noFill/>
          <a:ln w="7144">
            <a:solidFill>
              <a:srgbClr val="FFFFFF"/>
            </a:solidFill>
            <a:prstDash val="solid"/>
          </a:ln>
        </p:spPr>
      </p:sp>
      <p:sp>
        <p:nvSpPr>
          <p:cNvPr id="13" name="Shape 11"/>
          <p:cNvSpPr/>
          <p:nvPr/>
        </p:nvSpPr>
        <p:spPr>
          <a:xfrm>
            <a:off x="4747022" y="1944216"/>
            <a:ext cx="0" cy="2017998"/>
          </a:xfrm>
          <a:prstGeom prst="line">
            <a:avLst/>
          </a:prstGeom>
          <a:noFill/>
          <a:ln w="7144">
            <a:solidFill>
              <a:srgbClr val="FFFFFF"/>
            </a:solidFill>
            <a:prstDash val="solid"/>
          </a:ln>
        </p:spPr>
      </p:sp>
      <p:sp>
        <p:nvSpPr>
          <p:cNvPr id="14" name="Shape 12"/>
          <p:cNvSpPr/>
          <p:nvPr/>
        </p:nvSpPr>
        <p:spPr>
          <a:xfrm>
            <a:off x="6886575" y="1954932"/>
            <a:ext cx="1800225" cy="0"/>
          </a:xfrm>
          <a:prstGeom prst="line">
            <a:avLst/>
          </a:prstGeom>
          <a:noFill/>
          <a:ln w="21431">
            <a:solidFill>
              <a:srgbClr val="FFFFFF"/>
            </a:solidFill>
            <a:prstDash val="solid"/>
          </a:ln>
        </p:spPr>
      </p:sp>
      <p:sp>
        <p:nvSpPr>
          <p:cNvPr id="15" name="Shape 13"/>
          <p:cNvSpPr/>
          <p:nvPr/>
        </p:nvSpPr>
        <p:spPr>
          <a:xfrm>
            <a:off x="8683228" y="1944216"/>
            <a:ext cx="0" cy="2017998"/>
          </a:xfrm>
          <a:prstGeom prst="line">
            <a:avLst/>
          </a:prstGeom>
          <a:noFill/>
          <a:ln w="7144">
            <a:solidFill>
              <a:srgbClr val="FFFFFF"/>
            </a:solidFill>
            <a:prstDash val="solid"/>
          </a:ln>
        </p:spPr>
      </p:sp>
      <p:sp>
        <p:nvSpPr>
          <p:cNvPr id="16" name="Shape 14"/>
          <p:cNvSpPr/>
          <p:nvPr/>
        </p:nvSpPr>
        <p:spPr>
          <a:xfrm>
            <a:off x="6886575" y="3958642"/>
            <a:ext cx="1800225" cy="0"/>
          </a:xfrm>
          <a:prstGeom prst="line">
            <a:avLst/>
          </a:prstGeom>
          <a:noFill/>
          <a:ln w="7144">
            <a:solidFill>
              <a:srgbClr val="FFFFFF"/>
            </a:solidFill>
            <a:prstDash val="solid"/>
          </a:ln>
        </p:spPr>
      </p:sp>
      <p:sp>
        <p:nvSpPr>
          <p:cNvPr id="17" name="Shape 15"/>
          <p:cNvSpPr/>
          <p:nvPr/>
        </p:nvSpPr>
        <p:spPr>
          <a:xfrm>
            <a:off x="6890147" y="1944216"/>
            <a:ext cx="0" cy="2017998"/>
          </a:xfrm>
          <a:prstGeom prst="line">
            <a:avLst/>
          </a:prstGeom>
          <a:noFill/>
          <a:ln w="7144">
            <a:solidFill>
              <a:srgbClr val="FFFFFF"/>
            </a:solidFill>
            <a:prstDash val="solid"/>
          </a:ln>
        </p:spPr>
      </p:sp>
      <p:sp>
        <p:nvSpPr>
          <p:cNvPr id="18" name="Text 16"/>
          <p:cNvSpPr/>
          <p:nvPr/>
        </p:nvSpPr>
        <p:spPr>
          <a:xfrm>
            <a:off x="434340" y="388691"/>
            <a:ext cx="951860" cy="212027"/>
          </a:xfrm>
          <a:prstGeom prst="roundRect">
            <a:avLst>
              <a:gd name="adj" fmla="val 4487860"/>
            </a:avLst>
          </a:prstGeom>
          <a:solidFill>
            <a:srgbClr val="00E5FF">
              <a:alpha val="6000"/>
            </a:srgbClr>
          </a:solidFill>
          <a:ln w="7144">
            <a:solidFill>
              <a:srgbClr val="00E5FF"/>
            </a:solidFill>
            <a:prstDash val="solid"/>
          </a:ln>
        </p:spPr>
        <p:txBody>
          <a:bodyPr wrap="square" rtlCol="0" anchor="ctr"/>
          <a:lstStyle/>
          <a:p>
            <a:pPr marL="0" indent="0">
              <a:buNone/>
            </a:pPr>
            <a:endParaRPr lang="en-US" dirty="0"/>
          </a:p>
        </p:txBody>
      </p:sp>
      <p:sp>
        <p:nvSpPr>
          <p:cNvPr id="19" name="Text 17"/>
          <p:cNvSpPr/>
          <p:nvPr/>
        </p:nvSpPr>
        <p:spPr>
          <a:xfrm>
            <a:off x="685800" y="442913"/>
            <a:ext cx="7071978" cy="139654"/>
          </a:xfrm>
          <a:prstGeom prst="rect">
            <a:avLst/>
          </a:prstGeom>
          <a:noFill/>
          <a:ln/>
        </p:spPr>
        <p:txBody>
          <a:bodyPr wrap="none" lIns="0" tIns="0" rIns="0" bIns="0" rtlCol="0" anchor="t"/>
          <a:lstStyle/>
          <a:p>
            <a:pPr marL="0" indent="0" algn="l">
              <a:lnSpc>
                <a:spcPts val="928"/>
              </a:lnSpc>
              <a:buNone/>
            </a:pPr>
            <a:r>
              <a:rPr lang="en-US" sz="800" kern="0" spc="74" dirty="0">
                <a:solidFill>
                  <a:srgbClr val="00E5FF"/>
                </a:solidFill>
                <a:latin typeface="Courier New" pitchFamily="34" charset="0"/>
                <a:ea typeface="Courier New" pitchFamily="34" charset="-122"/>
                <a:cs typeface="Courier New" pitchFamily="34" charset="-120"/>
              </a:rPr>
              <a:t>HOW IT WORKS</a:t>
            </a:r>
            <a:endParaRPr lang="en-US" sz="800" dirty="0"/>
          </a:p>
        </p:txBody>
      </p:sp>
      <p:sp>
        <p:nvSpPr>
          <p:cNvPr id="20" name="Text 18"/>
          <p:cNvSpPr/>
          <p:nvPr/>
        </p:nvSpPr>
        <p:spPr>
          <a:xfrm>
            <a:off x="550069" y="448270"/>
            <a:ext cx="92869" cy="92869"/>
          </a:xfrm>
          <a:prstGeom prst="rect">
            <a:avLst/>
          </a:prstGeom>
          <a:noFill/>
          <a:ln/>
        </p:spPr>
        <p:txBody>
          <a:bodyPr wrap="none" lIns="0" tIns="0" rIns="0" bIns="0" rtlCol="0" anchor="ctr"/>
          <a:lstStyle/>
          <a:p>
            <a:pPr marL="0" indent="0" algn="ctr">
              <a:buNone/>
            </a:pPr>
            <a:r>
              <a:rPr lang="en-US" sz="914" dirty="0">
                <a:solidFill>
                  <a:srgbClr val="00E5FF"/>
                </a:solidFill>
                <a:latin typeface="Segoe UI Symbol" pitchFamily="34" charset="0"/>
                <a:ea typeface="Segoe UI Symbol" pitchFamily="34" charset="-122"/>
                <a:cs typeface="Segoe UI Symbol" pitchFamily="34" charset="-120"/>
              </a:rPr>
              <a:t>⌇</a:t>
            </a:r>
            <a:endParaRPr lang="en-US" sz="914" dirty="0"/>
          </a:p>
        </p:txBody>
      </p:sp>
      <p:sp>
        <p:nvSpPr>
          <p:cNvPr id="21" name="Text 19"/>
          <p:cNvSpPr/>
          <p:nvPr/>
        </p:nvSpPr>
        <p:spPr>
          <a:xfrm>
            <a:off x="7772065" y="435769"/>
            <a:ext cx="1213567" cy="164592"/>
          </a:xfrm>
          <a:prstGeom prst="rect">
            <a:avLst/>
          </a:prstGeom>
          <a:noFill/>
          <a:ln/>
        </p:spPr>
        <p:txBody>
          <a:bodyPr wrap="none" lIns="0" tIns="0" rIns="0" bIns="0" rtlCol="0" anchor="t"/>
          <a:lstStyle/>
          <a:p>
            <a:pPr marL="0" indent="0" algn="l">
              <a:lnSpc>
                <a:spcPts val="928"/>
              </a:lnSpc>
              <a:buNone/>
            </a:pPr>
            <a:r>
              <a:rPr lang="en-US" sz="800" kern="0" spc="124" dirty="0">
                <a:solidFill>
                  <a:srgbClr val="6B7494"/>
                </a:solidFill>
                <a:latin typeface="Liberation Sans Narrow" pitchFamily="34" charset="0"/>
                <a:ea typeface="Liberation Sans Narrow" pitchFamily="34" charset="-122"/>
                <a:cs typeface="Liberation Sans Narrow" pitchFamily="34" charset="-120"/>
              </a:rPr>
              <a:t>CTG-CPM · 04 / 10</a:t>
            </a:r>
            <a:endParaRPr lang="en-US" sz="800" dirty="0"/>
          </a:p>
        </p:txBody>
      </p:sp>
      <p:sp>
        <p:nvSpPr>
          <p:cNvPr id="22" name="Text 20"/>
          <p:cNvSpPr/>
          <p:nvPr/>
        </p:nvSpPr>
        <p:spPr>
          <a:xfrm>
            <a:off x="457200" y="732234"/>
            <a:ext cx="8636000" cy="339471"/>
          </a:xfrm>
          <a:prstGeom prst="rect">
            <a:avLst/>
          </a:prstGeom>
          <a:noFill/>
          <a:ln/>
        </p:spPr>
        <p:txBody>
          <a:bodyPr wrap="square" lIns="0" tIns="0" rIns="0" bIns="0" rtlCol="0" anchor="t"/>
          <a:lstStyle/>
          <a:p>
            <a:pPr marL="0" indent="0" algn="l">
              <a:lnSpc>
                <a:spcPts val="2475"/>
              </a:lnSpc>
              <a:buNone/>
            </a:pPr>
            <a:r>
              <a:rPr lang="en-US" sz="2250" b="1" kern="0" spc="-23" dirty="0">
                <a:solidFill>
                  <a:srgbClr val="E6F1FF"/>
                </a:solidFill>
                <a:latin typeface="Liberation Sans Narrow" pitchFamily="34" charset="0"/>
                <a:ea typeface="Liberation Sans Narrow" pitchFamily="34" charset="-122"/>
                <a:cs typeface="Liberation Sans Narrow" pitchFamily="34" charset="-120"/>
              </a:rPr>
              <a:t>The 4-Step </a:t>
            </a:r>
            <a:r>
              <a:rPr lang="en-US" sz="2250" b="1" kern="0" spc="-23" dirty="0">
                <a:solidFill>
                  <a:srgbClr val="00E5FF"/>
                </a:solidFill>
                <a:latin typeface="Carlito" pitchFamily="34" charset="0"/>
                <a:ea typeface="Carlito" pitchFamily="34" charset="-122"/>
                <a:cs typeface="Carlito" pitchFamily="34" charset="-120"/>
              </a:rPr>
              <a:t>Patentable Pipeline</a:t>
            </a:r>
            <a:endParaRPr lang="en-US" sz="2250" dirty="0"/>
          </a:p>
        </p:txBody>
      </p:sp>
      <p:sp>
        <p:nvSpPr>
          <p:cNvPr id="23" name="Text 21"/>
          <p:cNvSpPr/>
          <p:nvPr/>
        </p:nvSpPr>
        <p:spPr>
          <a:xfrm>
            <a:off x="457200" y="1132284"/>
            <a:ext cx="6286500" cy="191314"/>
          </a:xfrm>
          <a:prstGeom prst="rect">
            <a:avLst/>
          </a:prstGeom>
          <a:noFill/>
          <a:ln/>
        </p:spPr>
        <p:txBody>
          <a:bodyPr wrap="square" lIns="0" tIns="0" rIns="0" bIns="0" rtlCol="0" anchor="t"/>
          <a:lstStyle/>
          <a:p>
            <a:pPr marL="0" indent="0" algn="l">
              <a:lnSpc>
                <a:spcPts val="1395"/>
              </a:lnSpc>
              <a:buNone/>
            </a:pPr>
            <a:r>
              <a:rPr lang="en-US" sz="900" dirty="0">
                <a:solidFill>
                  <a:srgbClr val="A9B4CC"/>
                </a:solidFill>
                <a:latin typeface="Carlito" pitchFamily="34" charset="0"/>
                <a:ea typeface="Carlito" pitchFamily="34" charset="-122"/>
                <a:cs typeface="Carlito" pitchFamily="34" charset="-120"/>
              </a:rPr>
              <a:t>From live telemetry ingestion to autonomous execution — a closed loop that runs in seconds.</a:t>
            </a:r>
            <a:endParaRPr lang="en-US" sz="900" dirty="0"/>
          </a:p>
        </p:txBody>
      </p:sp>
      <p:sp>
        <p:nvSpPr>
          <p:cNvPr id="24" name="Text 22"/>
          <p:cNvSpPr/>
          <p:nvPr/>
        </p:nvSpPr>
        <p:spPr>
          <a:xfrm>
            <a:off x="457200" y="1944216"/>
            <a:ext cx="1800225" cy="2017998"/>
          </a:xfrm>
          <a:prstGeom prst="roundRect">
            <a:avLst>
              <a:gd name="adj" fmla="val 7407"/>
            </a:avLst>
          </a:prstGeom>
          <a:solidFill>
            <a:srgbClr val="FFFFFF">
              <a:alpha val="4000"/>
            </a:srgbClr>
          </a:solidFill>
          <a:ln/>
        </p:spPr>
        <p:txBody>
          <a:bodyPr wrap="square" rtlCol="0" anchor="ctr"/>
          <a:lstStyle/>
          <a:p>
            <a:pPr marL="0" indent="0">
              <a:buNone/>
            </a:pPr>
            <a:endParaRPr lang="en-US" dirty="0"/>
          </a:p>
        </p:txBody>
      </p:sp>
      <p:sp>
        <p:nvSpPr>
          <p:cNvPr id="25" name="Text 23"/>
          <p:cNvSpPr/>
          <p:nvPr/>
        </p:nvSpPr>
        <p:spPr>
          <a:xfrm>
            <a:off x="1854689" y="2051372"/>
            <a:ext cx="305410" cy="164592"/>
          </a:xfrm>
          <a:prstGeom prst="rect">
            <a:avLst/>
          </a:prstGeom>
          <a:noFill/>
          <a:ln/>
        </p:spPr>
        <p:txBody>
          <a:bodyPr wrap="none" lIns="0" tIns="0" rIns="0" bIns="0" rtlCol="0" anchor="t"/>
          <a:lstStyle/>
          <a:p>
            <a:pPr marL="0" indent="0" algn="l">
              <a:lnSpc>
                <a:spcPts val="844"/>
              </a:lnSpc>
              <a:buNone/>
            </a:pPr>
            <a:r>
              <a:rPr lang="en-US" sz="600" kern="0" spc="124" dirty="0">
                <a:solidFill>
                  <a:srgbClr val="6B7494"/>
                </a:solidFill>
                <a:latin typeface="Courier New" pitchFamily="34" charset="0"/>
                <a:ea typeface="Courier New" pitchFamily="34" charset="-122"/>
                <a:cs typeface="Courier New" pitchFamily="34" charset="-120"/>
              </a:rPr>
              <a:t>STAGE</a:t>
            </a:r>
            <a:endParaRPr lang="en-US" sz="600" dirty="0"/>
          </a:p>
        </p:txBody>
      </p:sp>
      <p:sp>
        <p:nvSpPr>
          <p:cNvPr id="26" name="Text 24"/>
          <p:cNvSpPr/>
          <p:nvPr/>
        </p:nvSpPr>
        <p:spPr>
          <a:xfrm>
            <a:off x="607219" y="2122810"/>
            <a:ext cx="1500188" cy="339471"/>
          </a:xfrm>
          <a:prstGeom prst="rect">
            <a:avLst/>
          </a:prstGeom>
          <a:noFill/>
          <a:ln/>
        </p:spPr>
        <p:txBody>
          <a:bodyPr wrap="none" lIns="0" tIns="0" rIns="0" bIns="0" rtlCol="0" anchor="t"/>
          <a:lstStyle/>
          <a:p>
            <a:pPr marL="0" indent="0" algn="l">
              <a:lnSpc>
                <a:spcPts val="2475"/>
              </a:lnSpc>
              <a:buNone/>
            </a:pPr>
            <a:r>
              <a:rPr lang="en-US" sz="2475" b="1" kern="0" spc="-49" dirty="0">
                <a:solidFill>
                  <a:srgbClr val="FF4D6D"/>
                </a:solidFill>
                <a:latin typeface="Liberation Sans Narrow" pitchFamily="34" charset="0"/>
                <a:ea typeface="Liberation Sans Narrow" pitchFamily="34" charset="-122"/>
                <a:cs typeface="Liberation Sans Narrow" pitchFamily="34" charset="-120"/>
              </a:rPr>
              <a:t>01</a:t>
            </a:r>
            <a:endParaRPr lang="en-US" sz="2475" dirty="0"/>
          </a:p>
        </p:txBody>
      </p:sp>
      <p:sp>
        <p:nvSpPr>
          <p:cNvPr id="27" name="Text 25"/>
          <p:cNvSpPr/>
          <p:nvPr/>
        </p:nvSpPr>
        <p:spPr>
          <a:xfrm>
            <a:off x="607219" y="2537147"/>
            <a:ext cx="314325" cy="314325"/>
          </a:xfrm>
          <a:prstGeom prst="roundRect">
            <a:avLst>
              <a:gd name="adj" fmla="val 33333"/>
            </a:avLst>
          </a:prstGeom>
          <a:solidFill>
            <a:srgbClr val="FFFFFF">
              <a:alpha val="4000"/>
            </a:srgbClr>
          </a:solidFill>
          <a:ln/>
        </p:spPr>
        <p:txBody>
          <a:bodyPr wrap="square" rtlCol="0" anchor="ctr"/>
          <a:lstStyle/>
          <a:p>
            <a:pPr marL="0" indent="0">
              <a:buNone/>
            </a:pPr>
            <a:endParaRPr lang="en-US" dirty="0"/>
          </a:p>
        </p:txBody>
      </p:sp>
      <p:sp>
        <p:nvSpPr>
          <p:cNvPr id="28" name="Text 26"/>
          <p:cNvSpPr/>
          <p:nvPr/>
        </p:nvSpPr>
        <p:spPr>
          <a:xfrm>
            <a:off x="640080" y="2570009"/>
            <a:ext cx="248602" cy="248602"/>
          </a:xfrm>
          <a:prstGeom prst="rect">
            <a:avLst/>
          </a:prstGeom>
          <a:noFill/>
          <a:ln/>
        </p:spPr>
        <p:txBody>
          <a:bodyPr wrap="none" lIns="0" tIns="0" rIns="0" bIns="0" rtlCol="0" anchor="ctr"/>
          <a:lstStyle/>
          <a:p>
            <a:pPr marL="0" indent="0" algn="ctr">
              <a:buNone/>
            </a:pPr>
            <a:r>
              <a:rPr lang="en-US" sz="1688" dirty="0">
                <a:solidFill>
                  <a:srgbClr val="FF4D6D"/>
                </a:solidFill>
                <a:latin typeface="Segoe UI Symbol" pitchFamily="34" charset="0"/>
                <a:ea typeface="Segoe UI Symbol" pitchFamily="34" charset="-122"/>
                <a:cs typeface="Segoe UI Symbol" pitchFamily="34" charset="-120"/>
              </a:rPr>
              <a:t>✦</a:t>
            </a:r>
            <a:endParaRPr lang="en-US" sz="1688" dirty="0"/>
          </a:p>
        </p:txBody>
      </p:sp>
      <p:sp>
        <p:nvSpPr>
          <p:cNvPr id="29" name="Text 27"/>
          <p:cNvSpPr/>
          <p:nvPr/>
        </p:nvSpPr>
        <p:spPr>
          <a:xfrm>
            <a:off x="607219" y="2951485"/>
            <a:ext cx="1500188" cy="175884"/>
          </a:xfrm>
          <a:prstGeom prst="rect">
            <a:avLst/>
          </a:prstGeom>
          <a:noFill/>
          <a:ln/>
        </p:spPr>
        <p:txBody>
          <a:bodyPr wrap="none" lIns="0" tIns="0" rIns="0" bIns="0" rtlCol="0" anchor="t"/>
          <a:lstStyle/>
          <a:p>
            <a:pPr marL="0" indent="0" algn="l">
              <a:lnSpc>
                <a:spcPts val="1283"/>
              </a:lnSpc>
              <a:buNone/>
            </a:pPr>
            <a:r>
              <a:rPr lang="en-US" sz="1069" kern="0" spc="-5" dirty="0">
                <a:solidFill>
                  <a:srgbClr val="E6F1FF"/>
                </a:solidFill>
                <a:latin typeface="Carlito" pitchFamily="34" charset="0"/>
                <a:ea typeface="Carlito" pitchFamily="34" charset="-122"/>
                <a:cs typeface="Carlito" pitchFamily="34" charset="-120"/>
              </a:rPr>
              <a:t>Live Ingestion</a:t>
            </a:r>
            <a:endParaRPr lang="en-US" sz="1069" dirty="0"/>
          </a:p>
        </p:txBody>
      </p:sp>
      <p:sp>
        <p:nvSpPr>
          <p:cNvPr id="30" name="Text 28"/>
          <p:cNvSpPr/>
          <p:nvPr/>
        </p:nvSpPr>
        <p:spPr>
          <a:xfrm>
            <a:off x="607219" y="3185778"/>
            <a:ext cx="1590199" cy="597843"/>
          </a:xfrm>
          <a:prstGeom prst="rect">
            <a:avLst/>
          </a:prstGeom>
          <a:noFill/>
          <a:ln/>
        </p:spPr>
        <p:txBody>
          <a:bodyPr wrap="square" lIns="0" tIns="0" rIns="0" bIns="0" rtlCol="0" anchor="t"/>
          <a:lstStyle/>
          <a:p>
            <a:pPr marL="0" indent="0" algn="l">
              <a:lnSpc>
                <a:spcPts val="1177"/>
              </a:lnSpc>
              <a:buNone/>
            </a:pPr>
            <a:r>
              <a:rPr lang="en-US" sz="800" dirty="0">
                <a:solidFill>
                  <a:srgbClr val="A9B4CC"/>
                </a:solidFill>
                <a:latin typeface="Carlito" pitchFamily="34" charset="0"/>
                <a:ea typeface="Carlito" pitchFamily="34" charset="-122"/>
                <a:cs typeface="Carlito" pitchFamily="34" charset="-120"/>
              </a:rPr>
              <a:t>Graph Neural Networks (GNNs) map live network topology and detect anomalies (e.g., thermal degradation).</a:t>
            </a:r>
            <a:endParaRPr lang="en-US" sz="800" dirty="0"/>
          </a:p>
        </p:txBody>
      </p:sp>
      <p:sp>
        <p:nvSpPr>
          <p:cNvPr id="31" name="Text 29"/>
          <p:cNvSpPr/>
          <p:nvPr/>
        </p:nvSpPr>
        <p:spPr>
          <a:xfrm>
            <a:off x="2328863" y="2853203"/>
            <a:ext cx="200025" cy="200025"/>
          </a:xfrm>
          <a:prstGeom prst="rect">
            <a:avLst/>
          </a:prstGeom>
          <a:noFill/>
          <a:ln/>
        </p:spPr>
        <p:txBody>
          <a:bodyPr wrap="none" lIns="0" tIns="0" rIns="0" bIns="0" rtlCol="0" anchor="ctr"/>
          <a:lstStyle/>
          <a:p>
            <a:pPr marL="0" indent="0" algn="ctr">
              <a:buNone/>
            </a:pPr>
            <a:r>
              <a:rPr lang="en-US" sz="1547" dirty="0">
                <a:solidFill>
                  <a:srgbClr val="00E5FF"/>
                </a:solidFill>
                <a:latin typeface="Segoe UI Symbol" pitchFamily="34" charset="0"/>
                <a:ea typeface="Segoe UI Symbol" pitchFamily="34" charset="-122"/>
                <a:cs typeface="Segoe UI Symbol" pitchFamily="34" charset="-120"/>
              </a:rPr>
              <a:t>→</a:t>
            </a:r>
            <a:endParaRPr lang="en-US" sz="1547" dirty="0"/>
          </a:p>
        </p:txBody>
      </p:sp>
      <p:sp>
        <p:nvSpPr>
          <p:cNvPr id="32" name="Text 30"/>
          <p:cNvSpPr/>
          <p:nvPr/>
        </p:nvSpPr>
        <p:spPr>
          <a:xfrm>
            <a:off x="2600325" y="1944216"/>
            <a:ext cx="1800225" cy="2017998"/>
          </a:xfrm>
          <a:prstGeom prst="roundRect">
            <a:avLst>
              <a:gd name="adj" fmla="val 7407"/>
            </a:avLst>
          </a:prstGeom>
          <a:solidFill>
            <a:srgbClr val="FFFFFF">
              <a:alpha val="4000"/>
            </a:srgbClr>
          </a:solidFill>
          <a:ln/>
        </p:spPr>
        <p:txBody>
          <a:bodyPr wrap="square" rtlCol="0" anchor="ctr"/>
          <a:lstStyle/>
          <a:p>
            <a:pPr marL="0" indent="0">
              <a:buNone/>
            </a:pPr>
            <a:endParaRPr lang="en-US" dirty="0"/>
          </a:p>
        </p:txBody>
      </p:sp>
      <p:sp>
        <p:nvSpPr>
          <p:cNvPr id="33" name="Text 31"/>
          <p:cNvSpPr/>
          <p:nvPr/>
        </p:nvSpPr>
        <p:spPr>
          <a:xfrm>
            <a:off x="3997814" y="2051372"/>
            <a:ext cx="305410" cy="164592"/>
          </a:xfrm>
          <a:prstGeom prst="rect">
            <a:avLst/>
          </a:prstGeom>
          <a:noFill/>
          <a:ln/>
        </p:spPr>
        <p:txBody>
          <a:bodyPr wrap="none" lIns="0" tIns="0" rIns="0" bIns="0" rtlCol="0" anchor="t"/>
          <a:lstStyle/>
          <a:p>
            <a:pPr marL="0" indent="0" algn="l">
              <a:lnSpc>
                <a:spcPts val="844"/>
              </a:lnSpc>
              <a:buNone/>
            </a:pPr>
            <a:r>
              <a:rPr lang="en-US" sz="600" kern="0" spc="124" dirty="0">
                <a:solidFill>
                  <a:srgbClr val="6B7494"/>
                </a:solidFill>
                <a:latin typeface="Courier New" pitchFamily="34" charset="0"/>
                <a:ea typeface="Courier New" pitchFamily="34" charset="-122"/>
                <a:cs typeface="Courier New" pitchFamily="34" charset="-120"/>
              </a:rPr>
              <a:t>STAGE</a:t>
            </a:r>
            <a:endParaRPr lang="en-US" sz="600" dirty="0"/>
          </a:p>
        </p:txBody>
      </p:sp>
      <p:sp>
        <p:nvSpPr>
          <p:cNvPr id="34" name="Text 32"/>
          <p:cNvSpPr/>
          <p:nvPr/>
        </p:nvSpPr>
        <p:spPr>
          <a:xfrm>
            <a:off x="2750344" y="2122810"/>
            <a:ext cx="1500188" cy="339471"/>
          </a:xfrm>
          <a:prstGeom prst="rect">
            <a:avLst/>
          </a:prstGeom>
          <a:noFill/>
          <a:ln/>
        </p:spPr>
        <p:txBody>
          <a:bodyPr wrap="none" lIns="0" tIns="0" rIns="0" bIns="0" rtlCol="0" anchor="t"/>
          <a:lstStyle/>
          <a:p>
            <a:pPr marL="0" indent="0" algn="l">
              <a:lnSpc>
                <a:spcPts val="2475"/>
              </a:lnSpc>
              <a:buNone/>
            </a:pPr>
            <a:r>
              <a:rPr lang="en-US" sz="2475" b="1" kern="0" spc="-49" dirty="0">
                <a:solidFill>
                  <a:srgbClr val="00E5FF"/>
                </a:solidFill>
                <a:latin typeface="Liberation Sans Narrow" pitchFamily="34" charset="0"/>
                <a:ea typeface="Liberation Sans Narrow" pitchFamily="34" charset="-122"/>
                <a:cs typeface="Liberation Sans Narrow" pitchFamily="34" charset="-120"/>
              </a:rPr>
              <a:t>02</a:t>
            </a:r>
            <a:endParaRPr lang="en-US" sz="2475" dirty="0"/>
          </a:p>
        </p:txBody>
      </p:sp>
      <p:sp>
        <p:nvSpPr>
          <p:cNvPr id="35" name="Text 33"/>
          <p:cNvSpPr/>
          <p:nvPr/>
        </p:nvSpPr>
        <p:spPr>
          <a:xfrm>
            <a:off x="2750344" y="2537147"/>
            <a:ext cx="314325" cy="314325"/>
          </a:xfrm>
          <a:prstGeom prst="roundRect">
            <a:avLst>
              <a:gd name="adj" fmla="val 33333"/>
            </a:avLst>
          </a:prstGeom>
          <a:solidFill>
            <a:srgbClr val="FFFFFF">
              <a:alpha val="4000"/>
            </a:srgbClr>
          </a:solidFill>
          <a:ln/>
        </p:spPr>
        <p:txBody>
          <a:bodyPr wrap="square" rtlCol="0" anchor="ctr"/>
          <a:lstStyle/>
          <a:p>
            <a:pPr marL="0" indent="0">
              <a:buNone/>
            </a:pPr>
            <a:endParaRPr lang="en-US" dirty="0"/>
          </a:p>
        </p:txBody>
      </p:sp>
      <p:sp>
        <p:nvSpPr>
          <p:cNvPr id="36" name="Text 34"/>
          <p:cNvSpPr/>
          <p:nvPr/>
        </p:nvSpPr>
        <p:spPr>
          <a:xfrm>
            <a:off x="2783205" y="2570009"/>
            <a:ext cx="248602" cy="248602"/>
          </a:xfrm>
          <a:prstGeom prst="rect">
            <a:avLst/>
          </a:prstGeom>
          <a:noFill/>
          <a:ln/>
        </p:spPr>
        <p:txBody>
          <a:bodyPr wrap="none" lIns="0" tIns="0" rIns="0" bIns="0" rtlCol="0" anchor="ctr"/>
          <a:lstStyle/>
          <a:p>
            <a:pPr marL="0" indent="0" algn="ctr">
              <a:buNone/>
            </a:pPr>
            <a:r>
              <a:rPr lang="en-US" sz="1688" dirty="0">
                <a:solidFill>
                  <a:srgbClr val="00E5FF"/>
                </a:solidFill>
                <a:latin typeface="Segoe UI Symbol" pitchFamily="34" charset="0"/>
                <a:ea typeface="Segoe UI Symbol" pitchFamily="34" charset="-122"/>
                <a:cs typeface="Segoe UI Symbol" pitchFamily="34" charset="-120"/>
              </a:rPr>
              <a:t>✦</a:t>
            </a:r>
            <a:endParaRPr lang="en-US" sz="1688" dirty="0"/>
          </a:p>
        </p:txBody>
      </p:sp>
      <p:sp>
        <p:nvSpPr>
          <p:cNvPr id="37" name="Text 35"/>
          <p:cNvSpPr/>
          <p:nvPr/>
        </p:nvSpPr>
        <p:spPr>
          <a:xfrm>
            <a:off x="2750344" y="2951485"/>
            <a:ext cx="1500188" cy="175884"/>
          </a:xfrm>
          <a:prstGeom prst="rect">
            <a:avLst/>
          </a:prstGeom>
          <a:noFill/>
          <a:ln/>
        </p:spPr>
        <p:txBody>
          <a:bodyPr wrap="none" lIns="0" tIns="0" rIns="0" bIns="0" rtlCol="0" anchor="t"/>
          <a:lstStyle/>
          <a:p>
            <a:pPr marL="0" indent="0" algn="l">
              <a:lnSpc>
                <a:spcPts val="1283"/>
              </a:lnSpc>
              <a:buNone/>
            </a:pPr>
            <a:r>
              <a:rPr lang="en-US" sz="1069" kern="0" spc="-5" dirty="0">
                <a:solidFill>
                  <a:srgbClr val="E6F1FF"/>
                </a:solidFill>
                <a:latin typeface="Carlito" pitchFamily="34" charset="0"/>
                <a:ea typeface="Carlito" pitchFamily="34" charset="-122"/>
                <a:cs typeface="Carlito" pitchFamily="34" charset="-120"/>
              </a:rPr>
              <a:t>GenAI Engine</a:t>
            </a:r>
            <a:endParaRPr lang="en-US" sz="1069" dirty="0"/>
          </a:p>
        </p:txBody>
      </p:sp>
      <p:sp>
        <p:nvSpPr>
          <p:cNvPr id="38" name="Text 36"/>
          <p:cNvSpPr/>
          <p:nvPr/>
        </p:nvSpPr>
        <p:spPr>
          <a:xfrm>
            <a:off x="2750344" y="3185778"/>
            <a:ext cx="1590199" cy="597843"/>
          </a:xfrm>
          <a:prstGeom prst="rect">
            <a:avLst/>
          </a:prstGeom>
          <a:noFill/>
          <a:ln/>
        </p:spPr>
        <p:txBody>
          <a:bodyPr wrap="square" lIns="0" tIns="0" rIns="0" bIns="0" rtlCol="0" anchor="t"/>
          <a:lstStyle/>
          <a:p>
            <a:pPr marL="0" indent="0" algn="l">
              <a:lnSpc>
                <a:spcPts val="1177"/>
              </a:lnSpc>
              <a:buNone/>
            </a:pPr>
            <a:r>
              <a:rPr lang="en-US" sz="800" dirty="0">
                <a:solidFill>
                  <a:srgbClr val="A9B4CC"/>
                </a:solidFill>
                <a:latin typeface="Carlito" pitchFamily="34" charset="0"/>
                <a:ea typeface="Carlito" pitchFamily="34" charset="-122"/>
                <a:cs typeface="Carlito" pitchFamily="34" charset="-120"/>
              </a:rPr>
              <a:t>Generates parallel counterfactual telemetry streams (e.g., "What if we load-balance traffic vs. increase fan speed?").</a:t>
            </a:r>
            <a:endParaRPr lang="en-US" sz="800" dirty="0"/>
          </a:p>
        </p:txBody>
      </p:sp>
      <p:sp>
        <p:nvSpPr>
          <p:cNvPr id="39" name="Text 37"/>
          <p:cNvSpPr/>
          <p:nvPr/>
        </p:nvSpPr>
        <p:spPr>
          <a:xfrm>
            <a:off x="4471988" y="2853203"/>
            <a:ext cx="200025" cy="200025"/>
          </a:xfrm>
          <a:prstGeom prst="rect">
            <a:avLst/>
          </a:prstGeom>
          <a:noFill/>
          <a:ln/>
        </p:spPr>
        <p:txBody>
          <a:bodyPr wrap="none" lIns="0" tIns="0" rIns="0" bIns="0" rtlCol="0" anchor="ctr"/>
          <a:lstStyle/>
          <a:p>
            <a:pPr marL="0" indent="0" algn="ctr">
              <a:buNone/>
            </a:pPr>
            <a:r>
              <a:rPr lang="en-US" sz="1547" dirty="0">
                <a:solidFill>
                  <a:srgbClr val="00E5FF"/>
                </a:solidFill>
                <a:latin typeface="Segoe UI Symbol" pitchFamily="34" charset="0"/>
                <a:ea typeface="Segoe UI Symbol" pitchFamily="34" charset="-122"/>
                <a:cs typeface="Segoe UI Symbol" pitchFamily="34" charset="-120"/>
              </a:rPr>
              <a:t>→</a:t>
            </a:r>
            <a:endParaRPr lang="en-US" sz="1547" dirty="0"/>
          </a:p>
        </p:txBody>
      </p:sp>
      <p:sp>
        <p:nvSpPr>
          <p:cNvPr id="40" name="Text 38"/>
          <p:cNvSpPr/>
          <p:nvPr/>
        </p:nvSpPr>
        <p:spPr>
          <a:xfrm>
            <a:off x="4743450" y="1944216"/>
            <a:ext cx="1800225" cy="2017998"/>
          </a:xfrm>
          <a:prstGeom prst="roundRect">
            <a:avLst>
              <a:gd name="adj" fmla="val 7407"/>
            </a:avLst>
          </a:prstGeom>
          <a:solidFill>
            <a:srgbClr val="FFFFFF">
              <a:alpha val="4000"/>
            </a:srgbClr>
          </a:solidFill>
          <a:ln/>
        </p:spPr>
        <p:txBody>
          <a:bodyPr wrap="square" rtlCol="0" anchor="ctr"/>
          <a:lstStyle/>
          <a:p>
            <a:pPr marL="0" indent="0">
              <a:buNone/>
            </a:pPr>
            <a:endParaRPr lang="en-US" dirty="0"/>
          </a:p>
        </p:txBody>
      </p:sp>
      <p:sp>
        <p:nvSpPr>
          <p:cNvPr id="41" name="Text 39"/>
          <p:cNvSpPr/>
          <p:nvPr/>
        </p:nvSpPr>
        <p:spPr>
          <a:xfrm>
            <a:off x="6140939" y="2051372"/>
            <a:ext cx="305410" cy="164592"/>
          </a:xfrm>
          <a:prstGeom prst="rect">
            <a:avLst/>
          </a:prstGeom>
          <a:noFill/>
          <a:ln/>
        </p:spPr>
        <p:txBody>
          <a:bodyPr wrap="none" lIns="0" tIns="0" rIns="0" bIns="0" rtlCol="0" anchor="t"/>
          <a:lstStyle/>
          <a:p>
            <a:pPr marL="0" indent="0" algn="l">
              <a:lnSpc>
                <a:spcPts val="844"/>
              </a:lnSpc>
              <a:buNone/>
            </a:pPr>
            <a:r>
              <a:rPr lang="en-US" sz="600" kern="0" spc="124" dirty="0">
                <a:solidFill>
                  <a:srgbClr val="6B7494"/>
                </a:solidFill>
                <a:latin typeface="Courier New" pitchFamily="34" charset="0"/>
                <a:ea typeface="Courier New" pitchFamily="34" charset="-122"/>
                <a:cs typeface="Courier New" pitchFamily="34" charset="-120"/>
              </a:rPr>
              <a:t>STAGE</a:t>
            </a:r>
            <a:endParaRPr lang="en-US" sz="600" dirty="0"/>
          </a:p>
        </p:txBody>
      </p:sp>
      <p:sp>
        <p:nvSpPr>
          <p:cNvPr id="42" name="Text 40"/>
          <p:cNvSpPr/>
          <p:nvPr/>
        </p:nvSpPr>
        <p:spPr>
          <a:xfrm>
            <a:off x="4893469" y="2122810"/>
            <a:ext cx="1500188" cy="339471"/>
          </a:xfrm>
          <a:prstGeom prst="rect">
            <a:avLst/>
          </a:prstGeom>
          <a:noFill/>
          <a:ln/>
        </p:spPr>
        <p:txBody>
          <a:bodyPr wrap="none" lIns="0" tIns="0" rIns="0" bIns="0" rtlCol="0" anchor="t"/>
          <a:lstStyle/>
          <a:p>
            <a:pPr marL="0" indent="0" algn="l">
              <a:lnSpc>
                <a:spcPts val="2475"/>
              </a:lnSpc>
              <a:buNone/>
            </a:pPr>
            <a:r>
              <a:rPr lang="en-US" sz="2475" b="1" kern="0" spc="-49" dirty="0">
                <a:solidFill>
                  <a:srgbClr val="7C4DFF"/>
                </a:solidFill>
                <a:latin typeface="Liberation Sans Narrow" pitchFamily="34" charset="0"/>
                <a:ea typeface="Liberation Sans Narrow" pitchFamily="34" charset="-122"/>
                <a:cs typeface="Liberation Sans Narrow" pitchFamily="34" charset="-120"/>
              </a:rPr>
              <a:t>03</a:t>
            </a:r>
            <a:endParaRPr lang="en-US" sz="2475" dirty="0"/>
          </a:p>
        </p:txBody>
      </p:sp>
      <p:sp>
        <p:nvSpPr>
          <p:cNvPr id="43" name="Text 41"/>
          <p:cNvSpPr/>
          <p:nvPr/>
        </p:nvSpPr>
        <p:spPr>
          <a:xfrm>
            <a:off x="4893469" y="2537147"/>
            <a:ext cx="314325" cy="314325"/>
          </a:xfrm>
          <a:prstGeom prst="roundRect">
            <a:avLst>
              <a:gd name="adj" fmla="val 33333"/>
            </a:avLst>
          </a:prstGeom>
          <a:solidFill>
            <a:srgbClr val="FFFFFF">
              <a:alpha val="4000"/>
            </a:srgbClr>
          </a:solidFill>
          <a:ln/>
        </p:spPr>
        <p:txBody>
          <a:bodyPr wrap="square" rtlCol="0" anchor="ctr"/>
          <a:lstStyle/>
          <a:p>
            <a:pPr marL="0" indent="0">
              <a:buNone/>
            </a:pPr>
            <a:endParaRPr lang="en-US" dirty="0"/>
          </a:p>
        </p:txBody>
      </p:sp>
      <p:sp>
        <p:nvSpPr>
          <p:cNvPr id="44" name="Text 42"/>
          <p:cNvSpPr/>
          <p:nvPr/>
        </p:nvSpPr>
        <p:spPr>
          <a:xfrm>
            <a:off x="4926330" y="2570009"/>
            <a:ext cx="248602" cy="248602"/>
          </a:xfrm>
          <a:prstGeom prst="rect">
            <a:avLst/>
          </a:prstGeom>
          <a:noFill/>
          <a:ln/>
        </p:spPr>
        <p:txBody>
          <a:bodyPr wrap="none" lIns="0" tIns="0" rIns="0" bIns="0" rtlCol="0" anchor="ctr"/>
          <a:lstStyle/>
          <a:p>
            <a:pPr marL="0" indent="0" algn="ctr">
              <a:buNone/>
            </a:pPr>
            <a:r>
              <a:rPr lang="en-US" sz="1688" dirty="0">
                <a:solidFill>
                  <a:srgbClr val="7C4DFF"/>
                </a:solidFill>
                <a:latin typeface="Segoe UI Symbol" pitchFamily="34" charset="0"/>
                <a:ea typeface="Segoe UI Symbol" pitchFamily="34" charset="-122"/>
                <a:cs typeface="Segoe UI Symbol" pitchFamily="34" charset="-120"/>
              </a:rPr>
              <a:t>✦</a:t>
            </a:r>
            <a:endParaRPr lang="en-US" sz="1688" dirty="0"/>
          </a:p>
        </p:txBody>
      </p:sp>
      <p:sp>
        <p:nvSpPr>
          <p:cNvPr id="45" name="Text 43"/>
          <p:cNvSpPr/>
          <p:nvPr/>
        </p:nvSpPr>
        <p:spPr>
          <a:xfrm>
            <a:off x="4893469" y="2951485"/>
            <a:ext cx="1500188" cy="175884"/>
          </a:xfrm>
          <a:prstGeom prst="rect">
            <a:avLst/>
          </a:prstGeom>
          <a:noFill/>
          <a:ln/>
        </p:spPr>
        <p:txBody>
          <a:bodyPr wrap="none" lIns="0" tIns="0" rIns="0" bIns="0" rtlCol="0" anchor="t"/>
          <a:lstStyle/>
          <a:p>
            <a:pPr marL="0" indent="0" algn="l">
              <a:lnSpc>
                <a:spcPts val="1283"/>
              </a:lnSpc>
              <a:buNone/>
            </a:pPr>
            <a:r>
              <a:rPr lang="en-US" sz="1069" kern="0" spc="-5" dirty="0">
                <a:solidFill>
                  <a:srgbClr val="E6F1FF"/>
                </a:solidFill>
                <a:latin typeface="Carlito" pitchFamily="34" charset="0"/>
                <a:ea typeface="Carlito" pitchFamily="34" charset="-122"/>
                <a:cs typeface="Carlito" pitchFamily="34" charset="-120"/>
              </a:rPr>
              <a:t>Agentic Simulation</a:t>
            </a:r>
            <a:endParaRPr lang="en-US" sz="1069" dirty="0"/>
          </a:p>
        </p:txBody>
      </p:sp>
      <p:sp>
        <p:nvSpPr>
          <p:cNvPr id="46" name="Text 44"/>
          <p:cNvSpPr/>
          <p:nvPr/>
        </p:nvSpPr>
        <p:spPr>
          <a:xfrm>
            <a:off x="4893469" y="3185778"/>
            <a:ext cx="1590199" cy="597843"/>
          </a:xfrm>
          <a:prstGeom prst="rect">
            <a:avLst/>
          </a:prstGeom>
          <a:noFill/>
          <a:ln/>
        </p:spPr>
        <p:txBody>
          <a:bodyPr wrap="square" lIns="0" tIns="0" rIns="0" bIns="0" rtlCol="0" anchor="t"/>
          <a:lstStyle/>
          <a:p>
            <a:pPr marL="0" indent="0" algn="l">
              <a:lnSpc>
                <a:spcPts val="1177"/>
              </a:lnSpc>
              <a:buNone/>
            </a:pPr>
            <a:r>
              <a:rPr lang="en-US" sz="800" dirty="0">
                <a:solidFill>
                  <a:srgbClr val="A9B4CC"/>
                </a:solidFill>
                <a:latin typeface="Carlito" pitchFamily="34" charset="0"/>
                <a:ea typeface="Carlito" pitchFamily="34" charset="-122"/>
                <a:cs typeface="Carlito" pitchFamily="34" charset="-120"/>
              </a:rPr>
              <a:t>Agent 1 diagnoses root cause; Agent 2 tests fixes on the synthetic data in a digital twin; Agent 3 writes the fix script.</a:t>
            </a:r>
            <a:endParaRPr lang="en-US" sz="800" dirty="0"/>
          </a:p>
        </p:txBody>
      </p:sp>
      <p:sp>
        <p:nvSpPr>
          <p:cNvPr id="47" name="Text 45"/>
          <p:cNvSpPr/>
          <p:nvPr/>
        </p:nvSpPr>
        <p:spPr>
          <a:xfrm>
            <a:off x="6615113" y="2853203"/>
            <a:ext cx="200025" cy="200025"/>
          </a:xfrm>
          <a:prstGeom prst="rect">
            <a:avLst/>
          </a:prstGeom>
          <a:noFill/>
          <a:ln/>
        </p:spPr>
        <p:txBody>
          <a:bodyPr wrap="none" lIns="0" tIns="0" rIns="0" bIns="0" rtlCol="0" anchor="ctr"/>
          <a:lstStyle/>
          <a:p>
            <a:pPr marL="0" indent="0" algn="ctr">
              <a:buNone/>
            </a:pPr>
            <a:r>
              <a:rPr lang="en-US" sz="1547" dirty="0">
                <a:solidFill>
                  <a:srgbClr val="00E5FF"/>
                </a:solidFill>
                <a:latin typeface="Segoe UI Symbol" pitchFamily="34" charset="0"/>
                <a:ea typeface="Segoe UI Symbol" pitchFamily="34" charset="-122"/>
                <a:cs typeface="Segoe UI Symbol" pitchFamily="34" charset="-120"/>
              </a:rPr>
              <a:t>→</a:t>
            </a:r>
            <a:endParaRPr lang="en-US" sz="1547" dirty="0"/>
          </a:p>
        </p:txBody>
      </p:sp>
      <p:sp>
        <p:nvSpPr>
          <p:cNvPr id="48" name="Text 46"/>
          <p:cNvSpPr/>
          <p:nvPr/>
        </p:nvSpPr>
        <p:spPr>
          <a:xfrm>
            <a:off x="6886575" y="1944216"/>
            <a:ext cx="1800225" cy="2017998"/>
          </a:xfrm>
          <a:prstGeom prst="roundRect">
            <a:avLst>
              <a:gd name="adj" fmla="val 7407"/>
            </a:avLst>
          </a:prstGeom>
          <a:solidFill>
            <a:srgbClr val="FFFFFF">
              <a:alpha val="4000"/>
            </a:srgbClr>
          </a:solidFill>
          <a:ln/>
        </p:spPr>
        <p:txBody>
          <a:bodyPr wrap="square" rtlCol="0" anchor="ctr"/>
          <a:lstStyle/>
          <a:p>
            <a:pPr marL="0" indent="0">
              <a:buNone/>
            </a:pPr>
            <a:endParaRPr lang="en-US" dirty="0"/>
          </a:p>
        </p:txBody>
      </p:sp>
      <p:sp>
        <p:nvSpPr>
          <p:cNvPr id="49" name="Text 47"/>
          <p:cNvSpPr/>
          <p:nvPr/>
        </p:nvSpPr>
        <p:spPr>
          <a:xfrm>
            <a:off x="8284064" y="2051372"/>
            <a:ext cx="305410" cy="164592"/>
          </a:xfrm>
          <a:prstGeom prst="rect">
            <a:avLst/>
          </a:prstGeom>
          <a:noFill/>
          <a:ln/>
        </p:spPr>
        <p:txBody>
          <a:bodyPr wrap="none" lIns="0" tIns="0" rIns="0" bIns="0" rtlCol="0" anchor="t"/>
          <a:lstStyle/>
          <a:p>
            <a:pPr marL="0" indent="0" algn="l">
              <a:lnSpc>
                <a:spcPts val="844"/>
              </a:lnSpc>
              <a:buNone/>
            </a:pPr>
            <a:r>
              <a:rPr lang="en-US" sz="600" kern="0" spc="124" dirty="0">
                <a:solidFill>
                  <a:srgbClr val="6B7494"/>
                </a:solidFill>
                <a:latin typeface="Courier New" pitchFamily="34" charset="0"/>
                <a:ea typeface="Courier New" pitchFamily="34" charset="-122"/>
                <a:cs typeface="Courier New" pitchFamily="34" charset="-120"/>
              </a:rPr>
              <a:t>STAGE</a:t>
            </a:r>
            <a:endParaRPr lang="en-US" sz="600" dirty="0"/>
          </a:p>
        </p:txBody>
      </p:sp>
      <p:sp>
        <p:nvSpPr>
          <p:cNvPr id="50" name="Text 48"/>
          <p:cNvSpPr/>
          <p:nvPr/>
        </p:nvSpPr>
        <p:spPr>
          <a:xfrm>
            <a:off x="7036594" y="2122810"/>
            <a:ext cx="1500188" cy="339471"/>
          </a:xfrm>
          <a:prstGeom prst="rect">
            <a:avLst/>
          </a:prstGeom>
          <a:noFill/>
          <a:ln/>
        </p:spPr>
        <p:txBody>
          <a:bodyPr wrap="none" lIns="0" tIns="0" rIns="0" bIns="0" rtlCol="0" anchor="t"/>
          <a:lstStyle/>
          <a:p>
            <a:pPr marL="0" indent="0" algn="l">
              <a:lnSpc>
                <a:spcPts val="2475"/>
              </a:lnSpc>
              <a:buNone/>
            </a:pPr>
            <a:r>
              <a:rPr lang="en-US" sz="2475" b="1" kern="0" spc="-49" dirty="0">
                <a:solidFill>
                  <a:srgbClr val="10E0A0"/>
                </a:solidFill>
                <a:latin typeface="Liberation Sans Narrow" pitchFamily="34" charset="0"/>
                <a:ea typeface="Liberation Sans Narrow" pitchFamily="34" charset="-122"/>
                <a:cs typeface="Liberation Sans Narrow" pitchFamily="34" charset="-120"/>
              </a:rPr>
              <a:t>04</a:t>
            </a:r>
            <a:endParaRPr lang="en-US" sz="2475" dirty="0"/>
          </a:p>
        </p:txBody>
      </p:sp>
      <p:sp>
        <p:nvSpPr>
          <p:cNvPr id="51" name="Text 49"/>
          <p:cNvSpPr/>
          <p:nvPr/>
        </p:nvSpPr>
        <p:spPr>
          <a:xfrm>
            <a:off x="7036594" y="2537147"/>
            <a:ext cx="314325" cy="314325"/>
          </a:xfrm>
          <a:prstGeom prst="roundRect">
            <a:avLst>
              <a:gd name="adj" fmla="val 33333"/>
            </a:avLst>
          </a:prstGeom>
          <a:solidFill>
            <a:srgbClr val="FFFFFF">
              <a:alpha val="4000"/>
            </a:srgbClr>
          </a:solidFill>
          <a:ln/>
        </p:spPr>
        <p:txBody>
          <a:bodyPr wrap="square" rtlCol="0" anchor="ctr"/>
          <a:lstStyle/>
          <a:p>
            <a:pPr marL="0" indent="0">
              <a:buNone/>
            </a:pPr>
            <a:endParaRPr lang="en-US" dirty="0"/>
          </a:p>
        </p:txBody>
      </p:sp>
      <p:sp>
        <p:nvSpPr>
          <p:cNvPr id="52" name="Text 50"/>
          <p:cNvSpPr/>
          <p:nvPr/>
        </p:nvSpPr>
        <p:spPr>
          <a:xfrm>
            <a:off x="7069455" y="2570009"/>
            <a:ext cx="248602" cy="248602"/>
          </a:xfrm>
          <a:prstGeom prst="rect">
            <a:avLst/>
          </a:prstGeom>
          <a:noFill/>
          <a:ln/>
        </p:spPr>
        <p:txBody>
          <a:bodyPr wrap="none" lIns="0" tIns="0" rIns="0" bIns="0" rtlCol="0" anchor="ctr"/>
          <a:lstStyle/>
          <a:p>
            <a:pPr marL="0" indent="0" algn="ctr">
              <a:buNone/>
            </a:pPr>
            <a:r>
              <a:rPr lang="en-US" sz="1688" dirty="0">
                <a:solidFill>
                  <a:srgbClr val="10E0A0"/>
                </a:solidFill>
                <a:latin typeface="Segoe UI Symbol" pitchFamily="34" charset="0"/>
                <a:ea typeface="Segoe UI Symbol" pitchFamily="34" charset="-122"/>
                <a:cs typeface="Segoe UI Symbol" pitchFamily="34" charset="-120"/>
              </a:rPr>
              <a:t>➤</a:t>
            </a:r>
            <a:endParaRPr lang="en-US" sz="1688" dirty="0"/>
          </a:p>
        </p:txBody>
      </p:sp>
      <p:sp>
        <p:nvSpPr>
          <p:cNvPr id="53" name="Text 51"/>
          <p:cNvSpPr/>
          <p:nvPr/>
        </p:nvSpPr>
        <p:spPr>
          <a:xfrm>
            <a:off x="7036594" y="2951485"/>
            <a:ext cx="1500188" cy="175884"/>
          </a:xfrm>
          <a:prstGeom prst="rect">
            <a:avLst/>
          </a:prstGeom>
          <a:noFill/>
          <a:ln/>
        </p:spPr>
        <p:txBody>
          <a:bodyPr wrap="none" lIns="0" tIns="0" rIns="0" bIns="0" rtlCol="0" anchor="t"/>
          <a:lstStyle/>
          <a:p>
            <a:pPr marL="0" indent="0" algn="l">
              <a:lnSpc>
                <a:spcPts val="1283"/>
              </a:lnSpc>
              <a:buNone/>
            </a:pPr>
            <a:r>
              <a:rPr lang="en-US" sz="1069" kern="0" spc="-5" dirty="0">
                <a:solidFill>
                  <a:srgbClr val="E6F1FF"/>
                </a:solidFill>
                <a:latin typeface="Carlito" pitchFamily="34" charset="0"/>
                <a:ea typeface="Carlito" pitchFamily="34" charset="-122"/>
                <a:cs typeface="Carlito" pitchFamily="34" charset="-120"/>
              </a:rPr>
              <a:t>Autonomous Execution</a:t>
            </a:r>
            <a:endParaRPr lang="en-US" sz="1069" dirty="0"/>
          </a:p>
        </p:txBody>
      </p:sp>
      <p:sp>
        <p:nvSpPr>
          <p:cNvPr id="54" name="Text 52"/>
          <p:cNvSpPr/>
          <p:nvPr/>
        </p:nvSpPr>
        <p:spPr>
          <a:xfrm>
            <a:off x="7036594" y="3185778"/>
            <a:ext cx="1590199" cy="510159"/>
          </a:xfrm>
          <a:prstGeom prst="rect">
            <a:avLst/>
          </a:prstGeom>
          <a:noFill/>
          <a:ln/>
        </p:spPr>
        <p:txBody>
          <a:bodyPr wrap="square" lIns="0" tIns="0" rIns="0" bIns="0" rtlCol="0" anchor="t"/>
          <a:lstStyle/>
          <a:p>
            <a:pPr marL="0" indent="0" algn="l">
              <a:lnSpc>
                <a:spcPts val="1177"/>
              </a:lnSpc>
              <a:buNone/>
            </a:pPr>
            <a:r>
              <a:rPr lang="en-US" sz="800" dirty="0">
                <a:solidFill>
                  <a:srgbClr val="A9B4CC"/>
                </a:solidFill>
                <a:latin typeface="Carlito" pitchFamily="34" charset="0"/>
                <a:ea typeface="Carlito" pitchFamily="34" charset="-122"/>
                <a:cs typeface="Carlito" pitchFamily="34" charset="-120"/>
              </a:rPr>
              <a:t>The verified script is pushed live via APIs (NETCONF/YANG), averting failure.</a:t>
            </a:r>
            <a:endParaRPr lang="en-US" sz="800" dirty="0"/>
          </a:p>
        </p:txBody>
      </p:sp>
      <p:sp>
        <p:nvSpPr>
          <p:cNvPr id="55" name="Text 53"/>
          <p:cNvSpPr/>
          <p:nvPr/>
        </p:nvSpPr>
        <p:spPr>
          <a:xfrm>
            <a:off x="457200" y="4062226"/>
            <a:ext cx="1800225" cy="28575"/>
          </a:xfrm>
          <a:prstGeom prst="roundRect">
            <a:avLst>
              <a:gd name="adj" fmla="val 66667"/>
            </a:avLst>
          </a:prstGeom>
          <a:solidFill>
            <a:srgbClr val="FF4D6D">
              <a:alpha val="70000"/>
            </a:srgbClr>
          </a:solidFill>
          <a:ln/>
          <a:effectLst>
            <a:outerShdw blurRad="95250" dist="50800" dir="16200000" algn="bl" rotWithShape="0">
              <a:srgbClr val="FF4D6D">
                <a:alpha val="50000"/>
              </a:srgbClr>
            </a:outerShdw>
          </a:effectLst>
        </p:spPr>
        <p:txBody>
          <a:bodyPr wrap="square" rtlCol="0" anchor="ctr"/>
          <a:lstStyle/>
          <a:p>
            <a:pPr marL="0" indent="0">
              <a:buNone/>
            </a:pPr>
            <a:endParaRPr lang="en-US" dirty="0"/>
          </a:p>
        </p:txBody>
      </p:sp>
      <p:sp>
        <p:nvSpPr>
          <p:cNvPr id="56" name="Text 54"/>
          <p:cNvSpPr/>
          <p:nvPr/>
        </p:nvSpPr>
        <p:spPr>
          <a:xfrm>
            <a:off x="2600325" y="4062226"/>
            <a:ext cx="1800225" cy="28575"/>
          </a:xfrm>
          <a:prstGeom prst="roundRect">
            <a:avLst>
              <a:gd name="adj" fmla="val 66667"/>
            </a:avLst>
          </a:prstGeom>
          <a:solidFill>
            <a:srgbClr val="00E5FF">
              <a:alpha val="70000"/>
            </a:srgbClr>
          </a:solidFill>
          <a:ln/>
          <a:effectLst>
            <a:outerShdw blurRad="95250" dist="50800" dir="16200000" algn="bl" rotWithShape="0">
              <a:srgbClr val="00E5FF">
                <a:alpha val="50000"/>
              </a:srgbClr>
            </a:outerShdw>
          </a:effectLst>
        </p:spPr>
        <p:txBody>
          <a:bodyPr wrap="square" rtlCol="0" anchor="ctr"/>
          <a:lstStyle/>
          <a:p>
            <a:pPr marL="0" indent="0">
              <a:buNone/>
            </a:pPr>
            <a:endParaRPr lang="en-US" dirty="0"/>
          </a:p>
        </p:txBody>
      </p:sp>
      <p:sp>
        <p:nvSpPr>
          <p:cNvPr id="57" name="Text 55"/>
          <p:cNvSpPr/>
          <p:nvPr/>
        </p:nvSpPr>
        <p:spPr>
          <a:xfrm>
            <a:off x="4743450" y="4062226"/>
            <a:ext cx="1800225" cy="28575"/>
          </a:xfrm>
          <a:prstGeom prst="roundRect">
            <a:avLst>
              <a:gd name="adj" fmla="val 66667"/>
            </a:avLst>
          </a:prstGeom>
          <a:solidFill>
            <a:srgbClr val="7C4DFF">
              <a:alpha val="70000"/>
            </a:srgbClr>
          </a:solidFill>
          <a:ln/>
          <a:effectLst>
            <a:outerShdw blurRad="95250" dist="50800" dir="16200000" algn="bl" rotWithShape="0">
              <a:srgbClr val="7C4DFF">
                <a:alpha val="50000"/>
              </a:srgbClr>
            </a:outerShdw>
          </a:effectLst>
        </p:spPr>
        <p:txBody>
          <a:bodyPr wrap="square" rtlCol="0" anchor="ctr"/>
          <a:lstStyle/>
          <a:p>
            <a:pPr marL="0" indent="0">
              <a:buNone/>
            </a:pPr>
            <a:endParaRPr lang="en-US" dirty="0"/>
          </a:p>
        </p:txBody>
      </p:sp>
      <p:sp>
        <p:nvSpPr>
          <p:cNvPr id="58" name="Text 56"/>
          <p:cNvSpPr/>
          <p:nvPr/>
        </p:nvSpPr>
        <p:spPr>
          <a:xfrm>
            <a:off x="6886575" y="4062226"/>
            <a:ext cx="1800225" cy="28575"/>
          </a:xfrm>
          <a:prstGeom prst="roundRect">
            <a:avLst>
              <a:gd name="adj" fmla="val 66667"/>
            </a:avLst>
          </a:prstGeom>
          <a:solidFill>
            <a:srgbClr val="10E0A0">
              <a:alpha val="70000"/>
            </a:srgbClr>
          </a:solidFill>
          <a:ln/>
          <a:effectLst>
            <a:outerShdw blurRad="95250" dist="50800" dir="16200000" algn="bl" rotWithShape="0">
              <a:srgbClr val="10E0A0">
                <a:alpha val="50000"/>
              </a:srgbClr>
            </a:outerShdw>
          </a:effectLst>
        </p:spPr>
        <p:txBody>
          <a:bodyPr wrap="square" rtlCol="0" anchor="ctr"/>
          <a:lstStyle/>
          <a:p>
            <a:pPr marL="0" indent="0">
              <a:buNone/>
            </a:pPr>
            <a:endParaRPr lang="en-US" dirty="0"/>
          </a:p>
        </p:txBody>
      </p:sp>
      <p:sp>
        <p:nvSpPr>
          <p:cNvPr id="59" name="Text 57"/>
          <p:cNvSpPr/>
          <p:nvPr/>
        </p:nvSpPr>
        <p:spPr>
          <a:xfrm>
            <a:off x="457200" y="4253322"/>
            <a:ext cx="50006" cy="50006"/>
          </a:xfrm>
          <a:prstGeom prst="roundRect">
            <a:avLst>
              <a:gd name="adj" fmla="val 66667"/>
            </a:avLst>
          </a:prstGeom>
          <a:solidFill>
            <a:srgbClr val="FF4D6D"/>
          </a:solidFill>
          <a:ln/>
        </p:spPr>
        <p:txBody>
          <a:bodyPr wrap="square" rtlCol="0" anchor="ctr"/>
          <a:lstStyle/>
          <a:p>
            <a:pPr marL="0" indent="0">
              <a:buNone/>
            </a:pPr>
            <a:endParaRPr lang="en-US" dirty="0"/>
          </a:p>
        </p:txBody>
      </p:sp>
      <p:sp>
        <p:nvSpPr>
          <p:cNvPr id="60" name="Text 58"/>
          <p:cNvSpPr/>
          <p:nvPr/>
        </p:nvSpPr>
        <p:spPr>
          <a:xfrm>
            <a:off x="550069" y="4219389"/>
            <a:ext cx="1341127"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6B7494"/>
                </a:solidFill>
                <a:latin typeface="Courier New" pitchFamily="34" charset="0"/>
                <a:ea typeface="Courier New" pitchFamily="34" charset="-122"/>
                <a:cs typeface="Courier New" pitchFamily="34" charset="-120"/>
              </a:rPr>
              <a:t>DETECT</a:t>
            </a:r>
            <a:endParaRPr lang="en-US" sz="800" dirty="0"/>
          </a:p>
        </p:txBody>
      </p:sp>
      <p:sp>
        <p:nvSpPr>
          <p:cNvPr id="61" name="Text 59"/>
          <p:cNvSpPr/>
          <p:nvPr/>
        </p:nvSpPr>
        <p:spPr>
          <a:xfrm>
            <a:off x="1812615" y="4219389"/>
            <a:ext cx="1164431"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6B7494"/>
                </a:solidFill>
                <a:latin typeface="Liberation Sans Narrow" pitchFamily="34" charset="0"/>
                <a:ea typeface="Liberation Sans Narrow" pitchFamily="34" charset="-122"/>
                <a:cs typeface="Liberation Sans Narrow" pitchFamily="34" charset="-120"/>
              </a:rPr>
              <a:t>≈ 1S</a:t>
            </a:r>
            <a:endParaRPr lang="en-US" sz="800" dirty="0"/>
          </a:p>
        </p:txBody>
      </p:sp>
      <p:sp>
        <p:nvSpPr>
          <p:cNvPr id="62" name="Text 60"/>
          <p:cNvSpPr/>
          <p:nvPr/>
        </p:nvSpPr>
        <p:spPr>
          <a:xfrm>
            <a:off x="2991334" y="4253322"/>
            <a:ext cx="50006" cy="50006"/>
          </a:xfrm>
          <a:prstGeom prst="roundRect">
            <a:avLst>
              <a:gd name="adj" fmla="val 66667"/>
            </a:avLst>
          </a:prstGeom>
          <a:solidFill>
            <a:srgbClr val="00E5FF"/>
          </a:solidFill>
          <a:ln/>
        </p:spPr>
        <p:txBody>
          <a:bodyPr wrap="square" rtlCol="0" anchor="ctr"/>
          <a:lstStyle/>
          <a:p>
            <a:pPr marL="0" indent="0">
              <a:buNone/>
            </a:pPr>
            <a:endParaRPr lang="en-US" dirty="0"/>
          </a:p>
        </p:txBody>
      </p:sp>
      <p:sp>
        <p:nvSpPr>
          <p:cNvPr id="63" name="Text 61"/>
          <p:cNvSpPr/>
          <p:nvPr/>
        </p:nvSpPr>
        <p:spPr>
          <a:xfrm>
            <a:off x="3024039" y="4219389"/>
            <a:ext cx="1447949"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6B7494"/>
                </a:solidFill>
                <a:latin typeface="Courier New" pitchFamily="34" charset="0"/>
                <a:ea typeface="Courier New" pitchFamily="34" charset="-122"/>
                <a:cs typeface="Courier New" pitchFamily="34" charset="-120"/>
              </a:rPr>
              <a:t>GENERATE</a:t>
            </a:r>
            <a:endParaRPr lang="en-US" sz="800" dirty="0"/>
          </a:p>
        </p:txBody>
      </p:sp>
      <p:sp>
        <p:nvSpPr>
          <p:cNvPr id="64" name="Text 62"/>
          <p:cNvSpPr/>
          <p:nvPr/>
        </p:nvSpPr>
        <p:spPr>
          <a:xfrm>
            <a:off x="4453570" y="4219389"/>
            <a:ext cx="1164431"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6B7494"/>
                </a:solidFill>
                <a:latin typeface="Liberation Sans Narrow" pitchFamily="34" charset="0"/>
                <a:ea typeface="Liberation Sans Narrow" pitchFamily="34" charset="-122"/>
                <a:cs typeface="Liberation Sans Narrow" pitchFamily="34" charset="-120"/>
              </a:rPr>
              <a:t>≈ 2S</a:t>
            </a:r>
            <a:endParaRPr lang="en-US" sz="800" dirty="0"/>
          </a:p>
        </p:txBody>
      </p:sp>
      <p:sp>
        <p:nvSpPr>
          <p:cNvPr id="65" name="Text 63"/>
          <p:cNvSpPr/>
          <p:nvPr/>
        </p:nvSpPr>
        <p:spPr>
          <a:xfrm>
            <a:off x="5632289" y="4253322"/>
            <a:ext cx="50006" cy="50006"/>
          </a:xfrm>
          <a:prstGeom prst="roundRect">
            <a:avLst>
              <a:gd name="adj" fmla="val 66667"/>
            </a:avLst>
          </a:prstGeom>
          <a:solidFill>
            <a:srgbClr val="7C4DFF"/>
          </a:solidFill>
          <a:ln/>
        </p:spPr>
        <p:txBody>
          <a:bodyPr wrap="square" rtlCol="0" anchor="ctr"/>
          <a:lstStyle/>
          <a:p>
            <a:pPr marL="0" indent="0">
              <a:buNone/>
            </a:pPr>
            <a:endParaRPr lang="en-US" dirty="0"/>
          </a:p>
        </p:txBody>
      </p:sp>
      <p:sp>
        <p:nvSpPr>
          <p:cNvPr id="66" name="Text 64"/>
          <p:cNvSpPr/>
          <p:nvPr/>
        </p:nvSpPr>
        <p:spPr>
          <a:xfrm>
            <a:off x="5696583" y="4219389"/>
            <a:ext cx="1447949"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6B7494"/>
                </a:solidFill>
                <a:latin typeface="Courier New" pitchFamily="34" charset="0"/>
                <a:ea typeface="Courier New" pitchFamily="34" charset="-122"/>
                <a:cs typeface="Courier New" pitchFamily="34" charset="-120"/>
              </a:rPr>
              <a:t>SIMULATE</a:t>
            </a:r>
            <a:endParaRPr lang="en-US" sz="800" dirty="0"/>
          </a:p>
        </p:txBody>
      </p:sp>
      <p:sp>
        <p:nvSpPr>
          <p:cNvPr id="67" name="Text 65"/>
          <p:cNvSpPr/>
          <p:nvPr/>
        </p:nvSpPr>
        <p:spPr>
          <a:xfrm>
            <a:off x="7094525" y="4219389"/>
            <a:ext cx="1164431"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6B7494"/>
                </a:solidFill>
                <a:latin typeface="Liberation Sans Narrow" pitchFamily="34" charset="0"/>
                <a:ea typeface="Liberation Sans Narrow" pitchFamily="34" charset="-122"/>
                <a:cs typeface="Liberation Sans Narrow" pitchFamily="34" charset="-120"/>
              </a:rPr>
              <a:t>≈ 2S</a:t>
            </a:r>
            <a:endParaRPr lang="en-US" sz="800" dirty="0"/>
          </a:p>
        </p:txBody>
      </p:sp>
      <p:sp>
        <p:nvSpPr>
          <p:cNvPr id="68" name="Text 66"/>
          <p:cNvSpPr/>
          <p:nvPr/>
        </p:nvSpPr>
        <p:spPr>
          <a:xfrm>
            <a:off x="8273244" y="4253322"/>
            <a:ext cx="50006" cy="50006"/>
          </a:xfrm>
          <a:prstGeom prst="roundRect">
            <a:avLst>
              <a:gd name="adj" fmla="val 66667"/>
            </a:avLst>
          </a:prstGeom>
          <a:solidFill>
            <a:srgbClr val="10E0A0"/>
          </a:solidFill>
          <a:ln/>
        </p:spPr>
        <p:txBody>
          <a:bodyPr wrap="square" rtlCol="0" anchor="ctr"/>
          <a:lstStyle/>
          <a:p>
            <a:pPr marL="0" indent="0">
              <a:buNone/>
            </a:pPr>
            <a:endParaRPr lang="en-US" dirty="0"/>
          </a:p>
        </p:txBody>
      </p:sp>
      <p:sp>
        <p:nvSpPr>
          <p:cNvPr id="69" name="Text 67"/>
          <p:cNvSpPr/>
          <p:nvPr/>
        </p:nvSpPr>
        <p:spPr>
          <a:xfrm>
            <a:off x="8336672" y="4206593"/>
            <a:ext cx="648960"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6B7494"/>
                </a:solidFill>
                <a:latin typeface="Courier New" pitchFamily="34" charset="0"/>
                <a:ea typeface="Courier New" pitchFamily="34" charset="-122"/>
                <a:cs typeface="Courier New" pitchFamily="34" charset="-120"/>
              </a:rPr>
              <a:t>DEPLOY</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7071512" y="-200025"/>
            <a:ext cx="2072488" cy="1234440"/>
          </a:xfrm>
          <a:prstGeom prst="rect">
            <a:avLst/>
          </a:prstGeom>
          <a:noFill/>
          <a:ln/>
        </p:spPr>
        <p:txBody>
          <a:bodyPr wrap="none" lIns="0" tIns="0" rIns="0" bIns="0" rtlCol="0" anchor="t"/>
          <a:lstStyle/>
          <a:p>
            <a:pPr marL="0" indent="0" algn="l">
              <a:lnSpc>
                <a:spcPts val="9000"/>
              </a:lnSpc>
              <a:buNone/>
            </a:pPr>
            <a:r>
              <a:rPr lang="en-US" sz="9000" b="1" kern="0" spc="-360" dirty="0">
                <a:solidFill>
                  <a:srgbClr val="FFFFFF">
                    <a:alpha val="2000"/>
                  </a:srgbClr>
                </a:solidFill>
                <a:latin typeface="Liberation Sans Narrow" pitchFamily="34" charset="0"/>
                <a:ea typeface="Liberation Sans Narrow" pitchFamily="34" charset="-122"/>
                <a:cs typeface="Liberation Sans Narrow" pitchFamily="34" charset="-120"/>
              </a:rPr>
              <a:t>05</a:t>
            </a:r>
            <a:endParaRPr lang="en-US" sz="9000" dirty="0"/>
          </a:p>
        </p:txBody>
      </p:sp>
      <p:pic>
        <p:nvPicPr>
          <p:cNvPr id="3" name="Image 0" descr="preencoded.png"/>
          <p:cNvPicPr>
            <a:picLocks noChangeAspect="1"/>
          </p:cNvPicPr>
          <p:nvPr/>
        </p:nvPicPr>
        <p:blipFill>
          <a:blip r:embed="rId3"/>
          <a:stretch>
            <a:fillRect/>
          </a:stretch>
        </p:blipFill>
        <p:spPr>
          <a:xfrm>
            <a:off x="7000875" y="3429000"/>
            <a:ext cx="3000375" cy="3000375"/>
          </a:xfrm>
          <a:prstGeom prst="rect">
            <a:avLst/>
          </a:prstGeom>
        </p:spPr>
      </p:pic>
      <p:sp>
        <p:nvSpPr>
          <p:cNvPr id="4" name="Text 1"/>
          <p:cNvSpPr/>
          <p:nvPr/>
        </p:nvSpPr>
        <p:spPr>
          <a:xfrm>
            <a:off x="7000875" y="3429000"/>
            <a:ext cx="3000375" cy="3000375"/>
          </a:xfrm>
          <a:prstGeom prst="rect">
            <a:avLst/>
          </a:prstGeom>
          <a:solidFill>
            <a:srgbClr val="FFFFFF">
              <a:alpha val="0"/>
            </a:srgbClr>
          </a:solidFill>
          <a:ln/>
        </p:spPr>
        <p:txBody>
          <a:bodyPr wrap="square" rtlCol="0" anchor="ctr"/>
          <a:lstStyle/>
          <a:p>
            <a:pPr marL="0" indent="0">
              <a:buNone/>
            </a:pPr>
            <a:endParaRPr lang="en-US" dirty="0"/>
          </a:p>
        </p:txBody>
      </p:sp>
      <p:sp>
        <p:nvSpPr>
          <p:cNvPr id="5" name="Text 2"/>
          <p:cNvSpPr/>
          <p:nvPr/>
        </p:nvSpPr>
        <p:spPr>
          <a:xfrm>
            <a:off x="457200" y="388691"/>
            <a:ext cx="1016645" cy="212027"/>
          </a:xfrm>
          <a:prstGeom prst="roundRect">
            <a:avLst>
              <a:gd name="adj" fmla="val 4487860"/>
            </a:avLst>
          </a:prstGeom>
          <a:solidFill>
            <a:srgbClr val="00E5FF">
              <a:alpha val="6000"/>
            </a:srgbClr>
          </a:solidFill>
          <a:ln w="7144">
            <a:solidFill>
              <a:srgbClr val="00E5FF"/>
            </a:solidFill>
            <a:prstDash val="solid"/>
          </a:ln>
        </p:spPr>
        <p:txBody>
          <a:bodyPr wrap="square" rtlCol="0" anchor="ctr"/>
          <a:lstStyle/>
          <a:p>
            <a:pPr marL="0" indent="0">
              <a:buNone/>
            </a:pPr>
            <a:endParaRPr lang="en-US" dirty="0"/>
          </a:p>
        </p:txBody>
      </p:sp>
      <p:sp>
        <p:nvSpPr>
          <p:cNvPr id="6" name="Text 3"/>
          <p:cNvSpPr/>
          <p:nvPr/>
        </p:nvSpPr>
        <p:spPr>
          <a:xfrm>
            <a:off x="550069" y="466130"/>
            <a:ext cx="57150" cy="57150"/>
          </a:xfrm>
          <a:prstGeom prst="roundRect">
            <a:avLst>
              <a:gd name="adj" fmla="val 66667"/>
            </a:avLst>
          </a:prstGeom>
          <a:solidFill>
            <a:srgbClr val="00E5FF"/>
          </a:solidFill>
          <a:ln/>
        </p:spPr>
        <p:txBody>
          <a:bodyPr wrap="square" rtlCol="0" anchor="ctr"/>
          <a:lstStyle/>
          <a:p>
            <a:pPr marL="0" indent="0">
              <a:buNone/>
            </a:pPr>
            <a:endParaRPr lang="en-US" dirty="0"/>
          </a:p>
        </p:txBody>
      </p:sp>
      <p:sp>
        <p:nvSpPr>
          <p:cNvPr id="7" name="Text 4"/>
          <p:cNvSpPr/>
          <p:nvPr/>
        </p:nvSpPr>
        <p:spPr>
          <a:xfrm>
            <a:off x="457200" y="400050"/>
            <a:ext cx="1016645" cy="189309"/>
          </a:xfrm>
          <a:prstGeom prst="rect">
            <a:avLst/>
          </a:prstGeom>
          <a:noFill/>
          <a:ln/>
        </p:spPr>
        <p:txBody>
          <a:bodyPr wrap="none" lIns="0" tIns="0" rIns="0" bIns="0" rtlCol="0" anchor="ctr"/>
          <a:lstStyle/>
          <a:p>
            <a:pPr marL="0" indent="0" algn="ctr">
              <a:lnSpc>
                <a:spcPts val="928"/>
              </a:lnSpc>
              <a:buNone/>
            </a:pPr>
            <a:r>
              <a:rPr lang="en-US" sz="800" kern="0" spc="74" dirty="0">
                <a:solidFill>
                  <a:srgbClr val="00E5FF"/>
                </a:solidFill>
                <a:latin typeface="Courier New" pitchFamily="34" charset="0"/>
                <a:ea typeface="Courier New" pitchFamily="34" charset="-122"/>
                <a:cs typeface="Courier New" pitchFamily="34" charset="-120"/>
              </a:rPr>
              <a:t>PATENT STRATEGY</a:t>
            </a:r>
            <a:endParaRPr lang="en-US" sz="800" dirty="0"/>
          </a:p>
        </p:txBody>
      </p:sp>
      <p:sp>
        <p:nvSpPr>
          <p:cNvPr id="8" name="Text 5"/>
          <p:cNvSpPr/>
          <p:nvPr/>
        </p:nvSpPr>
        <p:spPr>
          <a:xfrm>
            <a:off x="1559570" y="435769"/>
            <a:ext cx="7127230" cy="164592"/>
          </a:xfrm>
          <a:prstGeom prst="rect">
            <a:avLst/>
          </a:prstGeom>
          <a:noFill/>
          <a:ln/>
        </p:spPr>
        <p:txBody>
          <a:bodyPr wrap="square" lIns="0" tIns="0" rIns="0" bIns="0" rtlCol="0" anchor="t"/>
          <a:lstStyle/>
          <a:p>
            <a:pPr marL="0" indent="0" algn="l">
              <a:lnSpc>
                <a:spcPts val="928"/>
              </a:lnSpc>
              <a:buNone/>
            </a:pPr>
            <a:r>
              <a:rPr lang="en-US" sz="800" kern="0" spc="87" dirty="0">
                <a:solidFill>
                  <a:srgbClr val="6B7494"/>
                </a:solidFill>
                <a:latin typeface="Courier New" pitchFamily="34" charset="0"/>
                <a:ea typeface="Courier New" pitchFamily="34" charset="-122"/>
                <a:cs typeface="Courier New" pitchFamily="34" charset="-120"/>
              </a:rPr>
              <a:t>/ IP DEFENSIBILITY</a:t>
            </a:r>
            <a:endParaRPr lang="en-US" sz="800" dirty="0"/>
          </a:p>
        </p:txBody>
      </p:sp>
      <p:sp>
        <p:nvSpPr>
          <p:cNvPr id="9" name="Text 6"/>
          <p:cNvSpPr/>
          <p:nvPr/>
        </p:nvSpPr>
        <p:spPr>
          <a:xfrm>
            <a:off x="457200" y="675084"/>
            <a:ext cx="8636000" cy="366595"/>
          </a:xfrm>
          <a:prstGeom prst="rect">
            <a:avLst/>
          </a:prstGeom>
          <a:noFill/>
          <a:ln/>
        </p:spPr>
        <p:txBody>
          <a:bodyPr wrap="square" lIns="0" tIns="0" rIns="0" bIns="0" rtlCol="0" anchor="t"/>
          <a:lstStyle/>
          <a:p>
            <a:pPr marL="0" indent="0" algn="l">
              <a:lnSpc>
                <a:spcPts val="2673"/>
              </a:lnSpc>
              <a:buNone/>
            </a:pPr>
            <a:r>
              <a:rPr lang="en-US" sz="2475" b="1" kern="0" spc="-30" dirty="0">
                <a:solidFill>
                  <a:srgbClr val="E6F1FF"/>
                </a:solidFill>
                <a:latin typeface="Carlito" pitchFamily="34" charset="0"/>
                <a:ea typeface="Carlito" pitchFamily="34" charset="-122"/>
                <a:cs typeface="Carlito" pitchFamily="34" charset="-120"/>
              </a:rPr>
              <a:t>Why This is </a:t>
            </a:r>
            <a:r>
              <a:rPr lang="en-US" sz="2475" b="1" kern="0" spc="-30" dirty="0">
                <a:solidFill>
                  <a:srgbClr val="00E5FF"/>
                </a:solidFill>
                <a:latin typeface="Carlito" pitchFamily="34" charset="0"/>
                <a:ea typeface="Carlito" pitchFamily="34" charset="-122"/>
                <a:cs typeface="Carlito" pitchFamily="34" charset="-120"/>
              </a:rPr>
              <a:t>Highly Patentable</a:t>
            </a:r>
            <a:endParaRPr lang="en-US" sz="2475" dirty="0"/>
          </a:p>
        </p:txBody>
      </p:sp>
      <p:pic>
        <p:nvPicPr>
          <p:cNvPr id="10" name="Image 1" descr="preencoded.png"/>
          <p:cNvPicPr>
            <a:picLocks noChangeAspect="1"/>
          </p:cNvPicPr>
          <p:nvPr/>
        </p:nvPicPr>
        <p:blipFill>
          <a:blip r:embed="rId4"/>
          <a:stretch>
            <a:fillRect/>
          </a:stretch>
        </p:blipFill>
        <p:spPr>
          <a:xfrm>
            <a:off x="457200" y="1157399"/>
            <a:ext cx="2666963" cy="1200150"/>
          </a:xfrm>
          <a:prstGeom prst="rect">
            <a:avLst/>
          </a:prstGeom>
        </p:spPr>
      </p:pic>
      <p:sp>
        <p:nvSpPr>
          <p:cNvPr id="11" name="Text 7"/>
          <p:cNvSpPr/>
          <p:nvPr/>
        </p:nvSpPr>
        <p:spPr>
          <a:xfrm>
            <a:off x="460772" y="1160971"/>
            <a:ext cx="2659819" cy="1193006"/>
          </a:xfrm>
          <a:prstGeom prst="roundRect">
            <a:avLst>
              <a:gd name="adj" fmla="val 11178"/>
            </a:avLst>
          </a:prstGeom>
          <a:noFill/>
          <a:ln w="7144">
            <a:solidFill>
              <a:srgbClr val="00E5FF"/>
            </a:solidFill>
            <a:prstDash val="solid"/>
          </a:ln>
        </p:spPr>
        <p:txBody>
          <a:bodyPr wrap="square" rtlCol="0" anchor="ctr"/>
          <a:lstStyle/>
          <a:p>
            <a:pPr marL="0" indent="0">
              <a:buNone/>
            </a:pPr>
            <a:endParaRPr lang="en-US" dirty="0"/>
          </a:p>
        </p:txBody>
      </p:sp>
      <p:sp>
        <p:nvSpPr>
          <p:cNvPr id="12" name="Text 8"/>
          <p:cNvSpPr/>
          <p:nvPr/>
        </p:nvSpPr>
        <p:spPr>
          <a:xfrm>
            <a:off x="2407304" y="1893205"/>
            <a:ext cx="725371" cy="342900"/>
          </a:xfrm>
          <a:prstGeom prst="rect">
            <a:avLst/>
          </a:prstGeom>
          <a:noFill/>
          <a:ln/>
        </p:spPr>
        <p:txBody>
          <a:bodyPr wrap="none" lIns="0" tIns="0" rIns="0" bIns="0" rtlCol="0" anchor="t"/>
          <a:lstStyle/>
          <a:p>
            <a:pPr marL="0" indent="0" algn="l">
              <a:lnSpc>
                <a:spcPts val="3150"/>
              </a:lnSpc>
              <a:buNone/>
            </a:pPr>
            <a:r>
              <a:rPr lang="en-US" sz="3150" b="1" dirty="0">
                <a:solidFill>
                  <a:srgbClr val="FFFFFF">
                    <a:alpha val="4000"/>
                  </a:srgbClr>
                </a:solidFill>
                <a:latin typeface="Liberation Sans Narrow" pitchFamily="34" charset="0"/>
                <a:ea typeface="Liberation Sans Narrow" pitchFamily="34" charset="-122"/>
                <a:cs typeface="Liberation Sans Narrow" pitchFamily="34" charset="-120"/>
              </a:rPr>
              <a:t>01</a:t>
            </a:r>
            <a:endParaRPr lang="en-US" sz="3150" dirty="0"/>
          </a:p>
        </p:txBody>
      </p:sp>
      <p:sp>
        <p:nvSpPr>
          <p:cNvPr id="13" name="Text 9"/>
          <p:cNvSpPr/>
          <p:nvPr/>
        </p:nvSpPr>
        <p:spPr>
          <a:xfrm>
            <a:off x="483252" y="1238766"/>
            <a:ext cx="1073281" cy="207955"/>
          </a:xfrm>
          <a:prstGeom prst="roundRect">
            <a:avLst>
              <a:gd name="adj" fmla="val 4757143"/>
            </a:avLst>
          </a:prstGeom>
          <a:solidFill>
            <a:srgbClr val="00E5FF">
              <a:alpha val="12000"/>
            </a:srgbClr>
          </a:solidFill>
          <a:ln w="7144">
            <a:solidFill>
              <a:srgbClr val="00E5FF"/>
            </a:solidFill>
            <a:prstDash val="solid"/>
          </a:ln>
        </p:spPr>
        <p:txBody>
          <a:bodyPr wrap="square" rtlCol="0" anchor="ctr"/>
          <a:lstStyle/>
          <a:p>
            <a:pPr marL="0" indent="0">
              <a:buNone/>
            </a:pPr>
            <a:endParaRPr lang="en-US" dirty="0"/>
          </a:p>
        </p:txBody>
      </p:sp>
      <p:sp>
        <p:nvSpPr>
          <p:cNvPr id="14" name="Text 10"/>
          <p:cNvSpPr/>
          <p:nvPr/>
        </p:nvSpPr>
        <p:spPr>
          <a:xfrm>
            <a:off x="550069" y="1271977"/>
            <a:ext cx="994664" cy="178594"/>
          </a:xfrm>
          <a:prstGeom prst="rect">
            <a:avLst/>
          </a:prstGeom>
          <a:noFill/>
          <a:ln/>
        </p:spPr>
        <p:txBody>
          <a:bodyPr wrap="none" lIns="0" tIns="0" rIns="0" bIns="0" rtlCol="0" anchor="ctr"/>
          <a:lstStyle/>
          <a:p>
            <a:pPr marL="0" indent="0" algn="ctr">
              <a:lnSpc>
                <a:spcPts val="844"/>
              </a:lnSpc>
              <a:buNone/>
            </a:pPr>
            <a:r>
              <a:rPr lang="en-US" sz="800" kern="0" spc="101" dirty="0">
                <a:solidFill>
                  <a:srgbClr val="00E5FF"/>
                </a:solidFill>
                <a:latin typeface="Liberation Sans Narrow" pitchFamily="34" charset="0"/>
                <a:ea typeface="Liberation Sans Narrow" pitchFamily="34" charset="-122"/>
                <a:cs typeface="Liberation Sans Narrow" pitchFamily="34" charset="-120"/>
              </a:rPr>
              <a:t>NOVEL CLAIM 01</a:t>
            </a:r>
            <a:endParaRPr lang="en-US" sz="800" dirty="0"/>
          </a:p>
        </p:txBody>
      </p:sp>
      <p:sp>
        <p:nvSpPr>
          <p:cNvPr id="15" name="Text 11"/>
          <p:cNvSpPr/>
          <p:nvPr/>
        </p:nvSpPr>
        <p:spPr>
          <a:xfrm>
            <a:off x="2845557" y="1289558"/>
            <a:ext cx="157163" cy="157163"/>
          </a:xfrm>
          <a:prstGeom prst="rect">
            <a:avLst/>
          </a:prstGeom>
          <a:noFill/>
          <a:ln/>
        </p:spPr>
        <p:txBody>
          <a:bodyPr wrap="none" lIns="0" tIns="0" rIns="0" bIns="0" rtlCol="0" anchor="ctr"/>
          <a:lstStyle/>
          <a:p>
            <a:pPr marL="0" indent="0" algn="ctr">
              <a:buNone/>
            </a:pPr>
            <a:r>
              <a:rPr lang="en-US" sz="1547" dirty="0">
                <a:solidFill>
                  <a:srgbClr val="00E5FF"/>
                </a:solidFill>
                <a:latin typeface="Segoe UI Symbol" pitchFamily="34" charset="0"/>
                <a:ea typeface="Segoe UI Symbol" pitchFamily="34" charset="-122"/>
                <a:cs typeface="Segoe UI Symbol" pitchFamily="34" charset="-120"/>
              </a:rPr>
              <a:t>✦</a:t>
            </a:r>
            <a:endParaRPr lang="en-US" sz="1547" dirty="0"/>
          </a:p>
        </p:txBody>
      </p:sp>
      <p:sp>
        <p:nvSpPr>
          <p:cNvPr id="16" name="Text 12"/>
          <p:cNvSpPr/>
          <p:nvPr/>
        </p:nvSpPr>
        <p:spPr>
          <a:xfrm>
            <a:off x="578644" y="1543162"/>
            <a:ext cx="2424075" cy="520056"/>
          </a:xfrm>
          <a:prstGeom prst="rect">
            <a:avLst/>
          </a:prstGeom>
          <a:noFill/>
          <a:ln/>
        </p:spPr>
        <p:txBody>
          <a:bodyPr wrap="square" lIns="0" tIns="0" rIns="0" bIns="0" rtlCol="0" anchor="t"/>
          <a:lstStyle/>
          <a:p>
            <a:pPr marL="0" indent="0" algn="l">
              <a:lnSpc>
                <a:spcPts val="1264"/>
              </a:lnSpc>
              <a:buNone/>
            </a:pPr>
            <a:r>
              <a:rPr lang="en-US" sz="816" dirty="0">
                <a:solidFill>
                  <a:srgbClr val="E6F1FF"/>
                </a:solidFill>
                <a:latin typeface="Carlito" pitchFamily="34" charset="0"/>
                <a:ea typeface="Carlito" pitchFamily="34" charset="-122"/>
                <a:cs typeface="Carlito" pitchFamily="34" charset="-120"/>
              </a:rPr>
              <a:t>The method of using </a:t>
            </a:r>
            <a:r>
              <a:rPr lang="en-US" sz="816" dirty="0">
                <a:solidFill>
                  <a:srgbClr val="00E5FF"/>
                </a:solidFill>
                <a:latin typeface="Carlito" pitchFamily="34" charset="0"/>
                <a:ea typeface="Carlito" pitchFamily="34" charset="-122"/>
                <a:cs typeface="Carlito" pitchFamily="34" charset="-120"/>
              </a:rPr>
              <a:t>Generative Diffusion Models</a:t>
            </a:r>
            <a:r>
              <a:rPr lang="en-US" sz="816" dirty="0">
                <a:solidFill>
                  <a:srgbClr val="E6F1FF"/>
                </a:solidFill>
                <a:latin typeface="Carlito" pitchFamily="34" charset="0"/>
                <a:ea typeface="Carlito" pitchFamily="34" charset="-122"/>
                <a:cs typeface="Carlito" pitchFamily="34" charset="-120"/>
              </a:rPr>
              <a:t> to create hypothetical future time-series telemetry for network testing.</a:t>
            </a:r>
            <a:endParaRPr lang="en-US" sz="816" dirty="0"/>
          </a:p>
        </p:txBody>
      </p:sp>
      <p:pic>
        <p:nvPicPr>
          <p:cNvPr id="17" name="Image 2" descr="preencoded.png"/>
          <p:cNvPicPr>
            <a:picLocks noChangeAspect="1"/>
          </p:cNvPicPr>
          <p:nvPr/>
        </p:nvPicPr>
        <p:blipFill>
          <a:blip r:embed="rId5"/>
          <a:stretch>
            <a:fillRect/>
          </a:stretch>
        </p:blipFill>
        <p:spPr>
          <a:xfrm>
            <a:off x="3238463" y="1157399"/>
            <a:ext cx="2666963" cy="1200150"/>
          </a:xfrm>
          <a:prstGeom prst="rect">
            <a:avLst/>
          </a:prstGeom>
        </p:spPr>
      </p:pic>
      <p:sp>
        <p:nvSpPr>
          <p:cNvPr id="18" name="Text 13"/>
          <p:cNvSpPr/>
          <p:nvPr/>
        </p:nvSpPr>
        <p:spPr>
          <a:xfrm>
            <a:off x="3242035" y="1160971"/>
            <a:ext cx="2659819" cy="1193006"/>
          </a:xfrm>
          <a:prstGeom prst="roundRect">
            <a:avLst>
              <a:gd name="adj" fmla="val 11178"/>
            </a:avLst>
          </a:prstGeom>
          <a:noFill/>
          <a:ln w="7144">
            <a:solidFill>
              <a:srgbClr val="7C4DFF"/>
            </a:solidFill>
            <a:prstDash val="solid"/>
          </a:ln>
        </p:spPr>
        <p:txBody>
          <a:bodyPr wrap="square" rtlCol="0" anchor="ctr"/>
          <a:lstStyle/>
          <a:p>
            <a:pPr marL="0" indent="0">
              <a:buNone/>
            </a:pPr>
            <a:endParaRPr lang="en-US" dirty="0"/>
          </a:p>
        </p:txBody>
      </p:sp>
      <p:sp>
        <p:nvSpPr>
          <p:cNvPr id="19" name="Text 14"/>
          <p:cNvSpPr/>
          <p:nvPr/>
        </p:nvSpPr>
        <p:spPr>
          <a:xfrm>
            <a:off x="5188567" y="1893205"/>
            <a:ext cx="725371" cy="342900"/>
          </a:xfrm>
          <a:prstGeom prst="rect">
            <a:avLst/>
          </a:prstGeom>
          <a:noFill/>
          <a:ln/>
        </p:spPr>
        <p:txBody>
          <a:bodyPr wrap="none" lIns="0" tIns="0" rIns="0" bIns="0" rtlCol="0" anchor="t"/>
          <a:lstStyle/>
          <a:p>
            <a:pPr marL="0" indent="0" algn="l">
              <a:lnSpc>
                <a:spcPts val="3150"/>
              </a:lnSpc>
              <a:buNone/>
            </a:pPr>
            <a:r>
              <a:rPr lang="en-US" sz="3150" b="1" dirty="0">
                <a:solidFill>
                  <a:srgbClr val="FFFFFF">
                    <a:alpha val="4000"/>
                  </a:srgbClr>
                </a:solidFill>
                <a:latin typeface="Liberation Sans Narrow" pitchFamily="34" charset="0"/>
                <a:ea typeface="Liberation Sans Narrow" pitchFamily="34" charset="-122"/>
                <a:cs typeface="Liberation Sans Narrow" pitchFamily="34" charset="-120"/>
              </a:rPr>
              <a:t>02</a:t>
            </a:r>
            <a:endParaRPr lang="en-US" sz="3150" dirty="0"/>
          </a:p>
        </p:txBody>
      </p:sp>
      <p:sp>
        <p:nvSpPr>
          <p:cNvPr id="20" name="Text 15"/>
          <p:cNvSpPr/>
          <p:nvPr/>
        </p:nvSpPr>
        <p:spPr>
          <a:xfrm>
            <a:off x="3267826" y="1229029"/>
            <a:ext cx="1056587" cy="217692"/>
          </a:xfrm>
          <a:prstGeom prst="roundRect">
            <a:avLst>
              <a:gd name="adj" fmla="val 4757143"/>
            </a:avLst>
          </a:prstGeom>
          <a:solidFill>
            <a:srgbClr val="7C4DFF">
              <a:alpha val="16000"/>
            </a:srgbClr>
          </a:solidFill>
          <a:ln w="7144">
            <a:solidFill>
              <a:srgbClr val="7C4DFF"/>
            </a:solidFill>
            <a:prstDash val="solid"/>
          </a:ln>
        </p:spPr>
        <p:txBody>
          <a:bodyPr wrap="square" rtlCol="0" anchor="ctr"/>
          <a:lstStyle/>
          <a:p>
            <a:pPr marL="0" indent="0">
              <a:buNone/>
            </a:pPr>
            <a:endParaRPr lang="en-US" dirty="0"/>
          </a:p>
        </p:txBody>
      </p:sp>
      <p:sp>
        <p:nvSpPr>
          <p:cNvPr id="21" name="Text 16"/>
          <p:cNvSpPr/>
          <p:nvPr/>
        </p:nvSpPr>
        <p:spPr>
          <a:xfrm>
            <a:off x="3326704" y="1260567"/>
            <a:ext cx="938829" cy="171728"/>
          </a:xfrm>
          <a:prstGeom prst="rect">
            <a:avLst/>
          </a:prstGeom>
          <a:noFill/>
          <a:ln/>
        </p:spPr>
        <p:txBody>
          <a:bodyPr wrap="none" lIns="0" tIns="0" rIns="0" bIns="0" rtlCol="0" anchor="ctr"/>
          <a:lstStyle/>
          <a:p>
            <a:pPr marL="0" indent="0" algn="ctr">
              <a:lnSpc>
                <a:spcPts val="844"/>
              </a:lnSpc>
              <a:buNone/>
            </a:pPr>
            <a:r>
              <a:rPr lang="en-US" sz="800" kern="0" spc="101" dirty="0">
                <a:solidFill>
                  <a:srgbClr val="B59CFF"/>
                </a:solidFill>
                <a:latin typeface="Liberation Sans Narrow" pitchFamily="34" charset="0"/>
                <a:ea typeface="Liberation Sans Narrow" pitchFamily="34" charset="-122"/>
                <a:cs typeface="Liberation Sans Narrow" pitchFamily="34" charset="-120"/>
              </a:rPr>
              <a:t>NOVEL CLAIM 02</a:t>
            </a:r>
            <a:endParaRPr lang="en-US" sz="800" dirty="0"/>
          </a:p>
        </p:txBody>
      </p:sp>
      <p:sp>
        <p:nvSpPr>
          <p:cNvPr id="22" name="Text 17"/>
          <p:cNvSpPr/>
          <p:nvPr/>
        </p:nvSpPr>
        <p:spPr>
          <a:xfrm>
            <a:off x="5626819" y="1289558"/>
            <a:ext cx="157163" cy="157163"/>
          </a:xfrm>
          <a:prstGeom prst="rect">
            <a:avLst/>
          </a:prstGeom>
          <a:noFill/>
          <a:ln/>
        </p:spPr>
        <p:txBody>
          <a:bodyPr wrap="none" lIns="0" tIns="0" rIns="0" bIns="0" rtlCol="0" anchor="ctr"/>
          <a:lstStyle/>
          <a:p>
            <a:pPr marL="0" indent="0" algn="ctr">
              <a:buNone/>
            </a:pPr>
            <a:r>
              <a:rPr lang="en-US" sz="1547" dirty="0">
                <a:solidFill>
                  <a:srgbClr val="B59CFF"/>
                </a:solidFill>
                <a:latin typeface="Segoe UI Symbol" pitchFamily="34" charset="0"/>
                <a:ea typeface="Segoe UI Symbol" pitchFamily="34" charset="-122"/>
                <a:cs typeface="Segoe UI Symbol" pitchFamily="34" charset="-120"/>
              </a:rPr>
              <a:t>✦</a:t>
            </a:r>
            <a:endParaRPr lang="en-US" sz="1547" dirty="0"/>
          </a:p>
        </p:txBody>
      </p:sp>
      <p:sp>
        <p:nvSpPr>
          <p:cNvPr id="23" name="Text 18"/>
          <p:cNvSpPr/>
          <p:nvPr/>
        </p:nvSpPr>
        <p:spPr>
          <a:xfrm>
            <a:off x="3359907" y="1543162"/>
            <a:ext cx="2424075" cy="520056"/>
          </a:xfrm>
          <a:prstGeom prst="rect">
            <a:avLst/>
          </a:prstGeom>
          <a:noFill/>
          <a:ln/>
        </p:spPr>
        <p:txBody>
          <a:bodyPr wrap="square" lIns="0" tIns="0" rIns="0" bIns="0" rtlCol="0" anchor="t"/>
          <a:lstStyle/>
          <a:p>
            <a:pPr marL="0" indent="0" algn="l">
              <a:lnSpc>
                <a:spcPts val="1264"/>
              </a:lnSpc>
              <a:buNone/>
            </a:pPr>
            <a:r>
              <a:rPr lang="en-US" sz="816" dirty="0">
                <a:solidFill>
                  <a:srgbClr val="E6F1FF"/>
                </a:solidFill>
                <a:latin typeface="Carlito" pitchFamily="34" charset="0"/>
                <a:ea typeface="Carlito" pitchFamily="34" charset="-122"/>
                <a:cs typeface="Carlito" pitchFamily="34" charset="-120"/>
              </a:rPr>
              <a:t>An </a:t>
            </a:r>
            <a:r>
              <a:rPr lang="en-US" sz="816" dirty="0">
                <a:solidFill>
                  <a:srgbClr val="B59CFF"/>
                </a:solidFill>
                <a:latin typeface="Carlito" pitchFamily="34" charset="0"/>
                <a:ea typeface="Carlito" pitchFamily="34" charset="-122"/>
                <a:cs typeface="Carlito" pitchFamily="34" charset="-120"/>
              </a:rPr>
              <a:t>Agentic Causal Loop</a:t>
            </a:r>
            <a:r>
              <a:rPr lang="en-US" sz="816" dirty="0">
                <a:solidFill>
                  <a:srgbClr val="E6F1FF"/>
                </a:solidFill>
                <a:latin typeface="Carlito" pitchFamily="34" charset="0"/>
                <a:ea typeface="Carlito" pitchFamily="34" charset="-122"/>
                <a:cs typeface="Carlito" pitchFamily="34" charset="-120"/>
              </a:rPr>
              <a:t> where AI agents query a generative model for counterfactual data to determine physical root causes.</a:t>
            </a:r>
            <a:endParaRPr lang="en-US" sz="816" dirty="0"/>
          </a:p>
        </p:txBody>
      </p:sp>
      <p:pic>
        <p:nvPicPr>
          <p:cNvPr id="24" name="Image 3" descr="preencoded.png"/>
          <p:cNvPicPr>
            <a:picLocks noChangeAspect="1"/>
          </p:cNvPicPr>
          <p:nvPr/>
        </p:nvPicPr>
        <p:blipFill>
          <a:blip r:embed="rId4"/>
          <a:stretch>
            <a:fillRect/>
          </a:stretch>
        </p:blipFill>
        <p:spPr>
          <a:xfrm>
            <a:off x="6019726" y="1157399"/>
            <a:ext cx="2667074" cy="1200150"/>
          </a:xfrm>
          <a:prstGeom prst="rect">
            <a:avLst/>
          </a:prstGeom>
        </p:spPr>
      </p:pic>
      <p:sp>
        <p:nvSpPr>
          <p:cNvPr id="25" name="Text 19"/>
          <p:cNvSpPr/>
          <p:nvPr/>
        </p:nvSpPr>
        <p:spPr>
          <a:xfrm>
            <a:off x="6023297" y="1160971"/>
            <a:ext cx="2659931" cy="1193006"/>
          </a:xfrm>
          <a:prstGeom prst="roundRect">
            <a:avLst>
              <a:gd name="adj" fmla="val 11178"/>
            </a:avLst>
          </a:prstGeom>
          <a:noFill/>
          <a:ln w="7144">
            <a:solidFill>
              <a:srgbClr val="00E5FF"/>
            </a:solidFill>
            <a:prstDash val="solid"/>
          </a:ln>
        </p:spPr>
        <p:txBody>
          <a:bodyPr wrap="square" rtlCol="0" anchor="ctr"/>
          <a:lstStyle/>
          <a:p>
            <a:pPr marL="0" indent="0">
              <a:buNone/>
            </a:pPr>
            <a:endParaRPr lang="en-US" dirty="0"/>
          </a:p>
        </p:txBody>
      </p:sp>
      <p:sp>
        <p:nvSpPr>
          <p:cNvPr id="26" name="Text 20"/>
          <p:cNvSpPr/>
          <p:nvPr/>
        </p:nvSpPr>
        <p:spPr>
          <a:xfrm>
            <a:off x="7969941" y="1893205"/>
            <a:ext cx="725371" cy="342900"/>
          </a:xfrm>
          <a:prstGeom prst="rect">
            <a:avLst/>
          </a:prstGeom>
          <a:noFill/>
          <a:ln/>
        </p:spPr>
        <p:txBody>
          <a:bodyPr wrap="none" lIns="0" tIns="0" rIns="0" bIns="0" rtlCol="0" anchor="t"/>
          <a:lstStyle/>
          <a:p>
            <a:pPr marL="0" indent="0" algn="l">
              <a:lnSpc>
                <a:spcPts val="3150"/>
              </a:lnSpc>
              <a:buNone/>
            </a:pPr>
            <a:r>
              <a:rPr lang="en-US" sz="3150" b="1" dirty="0">
                <a:solidFill>
                  <a:srgbClr val="FFFFFF">
                    <a:alpha val="4000"/>
                  </a:srgbClr>
                </a:solidFill>
                <a:latin typeface="Liberation Sans Narrow" pitchFamily="34" charset="0"/>
                <a:ea typeface="Liberation Sans Narrow" pitchFamily="34" charset="-122"/>
                <a:cs typeface="Liberation Sans Narrow" pitchFamily="34" charset="-120"/>
              </a:rPr>
              <a:t>03</a:t>
            </a:r>
            <a:endParaRPr lang="en-US" sz="3150" dirty="0"/>
          </a:p>
        </p:txBody>
      </p:sp>
      <p:sp>
        <p:nvSpPr>
          <p:cNvPr id="27" name="Text 21"/>
          <p:cNvSpPr/>
          <p:nvPr/>
        </p:nvSpPr>
        <p:spPr>
          <a:xfrm>
            <a:off x="6089521" y="1235119"/>
            <a:ext cx="1025653" cy="215849"/>
          </a:xfrm>
          <a:prstGeom prst="roundRect">
            <a:avLst>
              <a:gd name="adj" fmla="val 4757143"/>
            </a:avLst>
          </a:prstGeom>
          <a:solidFill>
            <a:srgbClr val="00E5FF">
              <a:alpha val="12000"/>
            </a:srgbClr>
          </a:solidFill>
          <a:ln w="7144">
            <a:solidFill>
              <a:srgbClr val="00E5FF"/>
            </a:solidFill>
            <a:prstDash val="solid"/>
          </a:ln>
        </p:spPr>
        <p:txBody>
          <a:bodyPr wrap="square" rtlCol="0" anchor="ctr"/>
          <a:lstStyle/>
          <a:p>
            <a:pPr marL="0" indent="0">
              <a:buNone/>
            </a:pPr>
            <a:endParaRPr lang="en-US" dirty="0"/>
          </a:p>
        </p:txBody>
      </p:sp>
      <p:sp>
        <p:nvSpPr>
          <p:cNvPr id="28" name="Text 22"/>
          <p:cNvSpPr/>
          <p:nvPr/>
        </p:nvSpPr>
        <p:spPr>
          <a:xfrm>
            <a:off x="6147985" y="1278843"/>
            <a:ext cx="938403" cy="167878"/>
          </a:xfrm>
          <a:prstGeom prst="rect">
            <a:avLst/>
          </a:prstGeom>
          <a:noFill/>
          <a:ln/>
        </p:spPr>
        <p:txBody>
          <a:bodyPr wrap="none" lIns="0" tIns="0" rIns="0" bIns="0" rtlCol="0" anchor="ctr"/>
          <a:lstStyle/>
          <a:p>
            <a:pPr marL="0" indent="0" algn="ctr">
              <a:lnSpc>
                <a:spcPts val="844"/>
              </a:lnSpc>
              <a:buNone/>
            </a:pPr>
            <a:r>
              <a:rPr lang="en-US" sz="800" kern="0" spc="101" dirty="0">
                <a:solidFill>
                  <a:srgbClr val="00E5FF"/>
                </a:solidFill>
                <a:latin typeface="Liberation Sans Narrow" pitchFamily="34" charset="0"/>
                <a:ea typeface="Liberation Sans Narrow" pitchFamily="34" charset="-122"/>
                <a:cs typeface="Liberation Sans Narrow" pitchFamily="34" charset="-120"/>
              </a:rPr>
              <a:t>NOVEL CLAIM 03</a:t>
            </a:r>
            <a:endParaRPr lang="en-US" sz="800" dirty="0"/>
          </a:p>
        </p:txBody>
      </p:sp>
      <p:sp>
        <p:nvSpPr>
          <p:cNvPr id="29" name="Text 23"/>
          <p:cNvSpPr/>
          <p:nvPr/>
        </p:nvSpPr>
        <p:spPr>
          <a:xfrm>
            <a:off x="8408194" y="1289558"/>
            <a:ext cx="157163" cy="157163"/>
          </a:xfrm>
          <a:prstGeom prst="rect">
            <a:avLst/>
          </a:prstGeom>
          <a:noFill/>
          <a:ln/>
        </p:spPr>
        <p:txBody>
          <a:bodyPr wrap="none" lIns="0" tIns="0" rIns="0" bIns="0" rtlCol="0" anchor="ctr"/>
          <a:lstStyle/>
          <a:p>
            <a:pPr marL="0" indent="0" algn="ctr">
              <a:buNone/>
            </a:pPr>
            <a:r>
              <a:rPr lang="en-US" sz="1547" dirty="0">
                <a:solidFill>
                  <a:srgbClr val="00E5FF"/>
                </a:solidFill>
                <a:latin typeface="Segoe UI Symbol" pitchFamily="34" charset="0"/>
                <a:ea typeface="Segoe UI Symbol" pitchFamily="34" charset="-122"/>
                <a:cs typeface="Segoe UI Symbol" pitchFamily="34" charset="-120"/>
              </a:rPr>
              <a:t>✿</a:t>
            </a:r>
            <a:endParaRPr lang="en-US" sz="1547" dirty="0"/>
          </a:p>
        </p:txBody>
      </p:sp>
      <p:sp>
        <p:nvSpPr>
          <p:cNvPr id="30" name="Text 24"/>
          <p:cNvSpPr/>
          <p:nvPr/>
        </p:nvSpPr>
        <p:spPr>
          <a:xfrm>
            <a:off x="6141169" y="1543162"/>
            <a:ext cx="2424187" cy="520056"/>
          </a:xfrm>
          <a:prstGeom prst="rect">
            <a:avLst/>
          </a:prstGeom>
          <a:noFill/>
          <a:ln/>
        </p:spPr>
        <p:txBody>
          <a:bodyPr wrap="square" lIns="0" tIns="0" rIns="0" bIns="0" rtlCol="0" anchor="t"/>
          <a:lstStyle/>
          <a:p>
            <a:pPr marL="0" indent="0" algn="l">
              <a:lnSpc>
                <a:spcPts val="1264"/>
              </a:lnSpc>
              <a:buNone/>
            </a:pPr>
            <a:r>
              <a:rPr lang="en-US" sz="816" dirty="0">
                <a:solidFill>
                  <a:srgbClr val="00E5FF"/>
                </a:solidFill>
                <a:latin typeface="Carlito" pitchFamily="34" charset="0"/>
                <a:ea typeface="Carlito" pitchFamily="34" charset="-122"/>
                <a:cs typeface="Carlito" pitchFamily="34" charset="-120"/>
              </a:rPr>
              <a:t>Topology-aware synthetic data</a:t>
            </a:r>
            <a:r>
              <a:rPr lang="en-US" sz="816" dirty="0">
                <a:solidFill>
                  <a:srgbClr val="E6F1FF"/>
                </a:solidFill>
                <a:latin typeface="Carlito" pitchFamily="34" charset="0"/>
                <a:ea typeface="Carlito" pitchFamily="34" charset="-122"/>
                <a:cs typeface="Carlito" pitchFamily="34" charset="-120"/>
              </a:rPr>
              <a:t> generation constrained by Graph Neural Networks (AI that obeys physical network laws).</a:t>
            </a:r>
            <a:endParaRPr lang="en-US" sz="816" dirty="0"/>
          </a:p>
        </p:txBody>
      </p:sp>
      <p:sp>
        <p:nvSpPr>
          <p:cNvPr id="31" name="Text 25"/>
          <p:cNvSpPr/>
          <p:nvPr/>
        </p:nvSpPr>
        <p:spPr>
          <a:xfrm>
            <a:off x="460772" y="2503996"/>
            <a:ext cx="4104084" cy="1072902"/>
          </a:xfrm>
          <a:prstGeom prst="roundRect">
            <a:avLst>
              <a:gd name="adj" fmla="val 12429"/>
            </a:avLst>
          </a:prstGeom>
          <a:solidFill>
            <a:srgbClr val="FFFFFF">
              <a:alpha val="4000"/>
            </a:srgbClr>
          </a:solidFill>
          <a:ln w="7144">
            <a:solidFill>
              <a:srgbClr val="FFFFFF"/>
            </a:solidFill>
            <a:prstDash val="solid"/>
          </a:ln>
        </p:spPr>
        <p:txBody>
          <a:bodyPr wrap="square" rtlCol="0" anchor="ctr"/>
          <a:lstStyle/>
          <a:p>
            <a:pPr marL="0" indent="0">
              <a:buNone/>
            </a:pPr>
            <a:endParaRPr lang="en-US" dirty="0"/>
          </a:p>
        </p:txBody>
      </p:sp>
      <p:sp>
        <p:nvSpPr>
          <p:cNvPr id="32" name="Text 26"/>
          <p:cNvSpPr/>
          <p:nvPr/>
        </p:nvSpPr>
        <p:spPr>
          <a:xfrm>
            <a:off x="607219" y="2774900"/>
            <a:ext cx="57150" cy="57150"/>
          </a:xfrm>
          <a:prstGeom prst="ellipse">
            <a:avLst/>
          </a:prstGeom>
          <a:solidFill>
            <a:srgbClr val="6B7494"/>
          </a:solidFill>
          <a:ln/>
        </p:spPr>
        <p:txBody>
          <a:bodyPr wrap="square" rtlCol="0" anchor="ctr"/>
          <a:lstStyle/>
          <a:p>
            <a:pPr marL="0" indent="0">
              <a:buNone/>
            </a:pPr>
            <a:endParaRPr lang="en-US" dirty="0"/>
          </a:p>
        </p:txBody>
      </p:sp>
      <p:sp>
        <p:nvSpPr>
          <p:cNvPr id="33" name="Text 27"/>
          <p:cNvSpPr/>
          <p:nvPr/>
        </p:nvSpPr>
        <p:spPr>
          <a:xfrm>
            <a:off x="721519" y="2744539"/>
            <a:ext cx="3696891" cy="164592"/>
          </a:xfrm>
          <a:prstGeom prst="rect">
            <a:avLst/>
          </a:prstGeom>
          <a:noFill/>
          <a:ln/>
        </p:spPr>
        <p:txBody>
          <a:bodyPr wrap="none" lIns="0" tIns="0" rIns="0" bIns="0" rtlCol="0" anchor="t"/>
          <a:lstStyle/>
          <a:p>
            <a:pPr marL="0" indent="0" algn="l">
              <a:lnSpc>
                <a:spcPts val="928"/>
              </a:lnSpc>
              <a:buNone/>
            </a:pPr>
            <a:r>
              <a:rPr lang="en-US" sz="800" kern="0" spc="87" dirty="0">
                <a:solidFill>
                  <a:srgbClr val="6B7494"/>
                </a:solidFill>
                <a:latin typeface="Courier New" pitchFamily="34" charset="0"/>
                <a:ea typeface="Courier New" pitchFamily="34" charset="-122"/>
                <a:cs typeface="Courier New" pitchFamily="34" charset="-120"/>
              </a:rPr>
              <a:t>CURRENT STATE OF THE ART</a:t>
            </a:r>
            <a:endParaRPr lang="en-US" sz="800" dirty="0"/>
          </a:p>
        </p:txBody>
      </p:sp>
      <p:sp>
        <p:nvSpPr>
          <p:cNvPr id="34" name="Text 28"/>
          <p:cNvSpPr/>
          <p:nvPr/>
        </p:nvSpPr>
        <p:spPr>
          <a:xfrm>
            <a:off x="607219" y="2948136"/>
            <a:ext cx="3920919" cy="203249"/>
          </a:xfrm>
          <a:prstGeom prst="rect">
            <a:avLst/>
          </a:prstGeom>
          <a:noFill/>
          <a:ln/>
        </p:spPr>
        <p:txBody>
          <a:bodyPr wrap="square" lIns="0" tIns="0" rIns="0" bIns="0" rtlCol="0" anchor="t"/>
          <a:lstStyle/>
          <a:p>
            <a:pPr marL="0" indent="0" algn="l">
              <a:lnSpc>
                <a:spcPts val="1482"/>
              </a:lnSpc>
              <a:buNone/>
            </a:pPr>
            <a:r>
              <a:rPr lang="en-US" sz="956" dirty="0">
                <a:solidFill>
                  <a:srgbClr val="A9B4CC"/>
                </a:solidFill>
                <a:latin typeface="Carlito" pitchFamily="34" charset="0"/>
                <a:ea typeface="Carlito" pitchFamily="34" charset="-122"/>
                <a:cs typeface="Carlito" pitchFamily="34" charset="-120"/>
              </a:rPr>
              <a:t>AI predicts failure</a:t>
            </a:r>
            <a:r>
              <a:rPr lang="en-US" sz="956" dirty="0">
                <a:solidFill>
                  <a:srgbClr val="6B7494"/>
                </a:solidFill>
                <a:latin typeface="Courier New" pitchFamily="34" charset="0"/>
                <a:ea typeface="Courier New" pitchFamily="34" charset="-122"/>
                <a:cs typeface="Courier New" pitchFamily="34" charset="-120"/>
              </a:rPr>
              <a:t>→</a:t>
            </a:r>
            <a:r>
              <a:rPr lang="en-US" sz="956" dirty="0">
                <a:solidFill>
                  <a:srgbClr val="A9B4CC"/>
                </a:solidFill>
                <a:latin typeface="Carlito" pitchFamily="34" charset="0"/>
                <a:ea typeface="Carlito" pitchFamily="34" charset="-122"/>
                <a:cs typeface="Carlito" pitchFamily="34" charset="-120"/>
              </a:rPr>
              <a:t>Human writes a script.</a:t>
            </a:r>
            <a:endParaRPr lang="en-US" sz="956" dirty="0"/>
          </a:p>
        </p:txBody>
      </p:sp>
      <p:sp>
        <p:nvSpPr>
          <p:cNvPr id="35" name="Text 29"/>
          <p:cNvSpPr/>
          <p:nvPr/>
        </p:nvSpPr>
        <p:spPr>
          <a:xfrm>
            <a:off x="607219" y="3222054"/>
            <a:ext cx="114300" cy="114300"/>
          </a:xfrm>
          <a:prstGeom prst="rect">
            <a:avLst/>
          </a:prstGeom>
          <a:noFill/>
          <a:ln/>
        </p:spPr>
        <p:txBody>
          <a:bodyPr wrap="none" lIns="0" tIns="0" rIns="0" bIns="0" rtlCol="0" anchor="ctr"/>
          <a:lstStyle/>
          <a:p>
            <a:pPr marL="0" indent="0" algn="ctr">
              <a:buNone/>
            </a:pPr>
            <a:r>
              <a:rPr lang="en-US" sz="1125" dirty="0">
                <a:solidFill>
                  <a:srgbClr val="6B7494"/>
                </a:solidFill>
                <a:latin typeface="Segoe UI Symbol" pitchFamily="34" charset="0"/>
                <a:ea typeface="Segoe UI Symbol" pitchFamily="34" charset="-122"/>
                <a:cs typeface="Segoe UI Symbol" pitchFamily="34" charset="-120"/>
              </a:rPr>
              <a:t>☻</a:t>
            </a:r>
            <a:endParaRPr lang="en-US" sz="1125" dirty="0"/>
          </a:p>
        </p:txBody>
      </p:sp>
      <p:sp>
        <p:nvSpPr>
          <p:cNvPr id="36" name="Text 30"/>
          <p:cNvSpPr/>
          <p:nvPr/>
        </p:nvSpPr>
        <p:spPr>
          <a:xfrm>
            <a:off x="778669" y="3225626"/>
            <a:ext cx="3639741" cy="164592"/>
          </a:xfrm>
          <a:prstGeom prst="rect">
            <a:avLst/>
          </a:prstGeom>
          <a:noFill/>
          <a:ln/>
        </p:spPr>
        <p:txBody>
          <a:bodyPr wrap="square" lIns="0" tIns="0" rIns="0" bIns="0" rtlCol="0" anchor="t"/>
          <a:lstStyle/>
          <a:p>
            <a:pPr marL="0" indent="0" algn="l">
              <a:lnSpc>
                <a:spcPts val="844"/>
              </a:lnSpc>
              <a:buNone/>
            </a:pPr>
            <a:r>
              <a:rPr lang="en-US" sz="800" kern="0" spc="79" dirty="0">
                <a:solidFill>
                  <a:srgbClr val="6B7494"/>
                </a:solidFill>
                <a:latin typeface="Courier New" pitchFamily="34" charset="0"/>
                <a:ea typeface="Courier New" pitchFamily="34" charset="-122"/>
                <a:cs typeface="Courier New" pitchFamily="34" charset="-120"/>
              </a:rPr>
              <a:t>MANUAL REMEDIATION · SLOW · RISKY</a:t>
            </a:r>
            <a:endParaRPr lang="en-US" sz="800" dirty="0"/>
          </a:p>
        </p:txBody>
      </p:sp>
      <p:pic>
        <p:nvPicPr>
          <p:cNvPr id="37" name="Image 4" descr="preencoded.png"/>
          <p:cNvPicPr>
            <a:picLocks noChangeAspect="1"/>
          </p:cNvPicPr>
          <p:nvPr/>
        </p:nvPicPr>
        <p:blipFill>
          <a:blip r:embed="rId6"/>
          <a:stretch>
            <a:fillRect/>
          </a:stretch>
        </p:blipFill>
        <p:spPr>
          <a:xfrm>
            <a:off x="4568428" y="2500424"/>
            <a:ext cx="7144" cy="1080046"/>
          </a:xfrm>
          <a:prstGeom prst="rect">
            <a:avLst/>
          </a:prstGeom>
        </p:spPr>
      </p:pic>
      <p:pic>
        <p:nvPicPr>
          <p:cNvPr id="38" name="Image 5" descr="preencoded.png"/>
          <p:cNvPicPr>
            <a:picLocks noChangeAspect="1"/>
          </p:cNvPicPr>
          <p:nvPr/>
        </p:nvPicPr>
        <p:blipFill>
          <a:blip r:embed="rId7"/>
          <a:stretch>
            <a:fillRect/>
          </a:stretch>
        </p:blipFill>
        <p:spPr>
          <a:xfrm>
            <a:off x="4575572" y="2500424"/>
            <a:ext cx="4111228" cy="1080046"/>
          </a:xfrm>
          <a:prstGeom prst="rect">
            <a:avLst/>
          </a:prstGeom>
        </p:spPr>
      </p:pic>
      <p:sp>
        <p:nvSpPr>
          <p:cNvPr id="39" name="Text 31"/>
          <p:cNvSpPr/>
          <p:nvPr/>
        </p:nvSpPr>
        <p:spPr>
          <a:xfrm>
            <a:off x="4579144" y="2503996"/>
            <a:ext cx="4104084" cy="1072902"/>
          </a:xfrm>
          <a:prstGeom prst="roundRect">
            <a:avLst>
              <a:gd name="adj" fmla="val 12429"/>
            </a:avLst>
          </a:prstGeom>
          <a:noFill/>
          <a:ln w="7144">
            <a:solidFill>
              <a:srgbClr val="00E5FF"/>
            </a:solidFill>
            <a:prstDash val="solid"/>
          </a:ln>
        </p:spPr>
        <p:txBody>
          <a:bodyPr wrap="square" rtlCol="0" anchor="ctr"/>
          <a:lstStyle/>
          <a:p>
            <a:pPr marL="0" indent="0">
              <a:buNone/>
            </a:pPr>
            <a:endParaRPr lang="en-US" dirty="0"/>
          </a:p>
        </p:txBody>
      </p:sp>
      <p:pic>
        <p:nvPicPr>
          <p:cNvPr id="40" name="Image 6" descr="preencoded.png"/>
          <p:cNvPicPr>
            <a:picLocks noChangeAspect="1"/>
          </p:cNvPicPr>
          <p:nvPr/>
        </p:nvPicPr>
        <p:blipFill>
          <a:blip r:embed="rId8"/>
          <a:stretch>
            <a:fillRect/>
          </a:stretch>
        </p:blipFill>
        <p:spPr>
          <a:xfrm>
            <a:off x="4582716" y="2507568"/>
            <a:ext cx="4096941" cy="1065758"/>
          </a:xfrm>
          <a:prstGeom prst="rect">
            <a:avLst/>
          </a:prstGeom>
        </p:spPr>
      </p:pic>
      <p:sp>
        <p:nvSpPr>
          <p:cNvPr id="41" name="Text 32"/>
          <p:cNvSpPr/>
          <p:nvPr/>
        </p:nvSpPr>
        <p:spPr>
          <a:xfrm>
            <a:off x="4582716" y="2507568"/>
            <a:ext cx="4096941" cy="1065758"/>
          </a:xfrm>
          <a:prstGeom prst="rect">
            <a:avLst/>
          </a:prstGeom>
          <a:solidFill>
            <a:srgbClr val="FFFFFF">
              <a:alpha val="0"/>
            </a:srgbClr>
          </a:solidFill>
          <a:ln/>
        </p:spPr>
        <p:txBody>
          <a:bodyPr wrap="square" rtlCol="0" anchor="ctr"/>
          <a:lstStyle/>
          <a:p>
            <a:pPr marL="0" indent="0">
              <a:buNone/>
            </a:pPr>
            <a:endParaRPr lang="en-US" dirty="0"/>
          </a:p>
        </p:txBody>
      </p:sp>
      <p:sp>
        <p:nvSpPr>
          <p:cNvPr id="42" name="Text 33"/>
          <p:cNvSpPr/>
          <p:nvPr/>
        </p:nvSpPr>
        <p:spPr>
          <a:xfrm>
            <a:off x="4725591" y="2680804"/>
            <a:ext cx="57150" cy="57150"/>
          </a:xfrm>
          <a:prstGeom prst="ellipse">
            <a:avLst/>
          </a:prstGeom>
          <a:solidFill>
            <a:srgbClr val="00E5FF"/>
          </a:solidFill>
          <a:ln/>
          <a:effectLst>
            <a:outerShdw blurRad="101600" dist="50800" dir="16200000" algn="bl" rotWithShape="0">
              <a:srgbClr val="00E5FF">
                <a:alpha val="37000"/>
              </a:srgbClr>
            </a:outerShdw>
          </a:effectLst>
        </p:spPr>
        <p:txBody>
          <a:bodyPr wrap="square" rtlCol="0" anchor="ctr"/>
          <a:lstStyle/>
          <a:p>
            <a:pPr marL="0" indent="0">
              <a:buNone/>
            </a:pPr>
            <a:endParaRPr lang="en-US" dirty="0"/>
          </a:p>
        </p:txBody>
      </p:sp>
      <p:sp>
        <p:nvSpPr>
          <p:cNvPr id="43" name="Text 34"/>
          <p:cNvSpPr/>
          <p:nvPr/>
        </p:nvSpPr>
        <p:spPr>
          <a:xfrm>
            <a:off x="4839891" y="2650443"/>
            <a:ext cx="3696891" cy="164592"/>
          </a:xfrm>
          <a:prstGeom prst="rect">
            <a:avLst/>
          </a:prstGeom>
          <a:noFill/>
          <a:ln/>
        </p:spPr>
        <p:txBody>
          <a:bodyPr wrap="square" lIns="0" tIns="0" rIns="0" bIns="0" rtlCol="0" anchor="t"/>
          <a:lstStyle/>
          <a:p>
            <a:pPr marL="0" indent="0" algn="l">
              <a:lnSpc>
                <a:spcPts val="928"/>
              </a:lnSpc>
              <a:buNone/>
            </a:pPr>
            <a:r>
              <a:rPr lang="en-US" sz="800" kern="0" spc="87" dirty="0">
                <a:solidFill>
                  <a:srgbClr val="00E5FF"/>
                </a:solidFill>
                <a:latin typeface="Courier New" pitchFamily="34" charset="0"/>
                <a:ea typeface="Courier New" pitchFamily="34" charset="-122"/>
                <a:cs typeface="Courier New" pitchFamily="34" charset="-120"/>
              </a:rPr>
              <a:t>OUR INNOVATION</a:t>
            </a:r>
            <a:endParaRPr lang="en-US" sz="800" dirty="0"/>
          </a:p>
        </p:txBody>
      </p:sp>
      <p:sp>
        <p:nvSpPr>
          <p:cNvPr id="44" name="Text 35"/>
          <p:cNvSpPr/>
          <p:nvPr/>
        </p:nvSpPr>
        <p:spPr>
          <a:xfrm>
            <a:off x="4725591" y="2854040"/>
            <a:ext cx="3811191" cy="406497"/>
          </a:xfrm>
          <a:prstGeom prst="rect">
            <a:avLst/>
          </a:prstGeom>
          <a:noFill/>
          <a:ln/>
        </p:spPr>
        <p:txBody>
          <a:bodyPr wrap="square" lIns="0" tIns="0" rIns="0" bIns="0" rtlCol="0" anchor="t"/>
          <a:lstStyle/>
          <a:p>
            <a:pPr marL="0" indent="0" algn="l">
              <a:lnSpc>
                <a:spcPts val="1482"/>
              </a:lnSpc>
              <a:buNone/>
            </a:pPr>
            <a:r>
              <a:rPr lang="en-US" sz="956" dirty="0">
                <a:solidFill>
                  <a:srgbClr val="E6F1FF"/>
                </a:solidFill>
                <a:latin typeface="Carlito" pitchFamily="34" charset="0"/>
                <a:ea typeface="Carlito" pitchFamily="34" charset="-122"/>
                <a:cs typeface="Carlito" pitchFamily="34" charset="-120"/>
              </a:rPr>
              <a:t>AI predicts failure</a:t>
            </a:r>
            <a:r>
              <a:rPr lang="en-US" sz="956" dirty="0">
                <a:solidFill>
                  <a:srgbClr val="00E5FF"/>
                </a:solidFill>
                <a:latin typeface="Courier New" pitchFamily="34" charset="0"/>
                <a:ea typeface="Courier New" pitchFamily="34" charset="-122"/>
                <a:cs typeface="Courier New" pitchFamily="34" charset="-120"/>
              </a:rPr>
              <a:t>→</a:t>
            </a:r>
            <a:r>
              <a:rPr lang="en-US" sz="956" dirty="0">
                <a:solidFill>
                  <a:srgbClr val="E6F1FF"/>
                </a:solidFill>
                <a:latin typeface="Carlito" pitchFamily="34" charset="0"/>
                <a:ea typeface="Carlito" pitchFamily="34" charset="-122"/>
                <a:cs typeface="Carlito" pitchFamily="34" charset="-120"/>
              </a:rPr>
              <a:t>AI generates future scenarios</a:t>
            </a:r>
            <a:r>
              <a:rPr lang="en-US" sz="956" dirty="0">
                <a:solidFill>
                  <a:srgbClr val="00E5FF"/>
                </a:solidFill>
                <a:latin typeface="Courier New" pitchFamily="34" charset="0"/>
                <a:ea typeface="Courier New" pitchFamily="34" charset="-122"/>
                <a:cs typeface="Courier New" pitchFamily="34" charset="-120"/>
              </a:rPr>
              <a:t>→</a:t>
            </a:r>
            <a:r>
              <a:rPr lang="en-US" sz="956" dirty="0">
                <a:solidFill>
                  <a:srgbClr val="00E5FF"/>
                </a:solidFill>
                <a:latin typeface="Carlito" pitchFamily="34" charset="0"/>
                <a:ea typeface="Carlito" pitchFamily="34" charset="-122"/>
                <a:cs typeface="Carlito" pitchFamily="34" charset="-120"/>
              </a:rPr>
              <a:t>AI tests and fixes it autonomously.</a:t>
            </a:r>
            <a:endParaRPr lang="en-US" sz="956" dirty="0"/>
          </a:p>
        </p:txBody>
      </p:sp>
      <p:sp>
        <p:nvSpPr>
          <p:cNvPr id="45" name="Text 36"/>
          <p:cNvSpPr/>
          <p:nvPr/>
        </p:nvSpPr>
        <p:spPr>
          <a:xfrm>
            <a:off x="4725591" y="3316151"/>
            <a:ext cx="114300" cy="114300"/>
          </a:xfrm>
          <a:prstGeom prst="rect">
            <a:avLst/>
          </a:prstGeom>
          <a:noFill/>
          <a:ln/>
        </p:spPr>
        <p:txBody>
          <a:bodyPr wrap="none" lIns="0" tIns="0" rIns="0" bIns="0" rtlCol="0" anchor="ctr"/>
          <a:lstStyle/>
          <a:p>
            <a:pPr marL="0" indent="0" algn="ctr">
              <a:buNone/>
            </a:pPr>
            <a:r>
              <a:rPr lang="en-US" sz="1125" dirty="0">
                <a:solidFill>
                  <a:srgbClr val="00E5FF"/>
                </a:solidFill>
                <a:latin typeface="Segoe UI Symbol" pitchFamily="34" charset="0"/>
                <a:ea typeface="Segoe UI Symbol" pitchFamily="34" charset="-122"/>
                <a:cs typeface="Segoe UI Symbol" pitchFamily="34" charset="-120"/>
              </a:rPr>
              <a:t>✦</a:t>
            </a:r>
            <a:endParaRPr lang="en-US" sz="1125" dirty="0"/>
          </a:p>
        </p:txBody>
      </p:sp>
      <p:sp>
        <p:nvSpPr>
          <p:cNvPr id="46" name="Text 37"/>
          <p:cNvSpPr/>
          <p:nvPr/>
        </p:nvSpPr>
        <p:spPr>
          <a:xfrm>
            <a:off x="4897041" y="3319723"/>
            <a:ext cx="3639741" cy="110728"/>
          </a:xfrm>
          <a:prstGeom prst="rect">
            <a:avLst/>
          </a:prstGeom>
          <a:noFill/>
          <a:ln/>
        </p:spPr>
        <p:txBody>
          <a:bodyPr wrap="square" lIns="0" tIns="0" rIns="0" bIns="0" rtlCol="0" anchor="t"/>
          <a:lstStyle/>
          <a:p>
            <a:pPr marL="0" indent="0" algn="l">
              <a:lnSpc>
                <a:spcPts val="844"/>
              </a:lnSpc>
              <a:buNone/>
            </a:pPr>
            <a:r>
              <a:rPr lang="en-US" sz="800" kern="0" spc="79" dirty="0">
                <a:solidFill>
                  <a:srgbClr val="00E5FF"/>
                </a:solidFill>
                <a:latin typeface="Courier New" pitchFamily="34" charset="0"/>
                <a:ea typeface="Courier New" pitchFamily="34" charset="-122"/>
                <a:cs typeface="Courier New" pitchFamily="34" charset="-120"/>
              </a:rPr>
              <a:t>CLOSED-LOOP · AUTONOMOUS · SUB-SECOND</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7071512" y="-200025"/>
            <a:ext cx="2072488" cy="1234440"/>
          </a:xfrm>
          <a:prstGeom prst="rect">
            <a:avLst/>
          </a:prstGeom>
          <a:noFill/>
          <a:ln/>
        </p:spPr>
        <p:txBody>
          <a:bodyPr wrap="none" lIns="0" tIns="0" rIns="0" bIns="0" rtlCol="0" anchor="t"/>
          <a:lstStyle/>
          <a:p>
            <a:pPr marL="0" indent="0" algn="l">
              <a:lnSpc>
                <a:spcPts val="9000"/>
              </a:lnSpc>
              <a:buNone/>
            </a:pPr>
            <a:r>
              <a:rPr lang="en-US" sz="9000" b="1" kern="0" spc="-360" dirty="0">
                <a:solidFill>
                  <a:srgbClr val="FFFFFF">
                    <a:alpha val="2000"/>
                  </a:srgbClr>
                </a:solidFill>
                <a:latin typeface="Liberation Sans Narrow" pitchFamily="34" charset="0"/>
                <a:ea typeface="Liberation Sans Narrow" pitchFamily="34" charset="-122"/>
                <a:cs typeface="Liberation Sans Narrow" pitchFamily="34" charset="-120"/>
              </a:rPr>
              <a:t>06</a:t>
            </a:r>
            <a:endParaRPr lang="en-US" sz="9000" dirty="0"/>
          </a:p>
        </p:txBody>
      </p:sp>
      <p:pic>
        <p:nvPicPr>
          <p:cNvPr id="3" name="Image 0" descr="preencoded.png"/>
          <p:cNvPicPr>
            <a:picLocks noChangeAspect="1"/>
          </p:cNvPicPr>
          <p:nvPr/>
        </p:nvPicPr>
        <p:blipFill>
          <a:blip r:embed="rId3"/>
          <a:stretch>
            <a:fillRect/>
          </a:stretch>
        </p:blipFill>
        <p:spPr>
          <a:xfrm>
            <a:off x="-857250" y="3714750"/>
            <a:ext cx="2714625" cy="2714625"/>
          </a:xfrm>
          <a:prstGeom prst="rect">
            <a:avLst/>
          </a:prstGeom>
        </p:spPr>
      </p:pic>
      <p:sp>
        <p:nvSpPr>
          <p:cNvPr id="4" name="Text 1"/>
          <p:cNvSpPr/>
          <p:nvPr/>
        </p:nvSpPr>
        <p:spPr>
          <a:xfrm>
            <a:off x="-857250" y="3714750"/>
            <a:ext cx="2714625" cy="2714625"/>
          </a:xfrm>
          <a:prstGeom prst="rect">
            <a:avLst/>
          </a:prstGeom>
          <a:solidFill>
            <a:srgbClr val="FFFFFF">
              <a:alpha val="0"/>
            </a:srgbClr>
          </a:solidFill>
          <a:ln/>
        </p:spPr>
        <p:txBody>
          <a:bodyPr wrap="square" rtlCol="0" anchor="ctr"/>
          <a:lstStyle/>
          <a:p>
            <a:pPr marL="0" indent="0">
              <a:buNone/>
            </a:pPr>
            <a:endParaRPr lang="en-US" dirty="0"/>
          </a:p>
        </p:txBody>
      </p:sp>
      <p:sp>
        <p:nvSpPr>
          <p:cNvPr id="6" name="Text 3"/>
          <p:cNvSpPr/>
          <p:nvPr/>
        </p:nvSpPr>
        <p:spPr>
          <a:xfrm>
            <a:off x="361813" y="388691"/>
            <a:ext cx="1495561" cy="212027"/>
          </a:xfrm>
          <a:prstGeom prst="roundRect">
            <a:avLst>
              <a:gd name="adj" fmla="val 4487860"/>
            </a:avLst>
          </a:prstGeom>
          <a:solidFill>
            <a:srgbClr val="00E5FF">
              <a:alpha val="6000"/>
            </a:srgbClr>
          </a:solidFill>
          <a:ln w="7144">
            <a:solidFill>
              <a:srgbClr val="00E5FF"/>
            </a:solidFill>
            <a:prstDash val="solid"/>
          </a:ln>
        </p:spPr>
        <p:txBody>
          <a:bodyPr wrap="square" rtlCol="0" anchor="ctr"/>
          <a:lstStyle/>
          <a:p>
            <a:pPr marL="0" indent="0">
              <a:buNone/>
            </a:pPr>
            <a:endParaRPr lang="en-US" dirty="0"/>
          </a:p>
        </p:txBody>
      </p:sp>
      <p:sp>
        <p:nvSpPr>
          <p:cNvPr id="7" name="Text 4"/>
          <p:cNvSpPr/>
          <p:nvPr/>
        </p:nvSpPr>
        <p:spPr>
          <a:xfrm>
            <a:off x="550069" y="466130"/>
            <a:ext cx="57150" cy="57150"/>
          </a:xfrm>
          <a:prstGeom prst="roundRect">
            <a:avLst>
              <a:gd name="adj" fmla="val 66667"/>
            </a:avLst>
          </a:prstGeom>
          <a:solidFill>
            <a:srgbClr val="00E5FF"/>
          </a:solidFill>
          <a:ln/>
        </p:spPr>
        <p:txBody>
          <a:bodyPr wrap="square" rtlCol="0" anchor="ctr"/>
          <a:lstStyle/>
          <a:p>
            <a:pPr marL="0" indent="0">
              <a:buNone/>
            </a:pPr>
            <a:endParaRPr lang="en-US" dirty="0"/>
          </a:p>
        </p:txBody>
      </p:sp>
      <p:sp>
        <p:nvSpPr>
          <p:cNvPr id="8" name="Text 5"/>
          <p:cNvSpPr/>
          <p:nvPr/>
        </p:nvSpPr>
        <p:spPr>
          <a:xfrm>
            <a:off x="553641" y="400050"/>
            <a:ext cx="1162757" cy="189309"/>
          </a:xfrm>
          <a:prstGeom prst="rect">
            <a:avLst/>
          </a:prstGeom>
          <a:noFill/>
          <a:ln/>
        </p:spPr>
        <p:txBody>
          <a:bodyPr wrap="none" lIns="0" tIns="0" rIns="0" bIns="0" rtlCol="0" anchor="ctr"/>
          <a:lstStyle/>
          <a:p>
            <a:pPr marL="0" indent="0" algn="ctr">
              <a:lnSpc>
                <a:spcPts val="928"/>
              </a:lnSpc>
              <a:buNone/>
            </a:pPr>
            <a:r>
              <a:rPr lang="en-US" sz="800" kern="0" spc="74" dirty="0" smtClean="0">
                <a:solidFill>
                  <a:srgbClr val="00E5FF"/>
                </a:solidFill>
                <a:latin typeface="Courier New" pitchFamily="34" charset="0"/>
                <a:ea typeface="Courier New" pitchFamily="34" charset="-122"/>
                <a:cs typeface="Courier New" pitchFamily="34" charset="-120"/>
              </a:rPr>
              <a:t>- REALLIFE </a:t>
            </a:r>
            <a:r>
              <a:rPr lang="en-US" sz="800" kern="0" spc="74" dirty="0">
                <a:solidFill>
                  <a:srgbClr val="00E5FF"/>
                </a:solidFill>
                <a:latin typeface="Courier New" pitchFamily="34" charset="0"/>
                <a:ea typeface="Courier New" pitchFamily="34" charset="-122"/>
                <a:cs typeface="Courier New" pitchFamily="34" charset="-120"/>
              </a:rPr>
              <a:t>USE CASE</a:t>
            </a:r>
            <a:endParaRPr lang="en-US" sz="800" dirty="0"/>
          </a:p>
        </p:txBody>
      </p:sp>
      <p:sp>
        <p:nvSpPr>
          <p:cNvPr id="9" name="Text 6"/>
          <p:cNvSpPr/>
          <p:nvPr/>
        </p:nvSpPr>
        <p:spPr>
          <a:xfrm>
            <a:off x="2059298" y="430357"/>
            <a:ext cx="3167695" cy="164592"/>
          </a:xfrm>
          <a:prstGeom prst="rect">
            <a:avLst/>
          </a:prstGeom>
          <a:noFill/>
          <a:ln/>
        </p:spPr>
        <p:txBody>
          <a:bodyPr wrap="none" lIns="0" tIns="0" rIns="0" bIns="0" rtlCol="0" anchor="t"/>
          <a:lstStyle/>
          <a:p>
            <a:pPr marL="0" indent="0" algn="l">
              <a:lnSpc>
                <a:spcPts val="928"/>
              </a:lnSpc>
              <a:buNone/>
            </a:pPr>
            <a:r>
              <a:rPr lang="en-US" sz="800" kern="0" spc="87" dirty="0">
                <a:solidFill>
                  <a:srgbClr val="6B7494"/>
                </a:solidFill>
                <a:latin typeface="Liberation Sans Narrow" pitchFamily="34" charset="0"/>
                <a:ea typeface="Liberation Sans Narrow" pitchFamily="34" charset="-122"/>
                <a:cs typeface="Liberation Sans Narrow" pitchFamily="34" charset="-120"/>
              </a:rPr>
              <a:t>/ CASE 01</a:t>
            </a:r>
            <a:endParaRPr lang="en-US" sz="800" dirty="0"/>
          </a:p>
        </p:txBody>
      </p:sp>
      <p:sp>
        <p:nvSpPr>
          <p:cNvPr id="10" name="Text 7"/>
          <p:cNvSpPr/>
          <p:nvPr/>
        </p:nvSpPr>
        <p:spPr>
          <a:xfrm>
            <a:off x="457200" y="675084"/>
            <a:ext cx="4857795" cy="654109"/>
          </a:xfrm>
          <a:prstGeom prst="rect">
            <a:avLst/>
          </a:prstGeom>
          <a:noFill/>
          <a:ln/>
        </p:spPr>
        <p:txBody>
          <a:bodyPr wrap="none" lIns="0" tIns="0" rIns="0" bIns="0" rtlCol="0" anchor="t"/>
          <a:lstStyle/>
          <a:p>
            <a:pPr marL="0" indent="0" algn="l">
              <a:lnSpc>
                <a:spcPts val="2385"/>
              </a:lnSpc>
              <a:buNone/>
            </a:pPr>
            <a:r>
              <a:rPr lang="en-US" sz="2250" b="1" kern="0" spc="-27" dirty="0">
                <a:solidFill>
                  <a:srgbClr val="E6F1FF"/>
                </a:solidFill>
                <a:latin typeface="Liberation Sans Narrow" pitchFamily="34" charset="0"/>
                <a:ea typeface="Liberation Sans Narrow" pitchFamily="34" charset="-122"/>
                <a:cs typeface="Liberation Sans Narrow" pitchFamily="34" charset="-120"/>
              </a:rPr>
              <a:t>5G Backhaul</a:t>
            </a:r>
            <a:endParaRPr lang="en-US" sz="2250" dirty="0"/>
          </a:p>
          <a:p>
            <a:pPr marL="0" indent="0" algn="l">
              <a:lnSpc>
                <a:spcPts val="2385"/>
              </a:lnSpc>
              <a:buNone/>
            </a:pPr>
            <a:r>
              <a:rPr lang="en-US" sz="2250" b="1" kern="0" spc="-27" dirty="0">
                <a:solidFill>
                  <a:srgbClr val="00E5FF"/>
                </a:solidFill>
                <a:latin typeface="Carlito" pitchFamily="34" charset="0"/>
                <a:ea typeface="Carlito" pitchFamily="34" charset="-122"/>
                <a:cs typeface="Carlito" pitchFamily="34" charset="-120"/>
              </a:rPr>
              <a:t>Fiber Link Failure</a:t>
            </a:r>
            <a:endParaRPr lang="en-US" sz="2250" dirty="0"/>
          </a:p>
        </p:txBody>
      </p:sp>
      <p:sp>
        <p:nvSpPr>
          <p:cNvPr id="11" name="Text 8"/>
          <p:cNvSpPr/>
          <p:nvPr/>
        </p:nvSpPr>
        <p:spPr>
          <a:xfrm>
            <a:off x="460772" y="1412900"/>
            <a:ext cx="207169" cy="207169"/>
          </a:xfrm>
          <a:prstGeom prst="roundRect">
            <a:avLst>
              <a:gd name="adj" fmla="val 41379"/>
            </a:avLst>
          </a:prstGeom>
          <a:solidFill>
            <a:srgbClr val="FF4D6D">
              <a:alpha val="12000"/>
            </a:srgbClr>
          </a:solidFill>
          <a:ln w="7144">
            <a:solidFill>
              <a:srgbClr val="FF4D6D"/>
            </a:solidFill>
            <a:prstDash val="solid"/>
          </a:ln>
        </p:spPr>
        <p:txBody>
          <a:bodyPr wrap="square" rtlCol="0" anchor="ctr"/>
          <a:lstStyle/>
          <a:p>
            <a:pPr marL="0" indent="0">
              <a:buNone/>
            </a:pPr>
            <a:endParaRPr lang="en-US" dirty="0"/>
          </a:p>
        </p:txBody>
      </p:sp>
      <p:sp>
        <p:nvSpPr>
          <p:cNvPr id="12" name="Text 9"/>
          <p:cNvSpPr/>
          <p:nvPr/>
        </p:nvSpPr>
        <p:spPr>
          <a:xfrm>
            <a:off x="457200" y="1409328"/>
            <a:ext cx="257175" cy="214313"/>
          </a:xfrm>
          <a:prstGeom prst="rect">
            <a:avLst/>
          </a:prstGeom>
          <a:noFill/>
          <a:ln/>
        </p:spPr>
        <p:txBody>
          <a:bodyPr wrap="none" lIns="0" tIns="0" rIns="0" bIns="0" rtlCol="0" anchor="ctr"/>
          <a:lstStyle/>
          <a:p>
            <a:pPr marL="0" indent="0" algn="ctr">
              <a:lnSpc>
                <a:spcPts val="1097"/>
              </a:lnSpc>
              <a:buNone/>
            </a:pPr>
            <a:r>
              <a:rPr lang="en-US" sz="800" b="1" dirty="0">
                <a:solidFill>
                  <a:srgbClr val="FF4D6D"/>
                </a:solidFill>
                <a:latin typeface="Liberation Sans Narrow" pitchFamily="34" charset="0"/>
                <a:ea typeface="Liberation Sans Narrow" pitchFamily="34" charset="-122"/>
                <a:cs typeface="Liberation Sans Narrow" pitchFamily="34" charset="-120"/>
              </a:rPr>
              <a:t>01</a:t>
            </a:r>
            <a:endParaRPr lang="en-US" sz="800" dirty="0"/>
          </a:p>
        </p:txBody>
      </p:sp>
      <p:sp>
        <p:nvSpPr>
          <p:cNvPr id="13" name="Text 10"/>
          <p:cNvSpPr/>
          <p:nvPr/>
        </p:nvSpPr>
        <p:spPr>
          <a:xfrm>
            <a:off x="757238" y="1395040"/>
            <a:ext cx="5673841" cy="94012"/>
          </a:xfrm>
          <a:prstGeom prst="rect">
            <a:avLst/>
          </a:prstGeom>
          <a:noFill/>
          <a:ln/>
        </p:spPr>
        <p:txBody>
          <a:bodyPr wrap="none" lIns="0" tIns="0" rIns="0" bIns="0" rtlCol="0" anchor="t">
            <a:normAutofit fontScale="25000" lnSpcReduction="20000"/>
          </a:bodyPr>
          <a:lstStyle/>
          <a:p>
            <a:pPr marL="0" indent="0" algn="l">
              <a:lnSpc>
                <a:spcPts val="844"/>
              </a:lnSpc>
              <a:buNone/>
            </a:pPr>
            <a:r>
              <a:rPr lang="en-US" sz="800" kern="0" spc="79" dirty="0">
                <a:solidFill>
                  <a:srgbClr val="FF4D6D"/>
                </a:solidFill>
                <a:latin typeface="Courier New" pitchFamily="34" charset="0"/>
                <a:ea typeface="Courier New" pitchFamily="34" charset="-122"/>
                <a:cs typeface="Courier New" pitchFamily="34" charset="-120"/>
              </a:rPr>
              <a:t>SCENARIO</a:t>
            </a:r>
            <a:endParaRPr lang="en-US" sz="800" dirty="0"/>
          </a:p>
        </p:txBody>
      </p:sp>
      <p:sp>
        <p:nvSpPr>
          <p:cNvPr id="14" name="Text 11"/>
          <p:cNvSpPr/>
          <p:nvPr/>
        </p:nvSpPr>
        <p:spPr>
          <a:xfrm>
            <a:off x="757238" y="1516484"/>
            <a:ext cx="4116139" cy="339961"/>
          </a:xfrm>
          <a:prstGeom prst="rect">
            <a:avLst/>
          </a:prstGeom>
          <a:noFill/>
          <a:ln/>
        </p:spPr>
        <p:txBody>
          <a:bodyPr wrap="square" lIns="0" tIns="0" rIns="0" bIns="0" rtlCol="0" anchor="t"/>
          <a:lstStyle/>
          <a:p>
            <a:pPr marL="0" indent="0" algn="l">
              <a:lnSpc>
                <a:spcPts val="1221"/>
              </a:lnSpc>
              <a:buNone/>
            </a:pPr>
            <a:r>
              <a:rPr lang="en-US" sz="800" dirty="0">
                <a:solidFill>
                  <a:srgbClr val="E6F1FF"/>
                </a:solidFill>
                <a:latin typeface="Carlito" pitchFamily="34" charset="0"/>
                <a:ea typeface="Carlito" pitchFamily="34" charset="-122"/>
                <a:cs typeface="Carlito" pitchFamily="34" charset="-120"/>
              </a:rPr>
              <a:t>A 5G optical transceiver shows micro-fluctuations in signal-to-noise ratio (OSNR). Standard PdM flags it for replacement in </a:t>
            </a:r>
            <a:r>
              <a:rPr lang="en-US" sz="800" dirty="0">
                <a:solidFill>
                  <a:srgbClr val="FF4D6D"/>
                </a:solidFill>
                <a:latin typeface="Liberation Sans Narrow" pitchFamily="34" charset="0"/>
                <a:ea typeface="Liberation Sans Narrow" pitchFamily="34" charset="-122"/>
                <a:cs typeface="Liberation Sans Narrow" pitchFamily="34" charset="-120"/>
              </a:rPr>
              <a:t>2 days</a:t>
            </a:r>
            <a:r>
              <a:rPr lang="en-US" sz="800" dirty="0">
                <a:solidFill>
                  <a:srgbClr val="E6F1FF"/>
                </a:solidFill>
                <a:latin typeface="Carlito" pitchFamily="34" charset="0"/>
                <a:ea typeface="Carlito" pitchFamily="34" charset="-122"/>
                <a:cs typeface="Carlito" pitchFamily="34" charset="-120"/>
              </a:rPr>
              <a:t> (costly downtime).</a:t>
            </a:r>
            <a:endParaRPr lang="en-US" sz="800" dirty="0"/>
          </a:p>
        </p:txBody>
      </p:sp>
      <p:sp>
        <p:nvSpPr>
          <p:cNvPr id="15" name="Text 12"/>
          <p:cNvSpPr/>
          <p:nvPr/>
        </p:nvSpPr>
        <p:spPr>
          <a:xfrm>
            <a:off x="460772" y="1915641"/>
            <a:ext cx="207169" cy="207169"/>
          </a:xfrm>
          <a:prstGeom prst="roundRect">
            <a:avLst>
              <a:gd name="adj" fmla="val 41379"/>
            </a:avLst>
          </a:prstGeom>
          <a:solidFill>
            <a:srgbClr val="FFB347">
              <a:alpha val="12000"/>
            </a:srgbClr>
          </a:solidFill>
          <a:ln w="7144">
            <a:solidFill>
              <a:srgbClr val="FFB347"/>
            </a:solidFill>
            <a:prstDash val="solid"/>
          </a:ln>
        </p:spPr>
        <p:txBody>
          <a:bodyPr wrap="square" rtlCol="0" anchor="ctr"/>
          <a:lstStyle/>
          <a:p>
            <a:pPr marL="0" indent="0">
              <a:buNone/>
            </a:pPr>
            <a:endParaRPr lang="en-US" dirty="0"/>
          </a:p>
        </p:txBody>
      </p:sp>
      <p:sp>
        <p:nvSpPr>
          <p:cNvPr id="16" name="Text 13"/>
          <p:cNvSpPr/>
          <p:nvPr/>
        </p:nvSpPr>
        <p:spPr>
          <a:xfrm>
            <a:off x="457200" y="1912069"/>
            <a:ext cx="257175" cy="214313"/>
          </a:xfrm>
          <a:prstGeom prst="rect">
            <a:avLst/>
          </a:prstGeom>
          <a:noFill/>
          <a:ln/>
        </p:spPr>
        <p:txBody>
          <a:bodyPr wrap="none" lIns="0" tIns="0" rIns="0" bIns="0" rtlCol="0" anchor="ctr"/>
          <a:lstStyle/>
          <a:p>
            <a:pPr marL="0" indent="0" algn="ctr">
              <a:lnSpc>
                <a:spcPts val="1097"/>
              </a:lnSpc>
              <a:buNone/>
            </a:pPr>
            <a:r>
              <a:rPr lang="en-US" sz="800" b="1" dirty="0">
                <a:solidFill>
                  <a:srgbClr val="FFB347"/>
                </a:solidFill>
                <a:latin typeface="Liberation Sans Narrow" pitchFamily="34" charset="0"/>
                <a:ea typeface="Liberation Sans Narrow" pitchFamily="34" charset="-122"/>
                <a:cs typeface="Liberation Sans Narrow" pitchFamily="34" charset="-120"/>
              </a:rPr>
              <a:t>02</a:t>
            </a:r>
            <a:endParaRPr lang="en-US" sz="800" dirty="0"/>
          </a:p>
        </p:txBody>
      </p:sp>
      <p:sp>
        <p:nvSpPr>
          <p:cNvPr id="17" name="Text 14"/>
          <p:cNvSpPr/>
          <p:nvPr/>
        </p:nvSpPr>
        <p:spPr>
          <a:xfrm>
            <a:off x="757238" y="1897782"/>
            <a:ext cx="5229298" cy="94012"/>
          </a:xfrm>
          <a:prstGeom prst="rect">
            <a:avLst/>
          </a:prstGeom>
          <a:noFill/>
          <a:ln/>
        </p:spPr>
        <p:txBody>
          <a:bodyPr wrap="none" lIns="0" tIns="0" rIns="0" bIns="0" rtlCol="0" anchor="t">
            <a:normAutofit fontScale="25000" lnSpcReduction="20000"/>
          </a:bodyPr>
          <a:lstStyle/>
          <a:p>
            <a:pPr marL="0" indent="0" algn="l">
              <a:lnSpc>
                <a:spcPts val="844"/>
              </a:lnSpc>
              <a:buNone/>
            </a:pPr>
            <a:r>
              <a:rPr lang="en-US" sz="800" kern="0" spc="79" dirty="0">
                <a:solidFill>
                  <a:srgbClr val="FFB347"/>
                </a:solidFill>
                <a:latin typeface="Courier New" pitchFamily="34" charset="0"/>
                <a:ea typeface="Courier New" pitchFamily="34" charset="-122"/>
                <a:cs typeface="Courier New" pitchFamily="34" charset="-120"/>
              </a:rPr>
              <a:t>OUR SYSTEM ACTIVATES</a:t>
            </a:r>
            <a:endParaRPr lang="en-US" sz="800" dirty="0"/>
          </a:p>
        </p:txBody>
      </p:sp>
      <p:sp>
        <p:nvSpPr>
          <p:cNvPr id="18" name="Text 15"/>
          <p:cNvSpPr/>
          <p:nvPr/>
        </p:nvSpPr>
        <p:spPr>
          <a:xfrm>
            <a:off x="757238" y="2019226"/>
            <a:ext cx="4116139" cy="339961"/>
          </a:xfrm>
          <a:prstGeom prst="rect">
            <a:avLst/>
          </a:prstGeom>
          <a:noFill/>
          <a:ln/>
        </p:spPr>
        <p:txBody>
          <a:bodyPr wrap="square" lIns="0" tIns="0" rIns="0" bIns="0" rtlCol="0" anchor="t"/>
          <a:lstStyle/>
          <a:p>
            <a:pPr marL="0" indent="0" algn="l">
              <a:lnSpc>
                <a:spcPts val="1221"/>
              </a:lnSpc>
              <a:buNone/>
            </a:pPr>
            <a:r>
              <a:rPr lang="en-US" sz="800" dirty="0">
                <a:solidFill>
                  <a:srgbClr val="E6F1FF"/>
                </a:solidFill>
                <a:latin typeface="Carlito" pitchFamily="34" charset="0"/>
                <a:ea typeface="Carlito" pitchFamily="34" charset="-122"/>
                <a:cs typeface="Carlito" pitchFamily="34" charset="-120"/>
              </a:rPr>
              <a:t>GenAI generates counterfactuals: </a:t>
            </a:r>
            <a:r>
              <a:rPr lang="en-US" sz="800" dirty="0">
                <a:solidFill>
                  <a:srgbClr val="00E5FF"/>
                </a:solidFill>
                <a:latin typeface="Courier New" pitchFamily="34" charset="0"/>
                <a:ea typeface="Courier New" pitchFamily="34" charset="-122"/>
                <a:cs typeface="Courier New" pitchFamily="34" charset="-120"/>
              </a:rPr>
              <a:t>"What if we shift 30% load to backup wavelength?"</a:t>
            </a:r>
            <a:r>
              <a:rPr lang="en-US" sz="800" dirty="0">
                <a:solidFill>
                  <a:srgbClr val="E6F1FF"/>
                </a:solidFill>
                <a:latin typeface="Carlito" pitchFamily="34" charset="0"/>
                <a:ea typeface="Carlito" pitchFamily="34" charset="-122"/>
                <a:cs typeface="Carlito" pitchFamily="34" charset="-120"/>
              </a:rPr>
              <a:t> vs </a:t>
            </a:r>
            <a:r>
              <a:rPr lang="en-US" sz="800" dirty="0">
                <a:solidFill>
                  <a:srgbClr val="00E5FF"/>
                </a:solidFill>
                <a:latin typeface="Courier New" pitchFamily="34" charset="0"/>
                <a:ea typeface="Courier New" pitchFamily="34" charset="-122"/>
                <a:cs typeface="Courier New" pitchFamily="34" charset="-120"/>
              </a:rPr>
              <a:t>"What if we increase laser bias current?"</a:t>
            </a:r>
            <a:r>
              <a:rPr lang="en-US" sz="800" dirty="0">
                <a:solidFill>
                  <a:srgbClr val="E6F1FF"/>
                </a:solidFill>
                <a:latin typeface="Carlito" pitchFamily="34" charset="0"/>
                <a:ea typeface="Carlito" pitchFamily="34" charset="-122"/>
                <a:cs typeface="Carlito" pitchFamily="34" charset="-120"/>
              </a:rPr>
              <a:t> Agents test both synthetic futures.</a:t>
            </a:r>
            <a:endParaRPr lang="en-US" sz="800" dirty="0"/>
          </a:p>
        </p:txBody>
      </p:sp>
      <p:sp>
        <p:nvSpPr>
          <p:cNvPr id="19" name="Text 16"/>
          <p:cNvSpPr/>
          <p:nvPr/>
        </p:nvSpPr>
        <p:spPr>
          <a:xfrm>
            <a:off x="460772" y="2418383"/>
            <a:ext cx="207169" cy="207169"/>
          </a:xfrm>
          <a:prstGeom prst="roundRect">
            <a:avLst>
              <a:gd name="adj" fmla="val 41379"/>
            </a:avLst>
          </a:prstGeom>
          <a:solidFill>
            <a:srgbClr val="00E5FF">
              <a:alpha val="12000"/>
            </a:srgbClr>
          </a:solidFill>
          <a:ln w="7144">
            <a:solidFill>
              <a:srgbClr val="00E5FF"/>
            </a:solidFill>
            <a:prstDash val="solid"/>
          </a:ln>
        </p:spPr>
        <p:txBody>
          <a:bodyPr wrap="square" rtlCol="0" anchor="ctr"/>
          <a:lstStyle/>
          <a:p>
            <a:pPr marL="0" indent="0">
              <a:buNone/>
            </a:pPr>
            <a:endParaRPr lang="en-US" dirty="0"/>
          </a:p>
        </p:txBody>
      </p:sp>
      <p:sp>
        <p:nvSpPr>
          <p:cNvPr id="20" name="Text 17"/>
          <p:cNvSpPr/>
          <p:nvPr/>
        </p:nvSpPr>
        <p:spPr>
          <a:xfrm>
            <a:off x="457200" y="2414811"/>
            <a:ext cx="257175" cy="214313"/>
          </a:xfrm>
          <a:prstGeom prst="rect">
            <a:avLst/>
          </a:prstGeom>
          <a:noFill/>
          <a:ln/>
        </p:spPr>
        <p:txBody>
          <a:bodyPr wrap="none" lIns="0" tIns="0" rIns="0" bIns="0" rtlCol="0" anchor="ctr"/>
          <a:lstStyle/>
          <a:p>
            <a:pPr marL="0" indent="0" algn="ctr">
              <a:lnSpc>
                <a:spcPts val="1097"/>
              </a:lnSpc>
              <a:buNone/>
            </a:pPr>
            <a:r>
              <a:rPr lang="en-US" sz="800" b="1" dirty="0">
                <a:solidFill>
                  <a:srgbClr val="00E5FF"/>
                </a:solidFill>
                <a:latin typeface="Liberation Sans Narrow" pitchFamily="34" charset="0"/>
                <a:ea typeface="Liberation Sans Narrow" pitchFamily="34" charset="-122"/>
                <a:cs typeface="Liberation Sans Narrow" pitchFamily="34" charset="-120"/>
              </a:rPr>
              <a:t>03</a:t>
            </a:r>
            <a:endParaRPr lang="en-US" sz="800" dirty="0"/>
          </a:p>
        </p:txBody>
      </p:sp>
      <p:sp>
        <p:nvSpPr>
          <p:cNvPr id="21" name="Text 18"/>
          <p:cNvSpPr/>
          <p:nvPr/>
        </p:nvSpPr>
        <p:spPr>
          <a:xfrm>
            <a:off x="757238" y="2400523"/>
            <a:ext cx="5673841" cy="94012"/>
          </a:xfrm>
          <a:prstGeom prst="rect">
            <a:avLst/>
          </a:prstGeom>
          <a:noFill/>
          <a:ln/>
        </p:spPr>
        <p:txBody>
          <a:bodyPr wrap="none" lIns="0" tIns="0" rIns="0" bIns="0" rtlCol="0" anchor="t">
            <a:normAutofit fontScale="25000" lnSpcReduction="20000"/>
          </a:bodyPr>
          <a:lstStyle/>
          <a:p>
            <a:pPr marL="0" indent="0" algn="l">
              <a:lnSpc>
                <a:spcPts val="844"/>
              </a:lnSpc>
              <a:buNone/>
            </a:pPr>
            <a:r>
              <a:rPr lang="en-US" sz="800" kern="0" spc="79" dirty="0">
                <a:solidFill>
                  <a:srgbClr val="00E5FF"/>
                </a:solidFill>
                <a:latin typeface="Courier New" pitchFamily="34" charset="0"/>
                <a:ea typeface="Courier New" pitchFamily="34" charset="-122"/>
                <a:cs typeface="Courier New" pitchFamily="34" charset="-120"/>
              </a:rPr>
              <a:t>DISCOVERY</a:t>
            </a:r>
            <a:endParaRPr lang="en-US" sz="800" dirty="0"/>
          </a:p>
        </p:txBody>
      </p:sp>
      <p:sp>
        <p:nvSpPr>
          <p:cNvPr id="22" name="Text 19"/>
          <p:cNvSpPr/>
          <p:nvPr/>
        </p:nvSpPr>
        <p:spPr>
          <a:xfrm>
            <a:off x="757238" y="2521967"/>
            <a:ext cx="4116139" cy="169980"/>
          </a:xfrm>
          <a:prstGeom prst="rect">
            <a:avLst/>
          </a:prstGeom>
          <a:noFill/>
          <a:ln/>
        </p:spPr>
        <p:txBody>
          <a:bodyPr wrap="square" lIns="0" tIns="0" rIns="0" bIns="0" rtlCol="0" anchor="t"/>
          <a:lstStyle/>
          <a:p>
            <a:pPr marL="0" indent="0" algn="l">
              <a:lnSpc>
                <a:spcPts val="1221"/>
              </a:lnSpc>
              <a:buNone/>
            </a:pPr>
            <a:r>
              <a:rPr lang="en-US" sz="788" dirty="0">
                <a:solidFill>
                  <a:srgbClr val="E6F1FF"/>
                </a:solidFill>
                <a:latin typeface="Carlito" pitchFamily="34" charset="0"/>
                <a:ea typeface="Carlito" pitchFamily="34" charset="-122"/>
                <a:cs typeface="Carlito" pitchFamily="34" charset="-120"/>
              </a:rPr>
              <a:t>Increasing laser bias current stabilizes OSNR for </a:t>
            </a:r>
            <a:r>
              <a:rPr lang="en-US" sz="788" dirty="0">
                <a:solidFill>
                  <a:srgbClr val="00E5FF"/>
                </a:solidFill>
                <a:latin typeface="Liberation Sans Narrow" pitchFamily="34" charset="0"/>
                <a:ea typeface="Liberation Sans Narrow" pitchFamily="34" charset="-122"/>
                <a:cs typeface="Liberation Sans Narrow" pitchFamily="34" charset="-120"/>
              </a:rPr>
              <a:t>6 months</a:t>
            </a:r>
            <a:r>
              <a:rPr lang="en-US" sz="788" dirty="0">
                <a:solidFill>
                  <a:srgbClr val="E6F1FF"/>
                </a:solidFill>
                <a:latin typeface="Carlito" pitchFamily="34" charset="0"/>
                <a:ea typeface="Carlito" pitchFamily="34" charset="-122"/>
                <a:cs typeface="Carlito" pitchFamily="34" charset="-120"/>
              </a:rPr>
              <a:t> without hardware replacement.</a:t>
            </a:r>
            <a:endParaRPr lang="en-US" sz="788" dirty="0"/>
          </a:p>
        </p:txBody>
      </p:sp>
      <p:sp>
        <p:nvSpPr>
          <p:cNvPr id="23" name="Text 20"/>
          <p:cNvSpPr/>
          <p:nvPr/>
        </p:nvSpPr>
        <p:spPr>
          <a:xfrm>
            <a:off x="460772" y="2751906"/>
            <a:ext cx="4409033" cy="454968"/>
          </a:xfrm>
          <a:prstGeom prst="roundRect">
            <a:avLst>
              <a:gd name="adj" fmla="val 16748"/>
            </a:avLst>
          </a:prstGeom>
          <a:solidFill>
            <a:srgbClr val="10E0A0">
              <a:alpha val="7000"/>
            </a:srgbClr>
          </a:solidFill>
          <a:ln w="7144">
            <a:solidFill>
              <a:srgbClr val="10E0A0"/>
            </a:solidFill>
            <a:prstDash val="solid"/>
          </a:ln>
        </p:spPr>
        <p:txBody>
          <a:bodyPr wrap="square" rtlCol="0" anchor="ctr"/>
          <a:lstStyle/>
          <a:p>
            <a:pPr marL="0" indent="0">
              <a:buNone/>
            </a:pPr>
            <a:endParaRPr lang="en-US" dirty="0"/>
          </a:p>
        </p:txBody>
      </p:sp>
      <p:sp>
        <p:nvSpPr>
          <p:cNvPr id="24" name="Text 21"/>
          <p:cNvSpPr/>
          <p:nvPr/>
        </p:nvSpPr>
        <p:spPr>
          <a:xfrm>
            <a:off x="553641" y="2859063"/>
            <a:ext cx="207169" cy="207169"/>
          </a:xfrm>
          <a:prstGeom prst="roundRect">
            <a:avLst>
              <a:gd name="adj" fmla="val 41379"/>
            </a:avLst>
          </a:prstGeom>
          <a:solidFill>
            <a:srgbClr val="10E0A0">
              <a:alpha val="18000"/>
            </a:srgbClr>
          </a:solidFill>
          <a:ln w="7144">
            <a:solidFill>
              <a:srgbClr val="10E0A0"/>
            </a:solidFill>
            <a:prstDash val="solid"/>
          </a:ln>
        </p:spPr>
        <p:txBody>
          <a:bodyPr wrap="square" rtlCol="0" anchor="ctr"/>
          <a:lstStyle/>
          <a:p>
            <a:pPr marL="0" indent="0">
              <a:buNone/>
            </a:pPr>
            <a:endParaRPr lang="en-US" dirty="0"/>
          </a:p>
        </p:txBody>
      </p:sp>
      <p:sp>
        <p:nvSpPr>
          <p:cNvPr id="25" name="Text 22"/>
          <p:cNvSpPr/>
          <p:nvPr/>
        </p:nvSpPr>
        <p:spPr>
          <a:xfrm>
            <a:off x="550069" y="2855491"/>
            <a:ext cx="257175" cy="214313"/>
          </a:xfrm>
          <a:prstGeom prst="rect">
            <a:avLst/>
          </a:prstGeom>
          <a:noFill/>
          <a:ln/>
        </p:spPr>
        <p:txBody>
          <a:bodyPr wrap="none" lIns="0" tIns="0" rIns="0" bIns="0" rtlCol="0" anchor="ctr"/>
          <a:lstStyle/>
          <a:p>
            <a:pPr marL="0" indent="0" algn="ctr">
              <a:lnSpc>
                <a:spcPts val="1097"/>
              </a:lnSpc>
              <a:buNone/>
            </a:pPr>
            <a:r>
              <a:rPr lang="en-US" sz="800" b="1" dirty="0">
                <a:solidFill>
                  <a:srgbClr val="10E0A0"/>
                </a:solidFill>
                <a:latin typeface="Liberation Sans Narrow" pitchFamily="34" charset="0"/>
                <a:ea typeface="Liberation Sans Narrow" pitchFamily="34" charset="-122"/>
                <a:cs typeface="Liberation Sans Narrow" pitchFamily="34" charset="-120"/>
              </a:rPr>
              <a:t>04</a:t>
            </a:r>
            <a:endParaRPr lang="en-US" sz="800" dirty="0"/>
          </a:p>
        </p:txBody>
      </p:sp>
      <p:sp>
        <p:nvSpPr>
          <p:cNvPr id="26" name="Text 23"/>
          <p:cNvSpPr/>
          <p:nvPr/>
        </p:nvSpPr>
        <p:spPr>
          <a:xfrm>
            <a:off x="848451" y="2864551"/>
            <a:ext cx="60461" cy="60461"/>
          </a:xfrm>
          <a:prstGeom prst="ellipse">
            <a:avLst/>
          </a:prstGeom>
          <a:solidFill>
            <a:srgbClr val="10E0A0">
              <a:alpha val="97000"/>
            </a:srgbClr>
          </a:solidFill>
          <a:ln/>
          <a:effectLst>
            <a:outerShdw blurRad="114300" dist="50800" dir="16200000" algn="bl" rotWithShape="0">
              <a:srgbClr val="10E0A0">
                <a:alpha val="50000"/>
              </a:srgbClr>
            </a:outerShdw>
          </a:effectLst>
        </p:spPr>
        <p:txBody>
          <a:bodyPr wrap="square" rtlCol="0" anchor="ctr"/>
          <a:lstStyle/>
          <a:p>
            <a:pPr marL="0" indent="0">
              <a:buNone/>
            </a:pPr>
            <a:endParaRPr lang="en-US" dirty="0"/>
          </a:p>
        </p:txBody>
      </p:sp>
      <p:sp>
        <p:nvSpPr>
          <p:cNvPr id="27" name="Text 24"/>
          <p:cNvSpPr/>
          <p:nvPr/>
        </p:nvSpPr>
        <p:spPr>
          <a:xfrm>
            <a:off x="964406" y="2841203"/>
            <a:ext cx="3816102" cy="164592"/>
          </a:xfrm>
          <a:prstGeom prst="rect">
            <a:avLst/>
          </a:prstGeom>
          <a:noFill/>
          <a:ln/>
        </p:spPr>
        <p:txBody>
          <a:bodyPr wrap="square" lIns="0" tIns="0" rIns="0" bIns="0" rtlCol="0" anchor="t"/>
          <a:lstStyle/>
          <a:p>
            <a:pPr marL="0" indent="0" algn="l">
              <a:lnSpc>
                <a:spcPts val="844"/>
              </a:lnSpc>
              <a:buNone/>
            </a:pPr>
            <a:r>
              <a:rPr lang="en-US" sz="800" kern="0" spc="79" dirty="0">
                <a:solidFill>
                  <a:srgbClr val="10E0A0"/>
                </a:solidFill>
                <a:latin typeface="Courier New" pitchFamily="34" charset="0"/>
                <a:ea typeface="Courier New" pitchFamily="34" charset="-122"/>
                <a:cs typeface="Courier New" pitchFamily="34" charset="-120"/>
              </a:rPr>
              <a:t>RESULT</a:t>
            </a:r>
            <a:endParaRPr lang="en-US" sz="800" dirty="0"/>
          </a:p>
        </p:txBody>
      </p:sp>
      <p:sp>
        <p:nvSpPr>
          <p:cNvPr id="28" name="Text 25"/>
          <p:cNvSpPr/>
          <p:nvPr/>
        </p:nvSpPr>
        <p:spPr>
          <a:xfrm>
            <a:off x="850106" y="2962647"/>
            <a:ext cx="3930402" cy="154930"/>
          </a:xfrm>
          <a:prstGeom prst="rect">
            <a:avLst/>
          </a:prstGeom>
          <a:noFill/>
          <a:ln/>
        </p:spPr>
        <p:txBody>
          <a:bodyPr wrap="square" lIns="0" tIns="0" rIns="0" bIns="0" rtlCol="0" anchor="t"/>
          <a:lstStyle/>
          <a:p>
            <a:pPr marL="0" indent="0" algn="l">
              <a:lnSpc>
                <a:spcPts val="1221"/>
              </a:lnSpc>
              <a:buNone/>
            </a:pPr>
            <a:r>
              <a:rPr lang="en-US" sz="788" dirty="0">
                <a:solidFill>
                  <a:srgbClr val="E6F1FF"/>
                </a:solidFill>
                <a:latin typeface="Carlito" pitchFamily="34" charset="0"/>
                <a:ea typeface="Carlito" pitchFamily="34" charset="-122"/>
                <a:cs typeface="Carlito" pitchFamily="34" charset="-120"/>
              </a:rPr>
              <a:t>Agentic system auto-pushes the optical config change. </a:t>
            </a:r>
            <a:r>
              <a:rPr lang="en-US" sz="788" dirty="0">
                <a:solidFill>
                  <a:srgbClr val="10E0A0"/>
                </a:solidFill>
                <a:latin typeface="Carlito" pitchFamily="34" charset="0"/>
                <a:ea typeface="Carlito" pitchFamily="34" charset="-122"/>
                <a:cs typeface="Carlito" pitchFamily="34" charset="-120"/>
              </a:rPr>
              <a:t>Zero downtime. Zero truck roll.</a:t>
            </a:r>
            <a:endParaRPr lang="en-US" sz="788" dirty="0"/>
          </a:p>
        </p:txBody>
      </p:sp>
      <p:sp>
        <p:nvSpPr>
          <p:cNvPr id="29" name="Text 26"/>
          <p:cNvSpPr/>
          <p:nvPr/>
        </p:nvSpPr>
        <p:spPr>
          <a:xfrm>
            <a:off x="5076974" y="403622"/>
            <a:ext cx="3606254" cy="1907381"/>
          </a:xfrm>
          <a:prstGeom prst="roundRect">
            <a:avLst>
              <a:gd name="adj" fmla="val 5993"/>
            </a:avLst>
          </a:prstGeom>
          <a:noFill/>
          <a:ln w="7144">
            <a:solidFill>
              <a:srgbClr val="FFFFFF"/>
            </a:solidFill>
            <a:prstDash val="solid"/>
          </a:ln>
        </p:spPr>
        <p:txBody>
          <a:bodyPr wrap="square" rtlCol="0" anchor="ctr"/>
          <a:lstStyle/>
          <a:p>
            <a:pPr marL="0" indent="0">
              <a:buNone/>
            </a:pPr>
            <a:endParaRPr lang="en-US" dirty="0"/>
          </a:p>
        </p:txBody>
      </p:sp>
      <p:pic>
        <p:nvPicPr>
          <p:cNvPr id="30" name="Image 1" descr="/tmp/h2p-fit-1785740048221-dy3u6j.png"/>
          <p:cNvPicPr>
            <a:picLocks noChangeAspect="1"/>
          </p:cNvPicPr>
          <p:nvPr/>
        </p:nvPicPr>
        <p:blipFill>
          <a:blip r:embed="rId4"/>
          <a:stretch>
            <a:fillRect/>
          </a:stretch>
        </p:blipFill>
        <p:spPr>
          <a:xfrm>
            <a:off x="5080546" y="407194"/>
            <a:ext cx="3599111" cy="1900238"/>
          </a:xfrm>
          <a:prstGeom prst="rect">
            <a:avLst/>
          </a:prstGeom>
        </p:spPr>
      </p:pic>
      <p:pic>
        <p:nvPicPr>
          <p:cNvPr id="31" name="Image 2" descr="preencoded.png"/>
          <p:cNvPicPr>
            <a:picLocks noChangeAspect="1"/>
          </p:cNvPicPr>
          <p:nvPr/>
        </p:nvPicPr>
        <p:blipFill>
          <a:blip r:embed="rId5"/>
          <a:stretch>
            <a:fillRect/>
          </a:stretch>
        </p:blipFill>
        <p:spPr>
          <a:xfrm>
            <a:off x="5080546" y="407194"/>
            <a:ext cx="3599111" cy="1900238"/>
          </a:xfrm>
          <a:prstGeom prst="rect">
            <a:avLst/>
          </a:prstGeom>
        </p:spPr>
      </p:pic>
      <p:pic>
        <p:nvPicPr>
          <p:cNvPr id="32" name="Image 3" descr="preencoded.png"/>
          <p:cNvPicPr>
            <a:picLocks noChangeAspect="1"/>
          </p:cNvPicPr>
          <p:nvPr/>
        </p:nvPicPr>
        <p:blipFill>
          <a:blip r:embed="rId6"/>
          <a:stretch>
            <a:fillRect/>
          </a:stretch>
        </p:blipFill>
        <p:spPr>
          <a:xfrm>
            <a:off x="5080546" y="407194"/>
            <a:ext cx="3599111" cy="1900238"/>
          </a:xfrm>
          <a:prstGeom prst="rect">
            <a:avLst/>
          </a:prstGeom>
        </p:spPr>
      </p:pic>
      <p:sp>
        <p:nvSpPr>
          <p:cNvPr id="33" name="Text 27"/>
          <p:cNvSpPr/>
          <p:nvPr/>
        </p:nvSpPr>
        <p:spPr>
          <a:xfrm>
            <a:off x="5080546" y="407194"/>
            <a:ext cx="3599111" cy="1900238"/>
          </a:xfrm>
          <a:prstGeom prst="rect">
            <a:avLst/>
          </a:prstGeom>
          <a:solidFill>
            <a:srgbClr val="FFFFFF">
              <a:alpha val="0"/>
            </a:srgbClr>
          </a:solidFill>
          <a:ln/>
        </p:spPr>
        <p:txBody>
          <a:bodyPr wrap="square" rtlCol="0" anchor="ctr"/>
          <a:lstStyle/>
          <a:p>
            <a:pPr marL="0" indent="0">
              <a:buNone/>
            </a:pPr>
            <a:endParaRPr lang="en-US" dirty="0"/>
          </a:p>
        </p:txBody>
      </p:sp>
      <p:sp>
        <p:nvSpPr>
          <p:cNvPr id="34" name="Text 28"/>
          <p:cNvSpPr/>
          <p:nvPr/>
        </p:nvSpPr>
        <p:spPr>
          <a:xfrm>
            <a:off x="7912395" y="483060"/>
            <a:ext cx="704396" cy="184023"/>
          </a:xfrm>
          <a:prstGeom prst="roundRect">
            <a:avLst>
              <a:gd name="adj" fmla="val 20704"/>
            </a:avLst>
          </a:prstGeom>
          <a:solidFill>
            <a:srgbClr val="0A0E1A">
              <a:alpha val="75000"/>
            </a:srgbClr>
          </a:solidFill>
          <a:ln w="7144">
            <a:solidFill>
              <a:srgbClr val="FFFFFF"/>
            </a:solidFill>
            <a:prstDash val="solid"/>
          </a:ln>
        </p:spPr>
        <p:txBody>
          <a:bodyPr wrap="square" rtlCol="0" anchor="ctr"/>
          <a:lstStyle/>
          <a:p>
            <a:pPr marL="0" indent="0">
              <a:buNone/>
            </a:pPr>
            <a:endParaRPr lang="en-US" dirty="0"/>
          </a:p>
        </p:txBody>
      </p:sp>
      <p:sp>
        <p:nvSpPr>
          <p:cNvPr id="35" name="Text 29"/>
          <p:cNvSpPr/>
          <p:nvPr/>
        </p:nvSpPr>
        <p:spPr>
          <a:xfrm>
            <a:off x="7851782" y="492919"/>
            <a:ext cx="825622" cy="164306"/>
          </a:xfrm>
          <a:prstGeom prst="rect">
            <a:avLst/>
          </a:prstGeom>
          <a:noFill/>
          <a:ln/>
        </p:spPr>
        <p:txBody>
          <a:bodyPr wrap="none" lIns="0" tIns="0" rIns="0" bIns="0" rtlCol="0" anchor="ctr"/>
          <a:lstStyle/>
          <a:p>
            <a:pPr marL="0" indent="0" algn="ctr">
              <a:lnSpc>
                <a:spcPts val="844"/>
              </a:lnSpc>
              <a:buNone/>
            </a:pPr>
            <a:r>
              <a:rPr lang="en-US" sz="800" kern="0" spc="79" dirty="0">
                <a:solidFill>
                  <a:srgbClr val="A9B4CC"/>
                </a:solidFill>
                <a:latin typeface="Courier New" pitchFamily="34" charset="0"/>
                <a:ea typeface="Courier New" pitchFamily="34" charset="-122"/>
                <a:cs typeface="Courier New" pitchFamily="34" charset="-120"/>
              </a:rPr>
              <a:t>FIBER · LIVE</a:t>
            </a:r>
            <a:endParaRPr lang="en-US" sz="800" dirty="0"/>
          </a:p>
        </p:txBody>
      </p:sp>
      <p:sp>
        <p:nvSpPr>
          <p:cNvPr id="36" name="Text 30"/>
          <p:cNvSpPr/>
          <p:nvPr/>
        </p:nvSpPr>
        <p:spPr>
          <a:xfrm>
            <a:off x="5143411" y="1991020"/>
            <a:ext cx="941368" cy="243488"/>
          </a:xfrm>
          <a:prstGeom prst="roundRect">
            <a:avLst>
              <a:gd name="adj" fmla="val 3907985"/>
            </a:avLst>
          </a:prstGeom>
          <a:solidFill>
            <a:srgbClr val="0A0E1A">
              <a:alpha val="85000"/>
            </a:srgbClr>
          </a:solidFill>
          <a:ln w="7144">
            <a:solidFill>
              <a:srgbClr val="FFFFFF"/>
            </a:solidFill>
            <a:prstDash val="solid"/>
          </a:ln>
        </p:spPr>
        <p:txBody>
          <a:bodyPr wrap="square" rtlCol="0" anchor="ctr"/>
          <a:lstStyle/>
          <a:p>
            <a:pPr marL="0" indent="0">
              <a:buNone/>
            </a:pPr>
            <a:endParaRPr lang="en-US" dirty="0"/>
          </a:p>
        </p:txBody>
      </p:sp>
      <p:sp>
        <p:nvSpPr>
          <p:cNvPr id="37" name="Text 31"/>
          <p:cNvSpPr/>
          <p:nvPr/>
        </p:nvSpPr>
        <p:spPr>
          <a:xfrm>
            <a:off x="5257484" y="2082534"/>
            <a:ext cx="60461" cy="60461"/>
          </a:xfrm>
          <a:prstGeom prst="ellipse">
            <a:avLst/>
          </a:prstGeom>
          <a:solidFill>
            <a:srgbClr val="FFB347">
              <a:alpha val="97000"/>
            </a:srgbClr>
          </a:solidFill>
          <a:ln/>
          <a:effectLst>
            <a:outerShdw blurRad="114300" dist="50800" dir="16200000" algn="bl" rotWithShape="0">
              <a:srgbClr val="FFB347">
                <a:alpha val="50000"/>
              </a:srgbClr>
            </a:outerShdw>
          </a:effectLst>
        </p:spPr>
        <p:txBody>
          <a:bodyPr wrap="square" rtlCol="0" anchor="ctr"/>
          <a:lstStyle/>
          <a:p>
            <a:pPr marL="0" indent="0">
              <a:buNone/>
            </a:pPr>
            <a:endParaRPr lang="en-US" dirty="0"/>
          </a:p>
        </p:txBody>
      </p:sp>
      <p:sp>
        <p:nvSpPr>
          <p:cNvPr id="38" name="Text 32"/>
          <p:cNvSpPr/>
          <p:nvPr/>
        </p:nvSpPr>
        <p:spPr>
          <a:xfrm>
            <a:off x="5322752" y="2053828"/>
            <a:ext cx="696984" cy="117872"/>
          </a:xfrm>
          <a:prstGeom prst="rect">
            <a:avLst/>
          </a:prstGeom>
          <a:noFill/>
          <a:ln/>
        </p:spPr>
        <p:txBody>
          <a:bodyPr wrap="none" lIns="0" tIns="0" rIns="0" bIns="0" rtlCol="0" anchor="t"/>
          <a:lstStyle/>
          <a:p>
            <a:pPr marL="0" indent="0" algn="l">
              <a:lnSpc>
                <a:spcPts val="928"/>
              </a:lnSpc>
              <a:buNone/>
            </a:pPr>
            <a:r>
              <a:rPr lang="en-US" sz="619" kern="0" spc="37" dirty="0">
                <a:solidFill>
                  <a:srgbClr val="E6F1FF"/>
                </a:solidFill>
                <a:latin typeface="Liberation Sans Narrow" pitchFamily="34" charset="0"/>
                <a:ea typeface="Liberation Sans Narrow" pitchFamily="34" charset="-122"/>
                <a:cs typeface="Liberation Sans Narrow" pitchFamily="34" charset="-120"/>
              </a:rPr>
              <a:t>OSNR · 22.4 dB</a:t>
            </a:r>
            <a:endParaRPr lang="en-US" sz="619"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7071512" y="-200025"/>
            <a:ext cx="2072488" cy="1234440"/>
          </a:xfrm>
          <a:prstGeom prst="rect">
            <a:avLst/>
          </a:prstGeom>
          <a:noFill/>
          <a:ln/>
        </p:spPr>
        <p:txBody>
          <a:bodyPr wrap="none" lIns="0" tIns="0" rIns="0" bIns="0" rtlCol="0" anchor="t"/>
          <a:lstStyle/>
          <a:p>
            <a:pPr marL="0" indent="0" algn="l">
              <a:lnSpc>
                <a:spcPts val="9000"/>
              </a:lnSpc>
              <a:buNone/>
            </a:pPr>
            <a:r>
              <a:rPr lang="en-US" sz="9000" b="1" kern="0" spc="-360" dirty="0">
                <a:solidFill>
                  <a:srgbClr val="FFFFFF">
                    <a:alpha val="2000"/>
                  </a:srgbClr>
                </a:solidFill>
                <a:latin typeface="Liberation Sans Narrow" pitchFamily="34" charset="0"/>
                <a:ea typeface="Liberation Sans Narrow" pitchFamily="34" charset="-122"/>
                <a:cs typeface="Liberation Sans Narrow" pitchFamily="34" charset="-120"/>
              </a:rPr>
              <a:t>07</a:t>
            </a:r>
            <a:endParaRPr lang="en-US" sz="9000" dirty="0"/>
          </a:p>
        </p:txBody>
      </p:sp>
      <p:sp>
        <p:nvSpPr>
          <p:cNvPr id="3" name="Text 1"/>
          <p:cNvSpPr/>
          <p:nvPr/>
        </p:nvSpPr>
        <p:spPr>
          <a:xfrm>
            <a:off x="457200" y="388691"/>
            <a:ext cx="1016645" cy="212027"/>
          </a:xfrm>
          <a:prstGeom prst="roundRect">
            <a:avLst>
              <a:gd name="adj" fmla="val 4487860"/>
            </a:avLst>
          </a:prstGeom>
          <a:solidFill>
            <a:srgbClr val="00E5FF">
              <a:alpha val="6000"/>
            </a:srgbClr>
          </a:solidFill>
          <a:ln w="7144">
            <a:solidFill>
              <a:srgbClr val="00E5FF"/>
            </a:solidFill>
            <a:prstDash val="solid"/>
          </a:ln>
        </p:spPr>
        <p:txBody>
          <a:bodyPr wrap="square" rtlCol="0" anchor="ctr"/>
          <a:lstStyle/>
          <a:p>
            <a:pPr marL="0" indent="0">
              <a:buNone/>
            </a:pPr>
            <a:endParaRPr lang="en-US" dirty="0"/>
          </a:p>
        </p:txBody>
      </p:sp>
      <p:sp>
        <p:nvSpPr>
          <p:cNvPr id="4" name="Text 2"/>
          <p:cNvSpPr/>
          <p:nvPr/>
        </p:nvSpPr>
        <p:spPr>
          <a:xfrm>
            <a:off x="550069" y="466130"/>
            <a:ext cx="57150" cy="57150"/>
          </a:xfrm>
          <a:prstGeom prst="roundRect">
            <a:avLst>
              <a:gd name="adj" fmla="val 66667"/>
            </a:avLst>
          </a:prstGeom>
          <a:solidFill>
            <a:srgbClr val="00E5FF"/>
          </a:solidFill>
          <a:ln/>
        </p:spPr>
        <p:txBody>
          <a:bodyPr wrap="square" rtlCol="0" anchor="ctr"/>
          <a:lstStyle/>
          <a:p>
            <a:pPr marL="0" indent="0">
              <a:buNone/>
            </a:pPr>
            <a:endParaRPr lang="en-US" dirty="0"/>
          </a:p>
        </p:txBody>
      </p:sp>
      <p:sp>
        <p:nvSpPr>
          <p:cNvPr id="5" name="Text 3"/>
          <p:cNvSpPr/>
          <p:nvPr/>
        </p:nvSpPr>
        <p:spPr>
          <a:xfrm>
            <a:off x="457200" y="400050"/>
            <a:ext cx="1016645" cy="189309"/>
          </a:xfrm>
          <a:prstGeom prst="rect">
            <a:avLst/>
          </a:prstGeom>
          <a:noFill/>
          <a:ln/>
        </p:spPr>
        <p:txBody>
          <a:bodyPr wrap="none" lIns="0" tIns="0" rIns="0" bIns="0" rtlCol="0" anchor="ctr"/>
          <a:lstStyle/>
          <a:p>
            <a:pPr marL="0" indent="0" algn="ctr">
              <a:lnSpc>
                <a:spcPts val="928"/>
              </a:lnSpc>
              <a:buNone/>
            </a:pPr>
            <a:r>
              <a:rPr lang="en-US" sz="800" kern="0" spc="74" dirty="0">
                <a:solidFill>
                  <a:srgbClr val="00E5FF"/>
                </a:solidFill>
                <a:latin typeface="Courier New" pitchFamily="34" charset="0"/>
                <a:ea typeface="Courier New" pitchFamily="34" charset="-122"/>
                <a:cs typeface="Courier New" pitchFamily="34" charset="-120"/>
              </a:rPr>
              <a:t>TARGET AUDIENCE</a:t>
            </a:r>
            <a:endParaRPr lang="en-US" sz="800" dirty="0"/>
          </a:p>
        </p:txBody>
      </p:sp>
      <p:sp>
        <p:nvSpPr>
          <p:cNvPr id="6" name="Text 4"/>
          <p:cNvSpPr/>
          <p:nvPr/>
        </p:nvSpPr>
        <p:spPr>
          <a:xfrm>
            <a:off x="1559570" y="435769"/>
            <a:ext cx="7127230" cy="164592"/>
          </a:xfrm>
          <a:prstGeom prst="rect">
            <a:avLst/>
          </a:prstGeom>
          <a:noFill/>
          <a:ln/>
        </p:spPr>
        <p:txBody>
          <a:bodyPr wrap="square" lIns="0" tIns="0" rIns="0" bIns="0" rtlCol="0" anchor="t"/>
          <a:lstStyle/>
          <a:p>
            <a:pPr marL="0" indent="0" algn="l">
              <a:lnSpc>
                <a:spcPts val="928"/>
              </a:lnSpc>
              <a:buNone/>
            </a:pPr>
            <a:r>
              <a:rPr lang="en-US" sz="800" kern="0" spc="87" dirty="0">
                <a:solidFill>
                  <a:srgbClr val="6B7494"/>
                </a:solidFill>
                <a:latin typeface="Courier New" pitchFamily="34" charset="0"/>
                <a:ea typeface="Courier New" pitchFamily="34" charset="-122"/>
                <a:cs typeface="Courier New" pitchFamily="34" charset="-120"/>
              </a:rPr>
              <a:t>/ STAKEHOLDER MAP</a:t>
            </a:r>
            <a:endParaRPr lang="en-US" sz="800" dirty="0"/>
          </a:p>
        </p:txBody>
      </p:sp>
      <p:sp>
        <p:nvSpPr>
          <p:cNvPr id="7" name="Text 5"/>
          <p:cNvSpPr/>
          <p:nvPr/>
        </p:nvSpPr>
        <p:spPr>
          <a:xfrm>
            <a:off x="457200" y="675084"/>
            <a:ext cx="2744864" cy="366595"/>
          </a:xfrm>
          <a:prstGeom prst="rect">
            <a:avLst/>
          </a:prstGeom>
          <a:noFill/>
          <a:ln/>
        </p:spPr>
        <p:txBody>
          <a:bodyPr wrap="none" lIns="0" tIns="0" rIns="0" bIns="0" rtlCol="0" anchor="t"/>
          <a:lstStyle/>
          <a:p>
            <a:pPr marL="0" indent="0" algn="l">
              <a:lnSpc>
                <a:spcPts val="2673"/>
              </a:lnSpc>
              <a:buNone/>
            </a:pPr>
            <a:r>
              <a:rPr lang="en-US" sz="2475" b="1" kern="0" spc="-30" dirty="0">
                <a:solidFill>
                  <a:srgbClr val="E6F1FF"/>
                </a:solidFill>
                <a:latin typeface="Carlito" pitchFamily="34" charset="0"/>
                <a:ea typeface="Carlito" pitchFamily="34" charset="-122"/>
                <a:cs typeface="Carlito" pitchFamily="34" charset="-120"/>
              </a:rPr>
              <a:t>Who </a:t>
            </a:r>
            <a:r>
              <a:rPr lang="en-US" sz="2475" b="1" kern="0" spc="-30" dirty="0">
                <a:solidFill>
                  <a:srgbClr val="00E5FF"/>
                </a:solidFill>
                <a:latin typeface="Carlito" pitchFamily="34" charset="0"/>
                <a:ea typeface="Carlito" pitchFamily="34" charset="-122"/>
                <a:cs typeface="Carlito" pitchFamily="34" charset="-120"/>
              </a:rPr>
              <a:t>Benefits</a:t>
            </a:r>
            <a:r>
              <a:rPr lang="en-US" sz="2475" b="1" kern="0" spc="-30" dirty="0">
                <a:solidFill>
                  <a:srgbClr val="E6F1FF"/>
                </a:solidFill>
                <a:latin typeface="Carlito" pitchFamily="34" charset="0"/>
                <a:ea typeface="Carlito" pitchFamily="34" charset="-122"/>
                <a:cs typeface="Carlito" pitchFamily="34" charset="-120"/>
              </a:rPr>
              <a:t>?</a:t>
            </a:r>
            <a:endParaRPr lang="en-US" sz="2475" dirty="0"/>
          </a:p>
        </p:txBody>
      </p:sp>
      <p:sp>
        <p:nvSpPr>
          <p:cNvPr id="8" name="Text 6"/>
          <p:cNvSpPr/>
          <p:nvPr/>
        </p:nvSpPr>
        <p:spPr>
          <a:xfrm>
            <a:off x="457200" y="1071674"/>
            <a:ext cx="2529396" cy="194328"/>
          </a:xfrm>
          <a:prstGeom prst="rect">
            <a:avLst/>
          </a:prstGeom>
          <a:noFill/>
          <a:ln/>
        </p:spPr>
        <p:txBody>
          <a:bodyPr wrap="square" lIns="0" tIns="0" rIns="0" bIns="0" rtlCol="0" anchor="t"/>
          <a:lstStyle/>
          <a:p>
            <a:pPr marL="0" indent="0" algn="l">
              <a:lnSpc>
                <a:spcPts val="1418"/>
              </a:lnSpc>
              <a:buNone/>
            </a:pPr>
            <a:r>
              <a:rPr lang="en-US" sz="1013" dirty="0">
                <a:solidFill>
                  <a:srgbClr val="A9B4CC"/>
                </a:solidFill>
                <a:latin typeface="Carlito" pitchFamily="34" charset="0"/>
                <a:ea typeface="Carlito" pitchFamily="34" charset="-122"/>
                <a:cs typeface="Carlito" pitchFamily="34" charset="-120"/>
              </a:rPr>
              <a:t>Four audiences, one self-healing network.</a:t>
            </a:r>
            <a:endParaRPr lang="en-US" sz="1013" dirty="0"/>
          </a:p>
        </p:txBody>
      </p:sp>
      <p:sp>
        <p:nvSpPr>
          <p:cNvPr id="9" name="Text 7"/>
          <p:cNvSpPr/>
          <p:nvPr/>
        </p:nvSpPr>
        <p:spPr>
          <a:xfrm>
            <a:off x="7914105" y="919423"/>
            <a:ext cx="772695" cy="119015"/>
          </a:xfrm>
          <a:prstGeom prst="rect">
            <a:avLst/>
          </a:prstGeom>
          <a:noFill/>
          <a:ln/>
        </p:spPr>
        <p:txBody>
          <a:bodyPr wrap="none" lIns="0" tIns="0" rIns="0" bIns="0" rtlCol="0" anchor="t">
            <a:normAutofit/>
          </a:bodyPr>
          <a:lstStyle/>
          <a:p>
            <a:pPr marL="0" indent="0" algn="r">
              <a:lnSpc>
                <a:spcPts val="928"/>
              </a:lnSpc>
              <a:buNone/>
            </a:pPr>
            <a:r>
              <a:rPr lang="en-US" sz="619" kern="0" spc="87" dirty="0">
                <a:solidFill>
                  <a:srgbClr val="6B7494"/>
                </a:solidFill>
                <a:latin typeface="Courier New" pitchFamily="34" charset="0"/>
                <a:ea typeface="Courier New" pitchFamily="34" charset="-122"/>
                <a:cs typeface="Courier New" pitchFamily="34" charset="-120"/>
              </a:rPr>
              <a:t>STAKEHOLDERS</a:t>
            </a:r>
            <a:endParaRPr lang="en-US" sz="619" dirty="0"/>
          </a:p>
        </p:txBody>
      </p:sp>
      <p:sp>
        <p:nvSpPr>
          <p:cNvPr id="10" name="Text 8"/>
          <p:cNvSpPr/>
          <p:nvPr/>
        </p:nvSpPr>
        <p:spPr>
          <a:xfrm>
            <a:off x="7721144" y="1065870"/>
            <a:ext cx="965656" cy="200597"/>
          </a:xfrm>
          <a:prstGeom prst="rect">
            <a:avLst/>
          </a:prstGeom>
          <a:noFill/>
          <a:ln/>
        </p:spPr>
        <p:txBody>
          <a:bodyPr wrap="none" lIns="0" tIns="0" rIns="0" bIns="0" rtlCol="0" anchor="t"/>
          <a:lstStyle/>
          <a:p>
            <a:pPr marL="0" indent="0" algn="r">
              <a:lnSpc>
                <a:spcPts val="1463"/>
              </a:lnSpc>
              <a:buNone/>
            </a:pPr>
            <a:r>
              <a:rPr lang="en-US" sz="1463" dirty="0">
                <a:solidFill>
                  <a:srgbClr val="00E5FF"/>
                </a:solidFill>
                <a:latin typeface="Liberation Sans Narrow" pitchFamily="34" charset="0"/>
                <a:ea typeface="Liberation Sans Narrow" pitchFamily="34" charset="-122"/>
                <a:cs typeface="Liberation Sans Narrow" pitchFamily="34" charset="-120"/>
              </a:rPr>
              <a:t>04</a:t>
            </a:r>
            <a:endParaRPr lang="en-US" sz="1463" dirty="0"/>
          </a:p>
        </p:txBody>
      </p:sp>
      <p:sp>
        <p:nvSpPr>
          <p:cNvPr id="11" name="Text 9"/>
          <p:cNvSpPr/>
          <p:nvPr/>
        </p:nvSpPr>
        <p:spPr>
          <a:xfrm>
            <a:off x="460772" y="1398054"/>
            <a:ext cx="4050506" cy="1278731"/>
          </a:xfrm>
          <a:prstGeom prst="roundRect">
            <a:avLst>
              <a:gd name="adj" fmla="val 10428"/>
            </a:avLst>
          </a:prstGeom>
          <a:solidFill>
            <a:srgbClr val="FFFFFF">
              <a:alpha val="4000"/>
            </a:srgbClr>
          </a:solidFill>
          <a:ln w="7144">
            <a:solidFill>
              <a:srgbClr val="FFFFFF"/>
            </a:solidFill>
            <a:prstDash val="solid"/>
          </a:ln>
        </p:spPr>
        <p:txBody>
          <a:bodyPr wrap="square" rtlCol="0" anchor="ctr"/>
          <a:lstStyle/>
          <a:p>
            <a:pPr marL="0" indent="0">
              <a:buNone/>
            </a:pPr>
            <a:endParaRPr lang="en-US" dirty="0"/>
          </a:p>
        </p:txBody>
      </p:sp>
      <p:sp>
        <p:nvSpPr>
          <p:cNvPr id="12" name="Text 10"/>
          <p:cNvSpPr/>
          <p:nvPr/>
        </p:nvSpPr>
        <p:spPr>
          <a:xfrm>
            <a:off x="610791" y="1548073"/>
            <a:ext cx="364331" cy="364331"/>
          </a:xfrm>
          <a:prstGeom prst="roundRect">
            <a:avLst>
              <a:gd name="adj" fmla="val 31373"/>
            </a:avLst>
          </a:prstGeom>
          <a:solidFill>
            <a:srgbClr val="00E5FF">
              <a:alpha val="10000"/>
            </a:srgbClr>
          </a:solidFill>
          <a:ln w="7144">
            <a:solidFill>
              <a:srgbClr val="00E5FF"/>
            </a:solidFill>
            <a:prstDash val="solid"/>
          </a:ln>
        </p:spPr>
        <p:txBody>
          <a:bodyPr wrap="square" rtlCol="0" anchor="ctr"/>
          <a:lstStyle/>
          <a:p>
            <a:pPr marL="0" indent="0">
              <a:buNone/>
            </a:pPr>
            <a:endParaRPr lang="en-US" dirty="0"/>
          </a:p>
        </p:txBody>
      </p:sp>
      <p:sp>
        <p:nvSpPr>
          <p:cNvPr id="13" name="Text 11"/>
          <p:cNvSpPr/>
          <p:nvPr/>
        </p:nvSpPr>
        <p:spPr>
          <a:xfrm>
            <a:off x="647938" y="1585220"/>
            <a:ext cx="290036" cy="290036"/>
          </a:xfrm>
          <a:prstGeom prst="rect">
            <a:avLst/>
          </a:prstGeom>
          <a:noFill/>
          <a:ln/>
        </p:spPr>
        <p:txBody>
          <a:bodyPr wrap="none" lIns="0" tIns="0" rIns="0" bIns="0" rtlCol="0" anchor="ctr"/>
          <a:lstStyle/>
          <a:p>
            <a:pPr marL="0" indent="0" algn="ctr">
              <a:buNone/>
            </a:pPr>
            <a:r>
              <a:rPr lang="en-US" sz="1969" dirty="0">
                <a:solidFill>
                  <a:srgbClr val="00E5FF"/>
                </a:solidFill>
                <a:latin typeface="Segoe UI Symbol" pitchFamily="34" charset="0"/>
                <a:ea typeface="Segoe UI Symbol" pitchFamily="34" charset="-122"/>
                <a:cs typeface="Segoe UI Symbol" pitchFamily="34" charset="-120"/>
              </a:rPr>
              <a:t>✦</a:t>
            </a:r>
            <a:endParaRPr lang="en-US" sz="1969" dirty="0"/>
          </a:p>
        </p:txBody>
      </p:sp>
      <p:sp>
        <p:nvSpPr>
          <p:cNvPr id="14" name="Text 12"/>
          <p:cNvSpPr/>
          <p:nvPr/>
        </p:nvSpPr>
        <p:spPr>
          <a:xfrm>
            <a:off x="1092994" y="1544501"/>
            <a:ext cx="2880271" cy="164592"/>
          </a:xfrm>
          <a:prstGeom prst="rect">
            <a:avLst/>
          </a:prstGeom>
          <a:noFill/>
          <a:ln/>
        </p:spPr>
        <p:txBody>
          <a:bodyPr wrap="square" lIns="0" tIns="0" rIns="0" bIns="0" rtlCol="0" anchor="t"/>
          <a:lstStyle/>
          <a:p>
            <a:pPr marL="0" indent="0" algn="l">
              <a:lnSpc>
                <a:spcPts val="928"/>
              </a:lnSpc>
              <a:buNone/>
            </a:pPr>
            <a:r>
              <a:rPr lang="en-US" sz="800" kern="0" spc="87" dirty="0">
                <a:solidFill>
                  <a:srgbClr val="00E5FF"/>
                </a:solidFill>
                <a:latin typeface="Liberation Sans Narrow" pitchFamily="34" charset="0"/>
                <a:ea typeface="Liberation Sans Narrow" pitchFamily="34" charset="-122"/>
                <a:cs typeface="Liberation Sans Narrow" pitchFamily="34" charset="-120"/>
              </a:rPr>
              <a:t>STAKEHOLDER 01</a:t>
            </a:r>
            <a:endParaRPr lang="en-US" sz="800" dirty="0"/>
          </a:p>
        </p:txBody>
      </p:sp>
      <p:sp>
        <p:nvSpPr>
          <p:cNvPr id="15" name="Text 13"/>
          <p:cNvSpPr/>
          <p:nvPr/>
        </p:nvSpPr>
        <p:spPr>
          <a:xfrm>
            <a:off x="3971888" y="1544501"/>
            <a:ext cx="408607" cy="164592"/>
          </a:xfrm>
          <a:prstGeom prst="rect">
            <a:avLst/>
          </a:prstGeom>
          <a:noFill/>
          <a:ln/>
        </p:spPr>
        <p:txBody>
          <a:bodyPr wrap="none" lIns="0" tIns="0" rIns="0" bIns="0" rtlCol="0" anchor="t"/>
          <a:lstStyle/>
          <a:p>
            <a:pPr marL="0" indent="0" algn="l">
              <a:lnSpc>
                <a:spcPts val="928"/>
              </a:lnSpc>
              <a:buNone/>
            </a:pPr>
            <a:r>
              <a:rPr lang="en-US" sz="619" kern="0" spc="62" dirty="0">
                <a:solidFill>
                  <a:srgbClr val="6B7494"/>
                </a:solidFill>
                <a:latin typeface="Liberation Sans Narrow" pitchFamily="34" charset="0"/>
                <a:ea typeface="Liberation Sans Narrow" pitchFamily="34" charset="-122"/>
                <a:cs typeface="Liberation Sans Narrow" pitchFamily="34" charset="-120"/>
              </a:rPr>
              <a:t>5G / RAN</a:t>
            </a:r>
            <a:endParaRPr lang="en-US" sz="619" dirty="0"/>
          </a:p>
        </p:txBody>
      </p:sp>
      <p:sp>
        <p:nvSpPr>
          <p:cNvPr id="16" name="Text 14"/>
          <p:cNvSpPr/>
          <p:nvPr/>
        </p:nvSpPr>
        <p:spPr>
          <a:xfrm>
            <a:off x="1092994" y="1705235"/>
            <a:ext cx="3271838" cy="194328"/>
          </a:xfrm>
          <a:prstGeom prst="rect">
            <a:avLst/>
          </a:prstGeom>
          <a:noFill/>
          <a:ln/>
        </p:spPr>
        <p:txBody>
          <a:bodyPr wrap="none" lIns="0" tIns="0" rIns="0" bIns="0" rtlCol="0" anchor="t"/>
          <a:lstStyle/>
          <a:p>
            <a:pPr marL="0" indent="0" algn="l">
              <a:lnSpc>
                <a:spcPts val="1418"/>
              </a:lnSpc>
              <a:buNone/>
            </a:pPr>
            <a:r>
              <a:rPr lang="en-US" sz="1181" kern="0" spc="-6" dirty="0">
                <a:solidFill>
                  <a:srgbClr val="E6F1FF"/>
                </a:solidFill>
                <a:latin typeface="Liberation Sans Narrow" pitchFamily="34" charset="0"/>
                <a:ea typeface="Liberation Sans Narrow" pitchFamily="34" charset="-122"/>
                <a:cs typeface="Liberation Sans Narrow" pitchFamily="34" charset="-120"/>
              </a:rPr>
              <a:t>Telecom &amp; 5G Providers</a:t>
            </a:r>
            <a:endParaRPr lang="en-US" sz="1181" dirty="0"/>
          </a:p>
        </p:txBody>
      </p:sp>
      <p:sp>
        <p:nvSpPr>
          <p:cNvPr id="17" name="Text 15"/>
          <p:cNvSpPr/>
          <p:nvPr/>
        </p:nvSpPr>
        <p:spPr>
          <a:xfrm>
            <a:off x="1092994" y="1942319"/>
            <a:ext cx="3271838" cy="358759"/>
          </a:xfrm>
          <a:prstGeom prst="rect">
            <a:avLst/>
          </a:prstGeom>
          <a:noFill/>
          <a:ln/>
        </p:spPr>
        <p:txBody>
          <a:bodyPr wrap="square" lIns="0" tIns="0" rIns="0" bIns="0" rtlCol="0" anchor="t"/>
          <a:lstStyle/>
          <a:p>
            <a:pPr marL="0" indent="0" algn="l">
              <a:lnSpc>
                <a:spcPts val="1308"/>
              </a:lnSpc>
              <a:buNone/>
            </a:pPr>
            <a:r>
              <a:rPr lang="en-US" sz="844" dirty="0">
                <a:solidFill>
                  <a:srgbClr val="A9B4CC"/>
                </a:solidFill>
                <a:latin typeface="Carlito" pitchFamily="34" charset="0"/>
                <a:ea typeface="Carlito" pitchFamily="34" charset="-122"/>
                <a:cs typeface="Carlito" pitchFamily="34" charset="-120"/>
              </a:rPr>
              <a:t>Reducing OPEX from physical truck rolls and preventing mass outages.</a:t>
            </a:r>
            <a:endParaRPr lang="en-US" sz="844" dirty="0"/>
          </a:p>
        </p:txBody>
      </p:sp>
      <p:sp>
        <p:nvSpPr>
          <p:cNvPr id="18" name="Text 16"/>
          <p:cNvSpPr/>
          <p:nvPr/>
        </p:nvSpPr>
        <p:spPr>
          <a:xfrm>
            <a:off x="4632722" y="1398054"/>
            <a:ext cx="4050506" cy="1278731"/>
          </a:xfrm>
          <a:prstGeom prst="roundRect">
            <a:avLst>
              <a:gd name="adj" fmla="val 10428"/>
            </a:avLst>
          </a:prstGeom>
          <a:solidFill>
            <a:srgbClr val="FFFFFF">
              <a:alpha val="4000"/>
            </a:srgbClr>
          </a:solidFill>
          <a:ln w="7144">
            <a:solidFill>
              <a:srgbClr val="FFFFFF"/>
            </a:solidFill>
            <a:prstDash val="solid"/>
          </a:ln>
        </p:spPr>
        <p:txBody>
          <a:bodyPr wrap="square" rtlCol="0" anchor="ctr"/>
          <a:lstStyle/>
          <a:p>
            <a:pPr marL="0" indent="0">
              <a:buNone/>
            </a:pPr>
            <a:endParaRPr lang="en-US" dirty="0"/>
          </a:p>
        </p:txBody>
      </p:sp>
      <p:pic>
        <p:nvPicPr>
          <p:cNvPr id="19" name="Image 0" descr="preencoded.png"/>
          <p:cNvPicPr>
            <a:picLocks noChangeAspect="1"/>
          </p:cNvPicPr>
          <p:nvPr/>
        </p:nvPicPr>
        <p:blipFill>
          <a:blip r:embed="rId3"/>
          <a:stretch>
            <a:fillRect/>
          </a:stretch>
        </p:blipFill>
        <p:spPr>
          <a:xfrm>
            <a:off x="4421981" y="1187314"/>
            <a:ext cx="4471988" cy="1700213"/>
          </a:xfrm>
          <a:prstGeom prst="rect">
            <a:avLst/>
          </a:prstGeom>
        </p:spPr>
      </p:pic>
      <p:sp>
        <p:nvSpPr>
          <p:cNvPr id="20" name="Text 17"/>
          <p:cNvSpPr/>
          <p:nvPr/>
        </p:nvSpPr>
        <p:spPr>
          <a:xfrm>
            <a:off x="4421981" y="1187314"/>
            <a:ext cx="4471988" cy="1700213"/>
          </a:xfrm>
          <a:prstGeom prst="rect">
            <a:avLst/>
          </a:prstGeom>
          <a:solidFill>
            <a:srgbClr val="FFFFFF">
              <a:alpha val="0"/>
            </a:srgbClr>
          </a:solidFill>
          <a:ln/>
        </p:spPr>
        <p:txBody>
          <a:bodyPr wrap="square" rtlCol="0" anchor="ctr"/>
          <a:lstStyle/>
          <a:p>
            <a:pPr marL="0" indent="0">
              <a:buNone/>
            </a:pPr>
            <a:endParaRPr lang="en-US" dirty="0"/>
          </a:p>
        </p:txBody>
      </p:sp>
      <p:sp>
        <p:nvSpPr>
          <p:cNvPr id="21" name="Text 18"/>
          <p:cNvSpPr/>
          <p:nvPr/>
        </p:nvSpPr>
        <p:spPr>
          <a:xfrm>
            <a:off x="4782741" y="1548073"/>
            <a:ext cx="364331" cy="364331"/>
          </a:xfrm>
          <a:prstGeom prst="roundRect">
            <a:avLst>
              <a:gd name="adj" fmla="val 31373"/>
            </a:avLst>
          </a:prstGeom>
          <a:solidFill>
            <a:srgbClr val="00E5FF">
              <a:alpha val="10000"/>
            </a:srgbClr>
          </a:solidFill>
          <a:ln w="7144">
            <a:solidFill>
              <a:srgbClr val="00E5FF"/>
            </a:solidFill>
            <a:prstDash val="solid"/>
          </a:ln>
        </p:spPr>
        <p:txBody>
          <a:bodyPr wrap="square" rtlCol="0" anchor="ctr"/>
          <a:lstStyle/>
          <a:p>
            <a:pPr marL="0" indent="0">
              <a:buNone/>
            </a:pPr>
            <a:endParaRPr lang="en-US" dirty="0"/>
          </a:p>
        </p:txBody>
      </p:sp>
      <p:sp>
        <p:nvSpPr>
          <p:cNvPr id="22" name="Text 19"/>
          <p:cNvSpPr/>
          <p:nvPr/>
        </p:nvSpPr>
        <p:spPr>
          <a:xfrm>
            <a:off x="4819888" y="1585220"/>
            <a:ext cx="290036" cy="290036"/>
          </a:xfrm>
          <a:prstGeom prst="rect">
            <a:avLst/>
          </a:prstGeom>
          <a:noFill/>
          <a:ln/>
        </p:spPr>
        <p:txBody>
          <a:bodyPr wrap="none" lIns="0" tIns="0" rIns="0" bIns="0" rtlCol="0" anchor="ctr"/>
          <a:lstStyle/>
          <a:p>
            <a:pPr marL="0" indent="0" algn="ctr">
              <a:buNone/>
            </a:pPr>
            <a:r>
              <a:rPr lang="en-US" sz="1969" dirty="0">
                <a:solidFill>
                  <a:srgbClr val="00E5FF"/>
                </a:solidFill>
                <a:latin typeface="Segoe UI Symbol" pitchFamily="34" charset="0"/>
                <a:ea typeface="Segoe UI Symbol" pitchFamily="34" charset="-122"/>
                <a:cs typeface="Segoe UI Symbol" pitchFamily="34" charset="-120"/>
              </a:rPr>
              <a:t>☁</a:t>
            </a:r>
            <a:endParaRPr lang="en-US" sz="1969" dirty="0"/>
          </a:p>
        </p:txBody>
      </p:sp>
      <p:sp>
        <p:nvSpPr>
          <p:cNvPr id="23" name="Text 20"/>
          <p:cNvSpPr/>
          <p:nvPr/>
        </p:nvSpPr>
        <p:spPr>
          <a:xfrm>
            <a:off x="5264944" y="1544501"/>
            <a:ext cx="2738847" cy="164592"/>
          </a:xfrm>
          <a:prstGeom prst="rect">
            <a:avLst/>
          </a:prstGeom>
          <a:noFill/>
          <a:ln/>
        </p:spPr>
        <p:txBody>
          <a:bodyPr wrap="square" lIns="0" tIns="0" rIns="0" bIns="0" rtlCol="0" anchor="t"/>
          <a:lstStyle/>
          <a:p>
            <a:pPr marL="0" indent="0" algn="l">
              <a:lnSpc>
                <a:spcPts val="928"/>
              </a:lnSpc>
              <a:buNone/>
            </a:pPr>
            <a:r>
              <a:rPr lang="en-US" sz="800" kern="0" spc="87" dirty="0">
                <a:solidFill>
                  <a:srgbClr val="00E5FF"/>
                </a:solidFill>
                <a:latin typeface="Liberation Sans Narrow" pitchFamily="34" charset="0"/>
                <a:ea typeface="Liberation Sans Narrow" pitchFamily="34" charset="-122"/>
                <a:cs typeface="Liberation Sans Narrow" pitchFamily="34" charset="-120"/>
              </a:rPr>
              <a:t>STAKEHOLDER 02</a:t>
            </a:r>
            <a:endParaRPr lang="en-US" sz="800" dirty="0"/>
          </a:p>
        </p:txBody>
      </p:sp>
      <p:sp>
        <p:nvSpPr>
          <p:cNvPr id="24" name="Text 21"/>
          <p:cNvSpPr/>
          <p:nvPr/>
        </p:nvSpPr>
        <p:spPr>
          <a:xfrm>
            <a:off x="7979009" y="1544501"/>
            <a:ext cx="596840" cy="164592"/>
          </a:xfrm>
          <a:prstGeom prst="rect">
            <a:avLst/>
          </a:prstGeom>
          <a:noFill/>
          <a:ln/>
        </p:spPr>
        <p:txBody>
          <a:bodyPr wrap="none" lIns="0" tIns="0" rIns="0" bIns="0" rtlCol="0" anchor="t"/>
          <a:lstStyle/>
          <a:p>
            <a:pPr marL="0" indent="0" algn="l">
              <a:lnSpc>
                <a:spcPts val="928"/>
              </a:lnSpc>
              <a:buNone/>
            </a:pPr>
            <a:r>
              <a:rPr lang="en-US" sz="619" kern="0" spc="62" dirty="0">
                <a:solidFill>
                  <a:srgbClr val="00E5FF"/>
                </a:solidFill>
                <a:latin typeface="Liberation Sans Narrow" pitchFamily="34" charset="0"/>
                <a:ea typeface="Liberation Sans Narrow" pitchFamily="34" charset="-122"/>
                <a:cs typeface="Liberation Sans Narrow" pitchFamily="34" charset="-120"/>
              </a:rPr>
              <a:t>99.999% SLA</a:t>
            </a:r>
            <a:endParaRPr lang="en-US" sz="619" dirty="0"/>
          </a:p>
        </p:txBody>
      </p:sp>
      <p:sp>
        <p:nvSpPr>
          <p:cNvPr id="25" name="Text 22"/>
          <p:cNvSpPr/>
          <p:nvPr/>
        </p:nvSpPr>
        <p:spPr>
          <a:xfrm>
            <a:off x="5264944" y="1705235"/>
            <a:ext cx="3381566" cy="194328"/>
          </a:xfrm>
          <a:prstGeom prst="rect">
            <a:avLst/>
          </a:prstGeom>
          <a:noFill/>
          <a:ln/>
        </p:spPr>
        <p:txBody>
          <a:bodyPr wrap="square" lIns="0" tIns="0" rIns="0" bIns="0" rtlCol="0" anchor="t"/>
          <a:lstStyle/>
          <a:p>
            <a:pPr marL="0" indent="0" algn="l">
              <a:lnSpc>
                <a:spcPts val="1418"/>
              </a:lnSpc>
              <a:buNone/>
            </a:pPr>
            <a:r>
              <a:rPr lang="en-US" sz="1181" kern="0" spc="-6" dirty="0">
                <a:solidFill>
                  <a:srgbClr val="E6F1FF"/>
                </a:solidFill>
                <a:latin typeface="Carlito" pitchFamily="34" charset="0"/>
                <a:ea typeface="Carlito" pitchFamily="34" charset="-122"/>
                <a:cs typeface="Carlito" pitchFamily="34" charset="-120"/>
              </a:rPr>
              <a:t>Cloud Infrastructure </a:t>
            </a:r>
            <a:r>
              <a:rPr lang="en-US" sz="800" kern="0" spc="-6" dirty="0">
                <a:solidFill>
                  <a:srgbClr val="6B7494"/>
                </a:solidFill>
                <a:latin typeface="Courier New" pitchFamily="34" charset="0"/>
                <a:ea typeface="Courier New" pitchFamily="34" charset="-122"/>
                <a:cs typeface="Courier New" pitchFamily="34" charset="-120"/>
              </a:rPr>
              <a:t>(AWS/Azure)</a:t>
            </a:r>
            <a:endParaRPr lang="en-US" sz="1181" dirty="0"/>
          </a:p>
        </p:txBody>
      </p:sp>
      <p:sp>
        <p:nvSpPr>
          <p:cNvPr id="26" name="Text 23"/>
          <p:cNvSpPr/>
          <p:nvPr/>
        </p:nvSpPr>
        <p:spPr>
          <a:xfrm>
            <a:off x="5264944" y="1942319"/>
            <a:ext cx="3271838" cy="179380"/>
          </a:xfrm>
          <a:prstGeom prst="rect">
            <a:avLst/>
          </a:prstGeom>
          <a:noFill/>
          <a:ln/>
        </p:spPr>
        <p:txBody>
          <a:bodyPr wrap="square" lIns="0" tIns="0" rIns="0" bIns="0" rtlCol="0" anchor="t"/>
          <a:lstStyle/>
          <a:p>
            <a:pPr marL="0" indent="0" algn="l">
              <a:lnSpc>
                <a:spcPts val="1308"/>
              </a:lnSpc>
              <a:buNone/>
            </a:pPr>
            <a:r>
              <a:rPr lang="en-US" sz="844" dirty="0">
                <a:solidFill>
                  <a:srgbClr val="A9B4CC"/>
                </a:solidFill>
                <a:latin typeface="Carlito" pitchFamily="34" charset="0"/>
                <a:ea typeface="Carlito" pitchFamily="34" charset="-122"/>
                <a:cs typeface="Carlito" pitchFamily="34" charset="-120"/>
              </a:rPr>
              <a:t>Maintaining 99.999% uptime for data center switching/routing.</a:t>
            </a:r>
            <a:endParaRPr lang="en-US" sz="844" dirty="0"/>
          </a:p>
        </p:txBody>
      </p:sp>
      <p:sp>
        <p:nvSpPr>
          <p:cNvPr id="27" name="Text 24"/>
          <p:cNvSpPr/>
          <p:nvPr/>
        </p:nvSpPr>
        <p:spPr>
          <a:xfrm>
            <a:off x="460772" y="2798229"/>
            <a:ext cx="4050506" cy="1278731"/>
          </a:xfrm>
          <a:prstGeom prst="roundRect">
            <a:avLst>
              <a:gd name="adj" fmla="val 10428"/>
            </a:avLst>
          </a:prstGeom>
          <a:solidFill>
            <a:srgbClr val="FFFFFF">
              <a:alpha val="4000"/>
            </a:srgbClr>
          </a:solidFill>
          <a:ln w="7144">
            <a:solidFill>
              <a:srgbClr val="FFFFFF"/>
            </a:solidFill>
            <a:prstDash val="solid"/>
          </a:ln>
        </p:spPr>
        <p:txBody>
          <a:bodyPr wrap="square" rtlCol="0" anchor="ctr"/>
          <a:lstStyle/>
          <a:p>
            <a:pPr marL="0" indent="0">
              <a:buNone/>
            </a:pPr>
            <a:endParaRPr lang="en-US" dirty="0"/>
          </a:p>
        </p:txBody>
      </p:sp>
      <p:sp>
        <p:nvSpPr>
          <p:cNvPr id="28" name="Text 25"/>
          <p:cNvSpPr/>
          <p:nvPr/>
        </p:nvSpPr>
        <p:spPr>
          <a:xfrm>
            <a:off x="610791" y="2948248"/>
            <a:ext cx="364331" cy="364331"/>
          </a:xfrm>
          <a:prstGeom prst="roundRect">
            <a:avLst>
              <a:gd name="adj" fmla="val 31373"/>
            </a:avLst>
          </a:prstGeom>
          <a:solidFill>
            <a:srgbClr val="00E5FF">
              <a:alpha val="10000"/>
            </a:srgbClr>
          </a:solidFill>
          <a:ln w="7144">
            <a:solidFill>
              <a:srgbClr val="00E5FF"/>
            </a:solidFill>
            <a:prstDash val="solid"/>
          </a:ln>
        </p:spPr>
        <p:txBody>
          <a:bodyPr wrap="square" rtlCol="0" anchor="ctr"/>
          <a:lstStyle/>
          <a:p>
            <a:pPr marL="0" indent="0">
              <a:buNone/>
            </a:pPr>
            <a:endParaRPr lang="en-US" dirty="0"/>
          </a:p>
        </p:txBody>
      </p:sp>
      <p:sp>
        <p:nvSpPr>
          <p:cNvPr id="29" name="Text 26"/>
          <p:cNvSpPr/>
          <p:nvPr/>
        </p:nvSpPr>
        <p:spPr>
          <a:xfrm>
            <a:off x="647938" y="2985395"/>
            <a:ext cx="290036" cy="290036"/>
          </a:xfrm>
          <a:prstGeom prst="rect">
            <a:avLst/>
          </a:prstGeom>
          <a:noFill/>
          <a:ln/>
        </p:spPr>
        <p:txBody>
          <a:bodyPr wrap="none" lIns="0" tIns="0" rIns="0" bIns="0" rtlCol="0" anchor="ctr"/>
          <a:lstStyle/>
          <a:p>
            <a:pPr marL="0" indent="0" algn="ctr">
              <a:buNone/>
            </a:pPr>
            <a:r>
              <a:rPr lang="en-US" sz="1969" dirty="0">
                <a:solidFill>
                  <a:srgbClr val="00E5FF"/>
                </a:solidFill>
                <a:latin typeface="Segoe UI Symbol" pitchFamily="34" charset="0"/>
                <a:ea typeface="Segoe UI Symbol" pitchFamily="34" charset="-122"/>
                <a:cs typeface="Segoe UI Symbol" pitchFamily="34" charset="-120"/>
              </a:rPr>
              <a:t>⚒</a:t>
            </a:r>
            <a:endParaRPr lang="en-US" sz="1969" dirty="0"/>
          </a:p>
        </p:txBody>
      </p:sp>
      <p:sp>
        <p:nvSpPr>
          <p:cNvPr id="30" name="Text 27"/>
          <p:cNvSpPr/>
          <p:nvPr/>
        </p:nvSpPr>
        <p:spPr>
          <a:xfrm>
            <a:off x="1092994" y="2944676"/>
            <a:ext cx="2786063" cy="164592"/>
          </a:xfrm>
          <a:prstGeom prst="rect">
            <a:avLst/>
          </a:prstGeom>
          <a:noFill/>
          <a:ln/>
        </p:spPr>
        <p:txBody>
          <a:bodyPr wrap="square" lIns="0" tIns="0" rIns="0" bIns="0" rtlCol="0" anchor="t"/>
          <a:lstStyle/>
          <a:p>
            <a:pPr marL="0" indent="0" algn="l">
              <a:lnSpc>
                <a:spcPts val="928"/>
              </a:lnSpc>
              <a:buNone/>
            </a:pPr>
            <a:r>
              <a:rPr lang="en-US" sz="800" kern="0" spc="87" dirty="0">
                <a:solidFill>
                  <a:srgbClr val="00E5FF"/>
                </a:solidFill>
                <a:latin typeface="Liberation Sans Narrow" pitchFamily="34" charset="0"/>
                <a:ea typeface="Liberation Sans Narrow" pitchFamily="34" charset="-122"/>
                <a:cs typeface="Liberation Sans Narrow" pitchFamily="34" charset="-120"/>
              </a:rPr>
              <a:t>STAKEHOLDER 03</a:t>
            </a:r>
            <a:endParaRPr lang="en-US" sz="800" dirty="0"/>
          </a:p>
        </p:txBody>
      </p:sp>
      <p:sp>
        <p:nvSpPr>
          <p:cNvPr id="31" name="Text 28"/>
          <p:cNvSpPr/>
          <p:nvPr/>
        </p:nvSpPr>
        <p:spPr>
          <a:xfrm>
            <a:off x="3827886" y="2944676"/>
            <a:ext cx="602404" cy="164592"/>
          </a:xfrm>
          <a:prstGeom prst="rect">
            <a:avLst/>
          </a:prstGeom>
          <a:noFill/>
          <a:ln/>
        </p:spPr>
        <p:txBody>
          <a:bodyPr wrap="none" lIns="0" tIns="0" rIns="0" bIns="0" rtlCol="0" anchor="t"/>
          <a:lstStyle/>
          <a:p>
            <a:pPr marL="0" indent="0" algn="l">
              <a:lnSpc>
                <a:spcPts val="928"/>
              </a:lnSpc>
              <a:buNone/>
            </a:pPr>
            <a:r>
              <a:rPr lang="en-US" sz="619" kern="0" spc="62" dirty="0">
                <a:solidFill>
                  <a:srgbClr val="6B7494"/>
                </a:solidFill>
                <a:latin typeface="Courier New" pitchFamily="34" charset="0"/>
                <a:ea typeface="Courier New" pitchFamily="34" charset="-122"/>
                <a:cs typeface="Courier New" pitchFamily="34" charset="-120"/>
              </a:rPr>
              <a:t>OPERATIONS</a:t>
            </a:r>
            <a:endParaRPr lang="en-US" sz="619" dirty="0"/>
          </a:p>
        </p:txBody>
      </p:sp>
      <p:sp>
        <p:nvSpPr>
          <p:cNvPr id="32" name="Text 29"/>
          <p:cNvSpPr/>
          <p:nvPr/>
        </p:nvSpPr>
        <p:spPr>
          <a:xfrm>
            <a:off x="1092994" y="3105410"/>
            <a:ext cx="3271838" cy="194328"/>
          </a:xfrm>
          <a:prstGeom prst="rect">
            <a:avLst/>
          </a:prstGeom>
          <a:noFill/>
          <a:ln/>
        </p:spPr>
        <p:txBody>
          <a:bodyPr wrap="none" lIns="0" tIns="0" rIns="0" bIns="0" rtlCol="0" anchor="t"/>
          <a:lstStyle/>
          <a:p>
            <a:pPr marL="0" indent="0" algn="l">
              <a:lnSpc>
                <a:spcPts val="1418"/>
              </a:lnSpc>
              <a:buNone/>
            </a:pPr>
            <a:r>
              <a:rPr lang="en-US" sz="1181" kern="0" spc="-6" dirty="0">
                <a:solidFill>
                  <a:srgbClr val="E6F1FF"/>
                </a:solidFill>
                <a:latin typeface="Carlito" pitchFamily="34" charset="0"/>
                <a:ea typeface="Carlito" pitchFamily="34" charset="-122"/>
                <a:cs typeface="Carlito" pitchFamily="34" charset="-120"/>
              </a:rPr>
              <a:t>NOC Engineers</a:t>
            </a:r>
            <a:endParaRPr lang="en-US" sz="1181" dirty="0"/>
          </a:p>
        </p:txBody>
      </p:sp>
      <p:sp>
        <p:nvSpPr>
          <p:cNvPr id="33" name="Text 30"/>
          <p:cNvSpPr/>
          <p:nvPr/>
        </p:nvSpPr>
        <p:spPr>
          <a:xfrm>
            <a:off x="1092994" y="3342494"/>
            <a:ext cx="3271838" cy="358759"/>
          </a:xfrm>
          <a:prstGeom prst="rect">
            <a:avLst/>
          </a:prstGeom>
          <a:noFill/>
          <a:ln/>
        </p:spPr>
        <p:txBody>
          <a:bodyPr wrap="square" lIns="0" tIns="0" rIns="0" bIns="0" rtlCol="0" anchor="t"/>
          <a:lstStyle/>
          <a:p>
            <a:pPr marL="0" indent="0" algn="l">
              <a:lnSpc>
                <a:spcPts val="1308"/>
              </a:lnSpc>
              <a:buNone/>
            </a:pPr>
            <a:r>
              <a:rPr lang="en-US" sz="844" dirty="0">
                <a:solidFill>
                  <a:srgbClr val="A9B4CC"/>
                </a:solidFill>
                <a:latin typeface="Carlito" pitchFamily="34" charset="0"/>
                <a:ea typeface="Carlito" pitchFamily="34" charset="-122"/>
                <a:cs typeface="Carlito" pitchFamily="34" charset="-120"/>
              </a:rPr>
              <a:t>Transitioning from firefighting alerts to overseeing an autonomous self-healing system.</a:t>
            </a:r>
            <a:endParaRPr lang="en-US" sz="844" dirty="0"/>
          </a:p>
        </p:txBody>
      </p:sp>
      <p:sp>
        <p:nvSpPr>
          <p:cNvPr id="34" name="Text 31"/>
          <p:cNvSpPr/>
          <p:nvPr/>
        </p:nvSpPr>
        <p:spPr>
          <a:xfrm>
            <a:off x="4632722" y="2798229"/>
            <a:ext cx="4050506" cy="1278731"/>
          </a:xfrm>
          <a:prstGeom prst="roundRect">
            <a:avLst>
              <a:gd name="adj" fmla="val 10428"/>
            </a:avLst>
          </a:prstGeom>
          <a:solidFill>
            <a:srgbClr val="FFFFFF">
              <a:alpha val="4000"/>
            </a:srgbClr>
          </a:solidFill>
          <a:ln w="7144">
            <a:solidFill>
              <a:srgbClr val="FFFFFF"/>
            </a:solidFill>
            <a:prstDash val="solid"/>
          </a:ln>
        </p:spPr>
        <p:txBody>
          <a:bodyPr wrap="square" rtlCol="0" anchor="ctr"/>
          <a:lstStyle/>
          <a:p>
            <a:pPr marL="0" indent="0">
              <a:buNone/>
            </a:pPr>
            <a:endParaRPr lang="en-US" dirty="0"/>
          </a:p>
        </p:txBody>
      </p:sp>
      <p:sp>
        <p:nvSpPr>
          <p:cNvPr id="35" name="Text 32"/>
          <p:cNvSpPr/>
          <p:nvPr/>
        </p:nvSpPr>
        <p:spPr>
          <a:xfrm>
            <a:off x="4782741" y="2948248"/>
            <a:ext cx="364331" cy="364331"/>
          </a:xfrm>
          <a:prstGeom prst="roundRect">
            <a:avLst>
              <a:gd name="adj" fmla="val 31373"/>
            </a:avLst>
          </a:prstGeom>
          <a:solidFill>
            <a:srgbClr val="00E5FF">
              <a:alpha val="10000"/>
            </a:srgbClr>
          </a:solidFill>
          <a:ln w="7144">
            <a:solidFill>
              <a:srgbClr val="00E5FF"/>
            </a:solidFill>
            <a:prstDash val="solid"/>
          </a:ln>
        </p:spPr>
        <p:txBody>
          <a:bodyPr wrap="square" rtlCol="0" anchor="ctr"/>
          <a:lstStyle/>
          <a:p>
            <a:pPr marL="0" indent="0">
              <a:buNone/>
            </a:pPr>
            <a:endParaRPr lang="en-US" dirty="0"/>
          </a:p>
        </p:txBody>
      </p:sp>
      <p:sp>
        <p:nvSpPr>
          <p:cNvPr id="36" name="Text 33"/>
          <p:cNvSpPr/>
          <p:nvPr/>
        </p:nvSpPr>
        <p:spPr>
          <a:xfrm>
            <a:off x="4819888" y="2985395"/>
            <a:ext cx="290036" cy="290036"/>
          </a:xfrm>
          <a:prstGeom prst="rect">
            <a:avLst/>
          </a:prstGeom>
          <a:noFill/>
          <a:ln/>
        </p:spPr>
        <p:txBody>
          <a:bodyPr wrap="none" lIns="0" tIns="0" rIns="0" bIns="0" rtlCol="0" anchor="ctr"/>
          <a:lstStyle/>
          <a:p>
            <a:pPr marL="0" indent="0" algn="ctr">
              <a:buNone/>
            </a:pPr>
            <a:r>
              <a:rPr lang="en-US" sz="1969" dirty="0">
                <a:solidFill>
                  <a:srgbClr val="00E5FF"/>
                </a:solidFill>
                <a:latin typeface="Segoe UI Symbol" pitchFamily="34" charset="0"/>
                <a:ea typeface="Segoe UI Symbol" pitchFamily="34" charset="-122"/>
                <a:cs typeface="Segoe UI Symbol" pitchFamily="34" charset="-120"/>
              </a:rPr>
              <a:t>▭</a:t>
            </a:r>
            <a:endParaRPr lang="en-US" sz="1969" dirty="0"/>
          </a:p>
        </p:txBody>
      </p:sp>
      <p:sp>
        <p:nvSpPr>
          <p:cNvPr id="37" name="Text 34"/>
          <p:cNvSpPr/>
          <p:nvPr/>
        </p:nvSpPr>
        <p:spPr>
          <a:xfrm>
            <a:off x="5264944" y="2944676"/>
            <a:ext cx="2880271" cy="164592"/>
          </a:xfrm>
          <a:prstGeom prst="rect">
            <a:avLst/>
          </a:prstGeom>
          <a:noFill/>
          <a:ln/>
        </p:spPr>
        <p:txBody>
          <a:bodyPr wrap="square" lIns="0" tIns="0" rIns="0" bIns="0" rtlCol="0" anchor="t"/>
          <a:lstStyle/>
          <a:p>
            <a:pPr marL="0" indent="0" algn="l">
              <a:lnSpc>
                <a:spcPts val="928"/>
              </a:lnSpc>
              <a:buNone/>
            </a:pPr>
            <a:r>
              <a:rPr lang="en-US" sz="800" kern="0" spc="87" dirty="0">
                <a:solidFill>
                  <a:srgbClr val="00E5FF"/>
                </a:solidFill>
                <a:latin typeface="Liberation Sans Narrow" pitchFamily="34" charset="0"/>
                <a:ea typeface="Liberation Sans Narrow" pitchFamily="34" charset="-122"/>
                <a:cs typeface="Liberation Sans Narrow" pitchFamily="34" charset="-120"/>
              </a:rPr>
              <a:t>STAKEHOLDER 04</a:t>
            </a:r>
            <a:endParaRPr lang="en-US" sz="800" dirty="0"/>
          </a:p>
        </p:txBody>
      </p:sp>
      <p:sp>
        <p:nvSpPr>
          <p:cNvPr id="38" name="Text 35"/>
          <p:cNvSpPr/>
          <p:nvPr/>
        </p:nvSpPr>
        <p:spPr>
          <a:xfrm>
            <a:off x="8104430" y="2944676"/>
            <a:ext cx="487424" cy="164592"/>
          </a:xfrm>
          <a:prstGeom prst="rect">
            <a:avLst/>
          </a:prstGeom>
          <a:noFill/>
          <a:ln/>
        </p:spPr>
        <p:txBody>
          <a:bodyPr wrap="none" lIns="0" tIns="0" rIns="0" bIns="0" rtlCol="0" anchor="t"/>
          <a:lstStyle/>
          <a:p>
            <a:pPr marL="0" indent="0" algn="l">
              <a:lnSpc>
                <a:spcPts val="928"/>
              </a:lnSpc>
              <a:buNone/>
            </a:pPr>
            <a:r>
              <a:rPr lang="en-US" sz="619" kern="0" spc="62" dirty="0">
                <a:solidFill>
                  <a:srgbClr val="6B7494"/>
                </a:solidFill>
                <a:latin typeface="Courier New" pitchFamily="34" charset="0"/>
                <a:ea typeface="Courier New" pitchFamily="34" charset="-122"/>
                <a:cs typeface="Courier New" pitchFamily="34" charset="-120"/>
              </a:rPr>
              <a:t>SERVICES</a:t>
            </a:r>
            <a:endParaRPr lang="en-US" sz="619" dirty="0"/>
          </a:p>
        </p:txBody>
      </p:sp>
      <p:sp>
        <p:nvSpPr>
          <p:cNvPr id="39" name="Text 36"/>
          <p:cNvSpPr/>
          <p:nvPr/>
        </p:nvSpPr>
        <p:spPr>
          <a:xfrm>
            <a:off x="5264944" y="3105410"/>
            <a:ext cx="3381566" cy="194328"/>
          </a:xfrm>
          <a:prstGeom prst="rect">
            <a:avLst/>
          </a:prstGeom>
          <a:noFill/>
          <a:ln/>
        </p:spPr>
        <p:txBody>
          <a:bodyPr wrap="square" lIns="0" tIns="0" rIns="0" bIns="0" rtlCol="0" anchor="t"/>
          <a:lstStyle/>
          <a:p>
            <a:pPr marL="0" indent="0" algn="l">
              <a:lnSpc>
                <a:spcPts val="1418"/>
              </a:lnSpc>
              <a:buNone/>
            </a:pPr>
            <a:r>
              <a:rPr lang="en-US" sz="1181" kern="0" spc="-6" dirty="0">
                <a:solidFill>
                  <a:srgbClr val="E6F1FF"/>
                </a:solidFill>
                <a:latin typeface="Carlito" pitchFamily="34" charset="0"/>
                <a:ea typeface="Carlito" pitchFamily="34" charset="-122"/>
                <a:cs typeface="Carlito" pitchFamily="34" charset="-120"/>
              </a:rPr>
              <a:t>Managed Service Providers </a:t>
            </a:r>
            <a:r>
              <a:rPr lang="en-US" sz="800" kern="0" spc="-6" dirty="0">
                <a:solidFill>
                  <a:srgbClr val="6B7494"/>
                </a:solidFill>
                <a:latin typeface="Courier New" pitchFamily="34" charset="0"/>
                <a:ea typeface="Courier New" pitchFamily="34" charset="-122"/>
                <a:cs typeface="Courier New" pitchFamily="34" charset="-120"/>
              </a:rPr>
              <a:t>(MSPs)</a:t>
            </a:r>
            <a:endParaRPr lang="en-US" sz="1181" dirty="0"/>
          </a:p>
        </p:txBody>
      </p:sp>
      <p:sp>
        <p:nvSpPr>
          <p:cNvPr id="40" name="Text 37"/>
          <p:cNvSpPr/>
          <p:nvPr/>
        </p:nvSpPr>
        <p:spPr>
          <a:xfrm>
            <a:off x="5264944" y="3342494"/>
            <a:ext cx="3271838" cy="179380"/>
          </a:xfrm>
          <a:prstGeom prst="rect">
            <a:avLst/>
          </a:prstGeom>
          <a:noFill/>
          <a:ln/>
        </p:spPr>
        <p:txBody>
          <a:bodyPr wrap="square" lIns="0" tIns="0" rIns="0" bIns="0" rtlCol="0" anchor="t"/>
          <a:lstStyle/>
          <a:p>
            <a:pPr marL="0" indent="0" algn="l">
              <a:lnSpc>
                <a:spcPts val="1308"/>
              </a:lnSpc>
              <a:buNone/>
            </a:pPr>
            <a:r>
              <a:rPr lang="en-US" sz="844" dirty="0">
                <a:solidFill>
                  <a:srgbClr val="A9B4CC"/>
                </a:solidFill>
                <a:latin typeface="Carlito" pitchFamily="34" charset="0"/>
                <a:ea typeface="Carlito" pitchFamily="34" charset="-122"/>
                <a:cs typeface="Carlito" pitchFamily="34" charset="-120"/>
              </a:rPr>
              <a:t>Scaling their client base without scaling headcount.</a:t>
            </a:r>
            <a:endParaRPr lang="en-US" sz="844" dirty="0"/>
          </a:p>
        </p:txBody>
      </p:sp>
      <p:sp>
        <p:nvSpPr>
          <p:cNvPr id="41" name="Text 38"/>
          <p:cNvSpPr/>
          <p:nvPr/>
        </p:nvSpPr>
        <p:spPr>
          <a:xfrm>
            <a:off x="2979837" y="4217749"/>
            <a:ext cx="577416" cy="243488"/>
          </a:xfrm>
          <a:prstGeom prst="roundRect">
            <a:avLst>
              <a:gd name="adj" fmla="val 3907985"/>
            </a:avLst>
          </a:prstGeom>
          <a:solidFill>
            <a:srgbClr val="FFFFFF">
              <a:alpha val="4000"/>
            </a:srgbClr>
          </a:solidFill>
          <a:ln w="7144">
            <a:solidFill>
              <a:srgbClr val="FFFFFF"/>
            </a:solidFill>
            <a:prstDash val="solid"/>
          </a:ln>
        </p:spPr>
        <p:txBody>
          <a:bodyPr wrap="square" rtlCol="0" anchor="ctr"/>
          <a:lstStyle/>
          <a:p>
            <a:pPr marL="0" indent="0">
              <a:buNone/>
            </a:pPr>
            <a:endParaRPr lang="en-US" dirty="0"/>
          </a:p>
        </p:txBody>
      </p:sp>
      <p:sp>
        <p:nvSpPr>
          <p:cNvPr id="42" name="Text 39"/>
          <p:cNvSpPr/>
          <p:nvPr/>
        </p:nvSpPr>
        <p:spPr>
          <a:xfrm>
            <a:off x="2979837" y="4230551"/>
            <a:ext cx="577416" cy="217884"/>
          </a:xfrm>
          <a:prstGeom prst="rect">
            <a:avLst/>
          </a:prstGeom>
          <a:noFill/>
          <a:ln/>
        </p:spPr>
        <p:txBody>
          <a:bodyPr wrap="none" lIns="0" tIns="0" rIns="0" bIns="0" rtlCol="0" anchor="ctr"/>
          <a:lstStyle/>
          <a:p>
            <a:pPr marL="0" indent="0" algn="ctr">
              <a:lnSpc>
                <a:spcPts val="928"/>
              </a:lnSpc>
              <a:buNone/>
            </a:pPr>
            <a:r>
              <a:rPr lang="en-US" sz="800" kern="0" spc="99" dirty="0">
                <a:solidFill>
                  <a:srgbClr val="A9B4CC"/>
                </a:solidFill>
                <a:latin typeface="Courier New" pitchFamily="34" charset="0"/>
                <a:ea typeface="Courier New" pitchFamily="34" charset="-122"/>
                <a:cs typeface="Courier New" pitchFamily="34" charset="-120"/>
              </a:rPr>
              <a:t>TELECOM</a:t>
            </a:r>
            <a:endParaRPr lang="en-US" sz="800" dirty="0"/>
          </a:p>
        </p:txBody>
      </p:sp>
      <p:sp>
        <p:nvSpPr>
          <p:cNvPr id="43" name="Text 40"/>
          <p:cNvSpPr/>
          <p:nvPr/>
        </p:nvSpPr>
        <p:spPr>
          <a:xfrm>
            <a:off x="3642978" y="4318062"/>
            <a:ext cx="42863" cy="42863"/>
          </a:xfrm>
          <a:prstGeom prst="ellipse">
            <a:avLst/>
          </a:prstGeom>
          <a:solidFill>
            <a:srgbClr val="6B7494"/>
          </a:solidFill>
          <a:ln/>
        </p:spPr>
        <p:txBody>
          <a:bodyPr wrap="square" rtlCol="0" anchor="ctr"/>
          <a:lstStyle/>
          <a:p>
            <a:pPr marL="0" indent="0">
              <a:buNone/>
            </a:pPr>
            <a:endParaRPr lang="en-US" dirty="0"/>
          </a:p>
        </p:txBody>
      </p:sp>
      <p:sp>
        <p:nvSpPr>
          <p:cNvPr id="44" name="Text 41"/>
          <p:cNvSpPr/>
          <p:nvPr/>
        </p:nvSpPr>
        <p:spPr>
          <a:xfrm>
            <a:off x="3771565" y="4217749"/>
            <a:ext cx="473720" cy="243488"/>
          </a:xfrm>
          <a:prstGeom prst="roundRect">
            <a:avLst>
              <a:gd name="adj" fmla="val 3907985"/>
            </a:avLst>
          </a:prstGeom>
          <a:solidFill>
            <a:srgbClr val="FFFFFF">
              <a:alpha val="4000"/>
            </a:srgbClr>
          </a:solidFill>
          <a:ln w="7144">
            <a:solidFill>
              <a:srgbClr val="FFFFFF"/>
            </a:solidFill>
            <a:prstDash val="solid"/>
          </a:ln>
        </p:spPr>
        <p:txBody>
          <a:bodyPr wrap="square" rtlCol="0" anchor="ctr"/>
          <a:lstStyle/>
          <a:p>
            <a:pPr marL="0" indent="0">
              <a:buNone/>
            </a:pPr>
            <a:endParaRPr lang="en-US" dirty="0"/>
          </a:p>
        </p:txBody>
      </p:sp>
      <p:sp>
        <p:nvSpPr>
          <p:cNvPr id="45" name="Text 42"/>
          <p:cNvSpPr/>
          <p:nvPr/>
        </p:nvSpPr>
        <p:spPr>
          <a:xfrm>
            <a:off x="3771565" y="4230551"/>
            <a:ext cx="473720" cy="217884"/>
          </a:xfrm>
          <a:prstGeom prst="rect">
            <a:avLst/>
          </a:prstGeom>
          <a:noFill/>
          <a:ln/>
        </p:spPr>
        <p:txBody>
          <a:bodyPr wrap="none" lIns="0" tIns="0" rIns="0" bIns="0" rtlCol="0" anchor="ctr"/>
          <a:lstStyle/>
          <a:p>
            <a:pPr marL="0" indent="0" algn="ctr">
              <a:lnSpc>
                <a:spcPts val="928"/>
              </a:lnSpc>
              <a:buNone/>
            </a:pPr>
            <a:r>
              <a:rPr lang="en-US" sz="800" kern="0" spc="99" dirty="0">
                <a:solidFill>
                  <a:srgbClr val="A9B4CC"/>
                </a:solidFill>
                <a:latin typeface="Courier New" pitchFamily="34" charset="0"/>
                <a:ea typeface="Courier New" pitchFamily="34" charset="-122"/>
                <a:cs typeface="Courier New" pitchFamily="34" charset="-120"/>
              </a:rPr>
              <a:t>CLOUD</a:t>
            </a:r>
            <a:endParaRPr lang="en-US" sz="800" dirty="0"/>
          </a:p>
        </p:txBody>
      </p:sp>
      <p:sp>
        <p:nvSpPr>
          <p:cNvPr id="46" name="Text 43"/>
          <p:cNvSpPr/>
          <p:nvPr/>
        </p:nvSpPr>
        <p:spPr>
          <a:xfrm>
            <a:off x="4331010" y="4318062"/>
            <a:ext cx="42863" cy="42863"/>
          </a:xfrm>
          <a:prstGeom prst="ellipse">
            <a:avLst/>
          </a:prstGeom>
          <a:solidFill>
            <a:srgbClr val="6B7494"/>
          </a:solidFill>
          <a:ln/>
        </p:spPr>
        <p:txBody>
          <a:bodyPr wrap="square" rtlCol="0" anchor="ctr"/>
          <a:lstStyle/>
          <a:p>
            <a:pPr marL="0" indent="0">
              <a:buNone/>
            </a:pPr>
            <a:endParaRPr lang="en-US" dirty="0"/>
          </a:p>
        </p:txBody>
      </p:sp>
      <p:sp>
        <p:nvSpPr>
          <p:cNvPr id="47" name="Text 44"/>
          <p:cNvSpPr/>
          <p:nvPr/>
        </p:nvSpPr>
        <p:spPr>
          <a:xfrm>
            <a:off x="4459598" y="4210606"/>
            <a:ext cx="601526" cy="257775"/>
          </a:xfrm>
          <a:prstGeom prst="roundRect">
            <a:avLst>
              <a:gd name="adj" fmla="val 3691388"/>
            </a:avLst>
          </a:prstGeom>
          <a:solidFill>
            <a:srgbClr val="00E5FF">
              <a:alpha val="12000"/>
            </a:srgbClr>
          </a:solidFill>
          <a:ln w="7144">
            <a:solidFill>
              <a:srgbClr val="00E5FF"/>
            </a:solidFill>
            <a:prstDash val="solid"/>
          </a:ln>
          <a:effectLst>
            <a:outerShdw blurRad="171450" dist="50800" dir="16200000" algn="bl" rotWithShape="0">
              <a:srgbClr val="00E5FF">
                <a:alpha val="25000"/>
              </a:srgbClr>
            </a:outerShdw>
          </a:effectLst>
        </p:spPr>
        <p:txBody>
          <a:bodyPr wrap="square" rtlCol="0" anchor="ctr"/>
          <a:lstStyle/>
          <a:p>
            <a:pPr marL="0" indent="0">
              <a:buNone/>
            </a:pPr>
            <a:endParaRPr lang="en-US" dirty="0"/>
          </a:p>
        </p:txBody>
      </p:sp>
      <p:sp>
        <p:nvSpPr>
          <p:cNvPr id="48" name="Text 45"/>
          <p:cNvSpPr/>
          <p:nvPr/>
        </p:nvSpPr>
        <p:spPr>
          <a:xfrm>
            <a:off x="4459598" y="4223407"/>
            <a:ext cx="601526" cy="232172"/>
          </a:xfrm>
          <a:prstGeom prst="rect">
            <a:avLst/>
          </a:prstGeom>
          <a:noFill/>
          <a:ln/>
        </p:spPr>
        <p:txBody>
          <a:bodyPr wrap="none" lIns="0" tIns="0" rIns="0" bIns="0" rtlCol="0" anchor="ctr"/>
          <a:lstStyle/>
          <a:p>
            <a:pPr marL="0" indent="0" algn="ctr">
              <a:lnSpc>
                <a:spcPts val="928"/>
              </a:lnSpc>
              <a:buNone/>
            </a:pPr>
            <a:r>
              <a:rPr lang="en-US" sz="800" kern="0" spc="124" dirty="0">
                <a:solidFill>
                  <a:srgbClr val="00E5FF"/>
                </a:solidFill>
                <a:latin typeface="Courier New" pitchFamily="34" charset="0"/>
                <a:ea typeface="Courier New" pitchFamily="34" charset="-122"/>
                <a:cs typeface="Courier New" pitchFamily="34" charset="-120"/>
              </a:rPr>
              <a:t>AI HUB</a:t>
            </a:r>
            <a:endParaRPr lang="en-US" sz="800" dirty="0"/>
          </a:p>
        </p:txBody>
      </p:sp>
      <p:sp>
        <p:nvSpPr>
          <p:cNvPr id="49" name="Text 46"/>
          <p:cNvSpPr/>
          <p:nvPr/>
        </p:nvSpPr>
        <p:spPr>
          <a:xfrm>
            <a:off x="5146849" y="4318062"/>
            <a:ext cx="42863" cy="42863"/>
          </a:xfrm>
          <a:prstGeom prst="ellipse">
            <a:avLst/>
          </a:prstGeom>
          <a:solidFill>
            <a:srgbClr val="6B7494"/>
          </a:solidFill>
          <a:ln/>
        </p:spPr>
        <p:txBody>
          <a:bodyPr wrap="square" rtlCol="0" anchor="ctr"/>
          <a:lstStyle/>
          <a:p>
            <a:pPr marL="0" indent="0">
              <a:buNone/>
            </a:pPr>
            <a:endParaRPr lang="en-US" dirty="0"/>
          </a:p>
        </p:txBody>
      </p:sp>
      <p:sp>
        <p:nvSpPr>
          <p:cNvPr id="50" name="Text 47"/>
          <p:cNvSpPr/>
          <p:nvPr/>
        </p:nvSpPr>
        <p:spPr>
          <a:xfrm>
            <a:off x="5235542" y="4217457"/>
            <a:ext cx="1131942" cy="243488"/>
          </a:xfrm>
          <a:prstGeom prst="roundRect">
            <a:avLst>
              <a:gd name="adj" fmla="val 3907985"/>
            </a:avLst>
          </a:prstGeom>
          <a:solidFill>
            <a:srgbClr val="FFFFFF">
              <a:alpha val="4000"/>
            </a:srgbClr>
          </a:solidFill>
          <a:ln w="7144">
            <a:solidFill>
              <a:srgbClr val="FFFFFF"/>
            </a:solidFill>
            <a:prstDash val="solid"/>
          </a:ln>
        </p:spPr>
        <p:txBody>
          <a:bodyPr wrap="square" rtlCol="0" anchor="ctr"/>
          <a:lstStyle/>
          <a:p>
            <a:pPr marL="0" indent="0">
              <a:buNone/>
            </a:pPr>
            <a:endParaRPr lang="en-US" dirty="0"/>
          </a:p>
        </p:txBody>
      </p:sp>
      <p:sp>
        <p:nvSpPr>
          <p:cNvPr id="51" name="Text 48"/>
          <p:cNvSpPr/>
          <p:nvPr/>
        </p:nvSpPr>
        <p:spPr>
          <a:xfrm>
            <a:off x="5357205" y="4224036"/>
            <a:ext cx="888616" cy="217884"/>
          </a:xfrm>
          <a:prstGeom prst="rect">
            <a:avLst/>
          </a:prstGeom>
          <a:noFill/>
          <a:ln/>
        </p:spPr>
        <p:txBody>
          <a:bodyPr wrap="none" lIns="0" tIns="0" rIns="0" bIns="0" rtlCol="0" anchor="ctr"/>
          <a:lstStyle/>
          <a:p>
            <a:pPr marL="0" indent="0" algn="ctr">
              <a:lnSpc>
                <a:spcPts val="928"/>
              </a:lnSpc>
              <a:buNone/>
            </a:pPr>
            <a:r>
              <a:rPr lang="en-US" sz="800" kern="0" spc="99" dirty="0">
                <a:solidFill>
                  <a:srgbClr val="A9B4CC"/>
                </a:solidFill>
                <a:latin typeface="Courier New" pitchFamily="34" charset="0"/>
                <a:ea typeface="Courier New" pitchFamily="34" charset="-122"/>
                <a:cs typeface="Courier New" pitchFamily="34" charset="-120"/>
              </a:rPr>
              <a:t>ENTERPRISE IT</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7286625" y="-571500"/>
            <a:ext cx="2286000" cy="2286000"/>
          </a:xfrm>
          <a:prstGeom prst="ellipse">
            <a:avLst/>
          </a:prstGeom>
          <a:solidFill>
            <a:srgbClr val="00E5FF">
              <a:alpha val="10000"/>
            </a:srgbClr>
          </a:solidFill>
          <a:ln/>
        </p:spPr>
        <p:txBody>
          <a:bodyPr wrap="square" rtlCol="0" anchor="ctr"/>
          <a:lstStyle/>
          <a:p>
            <a:pPr marL="0" indent="0">
              <a:buNone/>
            </a:pPr>
            <a:endParaRPr lang="en-US" dirty="0"/>
          </a:p>
        </p:txBody>
      </p:sp>
      <p:sp>
        <p:nvSpPr>
          <p:cNvPr id="3" name="Text 1"/>
          <p:cNvSpPr/>
          <p:nvPr/>
        </p:nvSpPr>
        <p:spPr>
          <a:xfrm>
            <a:off x="-285750" y="3714750"/>
            <a:ext cx="2000250" cy="2000250"/>
          </a:xfrm>
          <a:prstGeom prst="ellipse">
            <a:avLst/>
          </a:prstGeom>
          <a:solidFill>
            <a:srgbClr val="7C4DFF">
              <a:alpha val="10000"/>
            </a:srgbClr>
          </a:solidFill>
          <a:ln/>
        </p:spPr>
        <p:txBody>
          <a:bodyPr wrap="square" rtlCol="0" anchor="ctr"/>
          <a:lstStyle/>
          <a:p>
            <a:pPr marL="0" indent="0">
              <a:buNone/>
            </a:pPr>
            <a:endParaRPr lang="en-US" dirty="0"/>
          </a:p>
        </p:txBody>
      </p:sp>
      <p:sp>
        <p:nvSpPr>
          <p:cNvPr id="4" name="Text 2"/>
          <p:cNvSpPr/>
          <p:nvPr/>
        </p:nvSpPr>
        <p:spPr>
          <a:xfrm>
            <a:off x="434340" y="388691"/>
            <a:ext cx="1062365" cy="212027"/>
          </a:xfrm>
          <a:prstGeom prst="roundRect">
            <a:avLst>
              <a:gd name="adj" fmla="val 4487860"/>
            </a:avLst>
          </a:prstGeom>
          <a:solidFill>
            <a:srgbClr val="00E5FF">
              <a:alpha val="6000"/>
            </a:srgbClr>
          </a:solidFill>
          <a:ln w="7144">
            <a:solidFill>
              <a:srgbClr val="00E5FF"/>
            </a:solidFill>
            <a:prstDash val="solid"/>
          </a:ln>
        </p:spPr>
        <p:txBody>
          <a:bodyPr wrap="square" rtlCol="0" anchor="ctr"/>
          <a:lstStyle/>
          <a:p>
            <a:pPr marL="0" indent="0">
              <a:buNone/>
            </a:pPr>
            <a:endParaRPr lang="en-US" dirty="0"/>
          </a:p>
        </p:txBody>
      </p:sp>
      <p:sp>
        <p:nvSpPr>
          <p:cNvPr id="5" name="Text 3"/>
          <p:cNvSpPr/>
          <p:nvPr/>
        </p:nvSpPr>
        <p:spPr>
          <a:xfrm>
            <a:off x="550069" y="466130"/>
            <a:ext cx="57150" cy="57150"/>
          </a:xfrm>
          <a:prstGeom prst="roundRect">
            <a:avLst>
              <a:gd name="adj" fmla="val 66667"/>
            </a:avLst>
          </a:prstGeom>
          <a:solidFill>
            <a:srgbClr val="00E5FF"/>
          </a:solidFill>
          <a:ln/>
        </p:spPr>
        <p:txBody>
          <a:bodyPr wrap="square" rtlCol="0" anchor="ctr"/>
          <a:lstStyle/>
          <a:p>
            <a:pPr marL="0" indent="0">
              <a:buNone/>
            </a:pPr>
            <a:endParaRPr lang="en-US" dirty="0"/>
          </a:p>
        </p:txBody>
      </p:sp>
      <p:sp>
        <p:nvSpPr>
          <p:cNvPr id="6" name="Text 4"/>
          <p:cNvSpPr/>
          <p:nvPr/>
        </p:nvSpPr>
        <p:spPr>
          <a:xfrm>
            <a:off x="457200" y="400050"/>
            <a:ext cx="1016645" cy="189309"/>
          </a:xfrm>
          <a:prstGeom prst="rect">
            <a:avLst/>
          </a:prstGeom>
          <a:noFill/>
          <a:ln/>
        </p:spPr>
        <p:txBody>
          <a:bodyPr wrap="none" lIns="0" tIns="0" rIns="0" bIns="0" rtlCol="0" anchor="ctr"/>
          <a:lstStyle/>
          <a:p>
            <a:pPr marL="0" indent="0" algn="ctr">
              <a:lnSpc>
                <a:spcPts val="928"/>
              </a:lnSpc>
              <a:buNone/>
            </a:pPr>
            <a:r>
              <a:rPr lang="en-US" sz="800" kern="0" spc="74" dirty="0">
                <a:solidFill>
                  <a:srgbClr val="00E5FF"/>
                </a:solidFill>
                <a:latin typeface="Courier New" pitchFamily="34" charset="0"/>
                <a:ea typeface="Courier New" pitchFamily="34" charset="-122"/>
                <a:cs typeface="Courier New" pitchFamily="34" charset="-120"/>
              </a:rPr>
              <a:t>EXPECTED IMPACT</a:t>
            </a:r>
            <a:endParaRPr lang="en-US" sz="800" dirty="0"/>
          </a:p>
        </p:txBody>
      </p:sp>
      <p:sp>
        <p:nvSpPr>
          <p:cNvPr id="7" name="Text 5"/>
          <p:cNvSpPr/>
          <p:nvPr/>
        </p:nvSpPr>
        <p:spPr>
          <a:xfrm>
            <a:off x="457200" y="675084"/>
            <a:ext cx="4926922" cy="356348"/>
          </a:xfrm>
          <a:prstGeom prst="rect">
            <a:avLst/>
          </a:prstGeom>
          <a:noFill/>
          <a:ln/>
        </p:spPr>
        <p:txBody>
          <a:bodyPr wrap="square" lIns="0" tIns="0" rIns="0" bIns="0" rtlCol="0" anchor="t"/>
          <a:lstStyle/>
          <a:p>
            <a:pPr marL="0" indent="0" algn="l">
              <a:lnSpc>
                <a:spcPts val="2599"/>
              </a:lnSpc>
              <a:buNone/>
            </a:pPr>
            <a:r>
              <a:rPr lang="en-US" sz="2475" b="1" kern="0" spc="-25" dirty="0">
                <a:solidFill>
                  <a:srgbClr val="E6F1FF"/>
                </a:solidFill>
                <a:latin typeface="Carlito" pitchFamily="34" charset="0"/>
                <a:ea typeface="Carlito" pitchFamily="34" charset="-122"/>
                <a:cs typeface="Carlito" pitchFamily="34" charset="-120"/>
              </a:rPr>
              <a:t>Transforming Network Operations</a:t>
            </a:r>
            <a:endParaRPr lang="en-US" sz="2475" dirty="0"/>
          </a:p>
        </p:txBody>
      </p:sp>
      <p:sp>
        <p:nvSpPr>
          <p:cNvPr id="8" name="Text 6"/>
          <p:cNvSpPr/>
          <p:nvPr/>
        </p:nvSpPr>
        <p:spPr>
          <a:xfrm>
            <a:off x="7592615" y="740718"/>
            <a:ext cx="1094185" cy="119015"/>
          </a:xfrm>
          <a:prstGeom prst="rect">
            <a:avLst/>
          </a:prstGeom>
          <a:noFill/>
          <a:ln/>
        </p:spPr>
        <p:txBody>
          <a:bodyPr wrap="none" lIns="0" tIns="0" rIns="0" bIns="0" rtlCol="0" anchor="t">
            <a:normAutofit/>
          </a:bodyPr>
          <a:lstStyle/>
          <a:p>
            <a:pPr marL="0" indent="0" algn="r">
              <a:lnSpc>
                <a:spcPts val="928"/>
              </a:lnSpc>
              <a:buNone/>
            </a:pPr>
            <a:r>
              <a:rPr lang="en-US" sz="800" kern="0" spc="111" dirty="0">
                <a:solidFill>
                  <a:srgbClr val="6B7494"/>
                </a:solidFill>
                <a:latin typeface="Liberation Sans Narrow" pitchFamily="34" charset="0"/>
                <a:ea typeface="Liberation Sans Narrow" pitchFamily="34" charset="-122"/>
                <a:cs typeface="Liberation Sans Narrow" pitchFamily="34" charset="-120"/>
              </a:rPr>
              <a:t>SLIDE · 08</a:t>
            </a:r>
            <a:endParaRPr lang="en-US" sz="800" dirty="0"/>
          </a:p>
        </p:txBody>
      </p:sp>
      <p:sp>
        <p:nvSpPr>
          <p:cNvPr id="9" name="Text 7"/>
          <p:cNvSpPr/>
          <p:nvPr/>
        </p:nvSpPr>
        <p:spPr>
          <a:xfrm>
            <a:off x="7592615" y="887164"/>
            <a:ext cx="1094185" cy="164592"/>
          </a:xfrm>
          <a:prstGeom prst="rect">
            <a:avLst/>
          </a:prstGeom>
          <a:noFill/>
          <a:ln/>
        </p:spPr>
        <p:txBody>
          <a:bodyPr wrap="none" lIns="0" tIns="0" rIns="0" bIns="0" rtlCol="0" anchor="t"/>
          <a:lstStyle/>
          <a:p>
            <a:pPr marL="0" indent="0" algn="r">
              <a:lnSpc>
                <a:spcPts val="928"/>
              </a:lnSpc>
              <a:buNone/>
            </a:pPr>
            <a:r>
              <a:rPr lang="en-US" sz="800" kern="0" spc="111" dirty="0">
                <a:solidFill>
                  <a:srgbClr val="A9B4CC"/>
                </a:solidFill>
                <a:latin typeface="Courier New" pitchFamily="34" charset="0"/>
                <a:ea typeface="Courier New" pitchFamily="34" charset="-122"/>
                <a:cs typeface="Courier New" pitchFamily="34" charset="-120"/>
              </a:rPr>
              <a:t>CTG-CPM · IMPACT</a:t>
            </a:r>
            <a:endParaRPr lang="en-US" sz="800" dirty="0"/>
          </a:p>
        </p:txBody>
      </p:sp>
      <p:pic>
        <p:nvPicPr>
          <p:cNvPr id="10" name="Image 0" descr="preencoded.png"/>
          <p:cNvPicPr>
            <a:picLocks noChangeAspect="1"/>
          </p:cNvPicPr>
          <p:nvPr/>
        </p:nvPicPr>
        <p:blipFill>
          <a:blip r:embed="rId3"/>
          <a:stretch>
            <a:fillRect/>
          </a:stretch>
        </p:blipFill>
        <p:spPr>
          <a:xfrm>
            <a:off x="457200" y="1264667"/>
            <a:ext cx="2122922" cy="1678781"/>
          </a:xfrm>
          <a:prstGeom prst="rect">
            <a:avLst/>
          </a:prstGeom>
        </p:spPr>
      </p:pic>
      <p:sp>
        <p:nvSpPr>
          <p:cNvPr id="11" name="Text 8"/>
          <p:cNvSpPr/>
          <p:nvPr/>
        </p:nvSpPr>
        <p:spPr>
          <a:xfrm>
            <a:off x="460772" y="1327076"/>
            <a:ext cx="2115778" cy="1671638"/>
          </a:xfrm>
          <a:prstGeom prst="roundRect">
            <a:avLst>
              <a:gd name="adj" fmla="val 7977"/>
            </a:avLst>
          </a:prstGeom>
          <a:noFill/>
          <a:ln w="7144">
            <a:solidFill>
              <a:srgbClr val="00E5FF"/>
            </a:solidFill>
            <a:prstDash val="solid"/>
          </a:ln>
        </p:spPr>
        <p:txBody>
          <a:bodyPr wrap="square" rtlCol="0" anchor="ctr"/>
          <a:lstStyle/>
          <a:p>
            <a:pPr marL="0" indent="0">
              <a:buNone/>
            </a:pPr>
            <a:endParaRPr lang="en-US" dirty="0"/>
          </a:p>
        </p:txBody>
      </p:sp>
      <p:sp>
        <p:nvSpPr>
          <p:cNvPr id="12" name="Text 9"/>
          <p:cNvSpPr/>
          <p:nvPr/>
        </p:nvSpPr>
        <p:spPr>
          <a:xfrm>
            <a:off x="621506" y="1369368"/>
            <a:ext cx="1794309" cy="91440"/>
          </a:xfrm>
          <a:prstGeom prst="rect">
            <a:avLst/>
          </a:prstGeom>
          <a:noFill/>
          <a:ln/>
        </p:spPr>
        <p:txBody>
          <a:bodyPr wrap="none" lIns="0" tIns="0" rIns="0" bIns="0" rtlCol="0" anchor="t">
            <a:normAutofit fontScale="25000" lnSpcReduction="20000"/>
          </a:bodyPr>
          <a:lstStyle/>
          <a:p>
            <a:pPr marL="0" indent="0" algn="l">
              <a:lnSpc>
                <a:spcPts val="928"/>
              </a:lnSpc>
              <a:buNone/>
            </a:pPr>
            <a:r>
              <a:rPr lang="en-US" sz="800" kern="0" spc="111" dirty="0">
                <a:solidFill>
                  <a:srgbClr val="00E5FF"/>
                </a:solidFill>
                <a:latin typeface="Liberation Sans Narrow" pitchFamily="34" charset="0"/>
                <a:ea typeface="Liberation Sans Narrow" pitchFamily="34" charset="-122"/>
                <a:cs typeface="Liberation Sans Narrow" pitchFamily="34" charset="-120"/>
              </a:rPr>
              <a:t>KPI · 01</a:t>
            </a:r>
            <a:endParaRPr lang="en-US" sz="800" dirty="0"/>
          </a:p>
        </p:txBody>
      </p:sp>
      <p:sp>
        <p:nvSpPr>
          <p:cNvPr id="13" name="Text 10"/>
          <p:cNvSpPr/>
          <p:nvPr/>
        </p:nvSpPr>
        <p:spPr>
          <a:xfrm>
            <a:off x="550069" y="1546238"/>
            <a:ext cx="1865746" cy="542790"/>
          </a:xfrm>
          <a:prstGeom prst="rect">
            <a:avLst/>
          </a:prstGeom>
          <a:noFill/>
          <a:ln/>
          <a:effectLst>
            <a:outerShdw blurRad="228600" dist="50800" dir="16200000" algn="bl" rotWithShape="0">
              <a:srgbClr val="00E5FF">
                <a:alpha val="35000"/>
              </a:srgbClr>
            </a:outerShdw>
          </a:effectLst>
        </p:spPr>
        <p:txBody>
          <a:bodyPr wrap="none" lIns="0" tIns="0" rIns="0" bIns="0" rtlCol="0" anchor="t"/>
          <a:lstStyle/>
          <a:p>
            <a:pPr marL="0" indent="0" algn="l">
              <a:lnSpc>
                <a:spcPts val="4388"/>
              </a:lnSpc>
              <a:buNone/>
            </a:pPr>
            <a:r>
              <a:rPr lang="en-US" sz="4000" b="1" kern="0" spc="-175" dirty="0">
                <a:solidFill>
                  <a:srgbClr val="00E5FF"/>
                </a:solidFill>
                <a:latin typeface="Courier New" pitchFamily="34" charset="0"/>
                <a:ea typeface="Courier New" pitchFamily="34" charset="-122"/>
                <a:cs typeface="Courier New" pitchFamily="34" charset="-120"/>
              </a:rPr>
              <a:t>seconds</a:t>
            </a:r>
            <a:endParaRPr lang="en-US" sz="4000" dirty="0"/>
          </a:p>
        </p:txBody>
      </p:sp>
      <p:sp>
        <p:nvSpPr>
          <p:cNvPr id="14" name="Text 11"/>
          <p:cNvSpPr/>
          <p:nvPr/>
        </p:nvSpPr>
        <p:spPr>
          <a:xfrm>
            <a:off x="621506" y="2406328"/>
            <a:ext cx="1794309" cy="165449"/>
          </a:xfrm>
          <a:prstGeom prst="rect">
            <a:avLst/>
          </a:prstGeom>
          <a:noFill/>
          <a:ln/>
        </p:spPr>
        <p:txBody>
          <a:bodyPr wrap="none" lIns="0" tIns="0" rIns="0" bIns="0" rtlCol="0" anchor="t">
            <a:normAutofit fontScale="25000" lnSpcReduction="20000"/>
          </a:bodyPr>
          <a:lstStyle/>
          <a:p>
            <a:pPr marL="0" indent="0" algn="l">
              <a:lnSpc>
                <a:spcPts val="1519"/>
              </a:lnSpc>
              <a:buNone/>
            </a:pPr>
            <a:r>
              <a:rPr lang="en-US" sz="1013" dirty="0">
                <a:solidFill>
                  <a:srgbClr val="E6F1FF"/>
                </a:solidFill>
                <a:latin typeface="Carlito" pitchFamily="34" charset="0"/>
                <a:ea typeface="Carlito" pitchFamily="34" charset="-122"/>
                <a:cs typeface="Carlito" pitchFamily="34" charset="-120"/>
              </a:rPr>
              <a:t>MTTR Reduction</a:t>
            </a:r>
            <a:endParaRPr lang="en-US" sz="1013" dirty="0"/>
          </a:p>
        </p:txBody>
      </p:sp>
      <p:sp>
        <p:nvSpPr>
          <p:cNvPr id="15" name="Text 12"/>
          <p:cNvSpPr/>
          <p:nvPr/>
        </p:nvSpPr>
        <p:spPr>
          <a:xfrm>
            <a:off x="621506" y="2599209"/>
            <a:ext cx="1901968" cy="134615"/>
          </a:xfrm>
          <a:prstGeom prst="rect">
            <a:avLst/>
          </a:prstGeom>
          <a:noFill/>
          <a:ln/>
        </p:spPr>
        <p:txBody>
          <a:bodyPr wrap="square" lIns="0" tIns="0" rIns="0" bIns="0" rtlCol="0" anchor="t"/>
          <a:lstStyle/>
          <a:p>
            <a:pPr marL="0" indent="0" algn="l">
              <a:lnSpc>
                <a:spcPts val="1060"/>
              </a:lnSpc>
              <a:buNone/>
            </a:pPr>
            <a:r>
              <a:rPr lang="en-US" sz="800" dirty="0">
                <a:solidFill>
                  <a:srgbClr val="A9B4CC"/>
                </a:solidFill>
                <a:latin typeface="Carlito" pitchFamily="34" charset="0"/>
                <a:ea typeface="Carlito" pitchFamily="34" charset="-122"/>
                <a:cs typeface="Carlito" pitchFamily="34" charset="-120"/>
              </a:rPr>
              <a:t>From hours/days to seconds.</a:t>
            </a:r>
            <a:endParaRPr lang="en-US" sz="800" dirty="0"/>
          </a:p>
        </p:txBody>
      </p:sp>
      <p:pic>
        <p:nvPicPr>
          <p:cNvPr id="16" name="Image 1" descr="preencoded.png"/>
          <p:cNvPicPr>
            <a:picLocks noChangeAspect="1"/>
          </p:cNvPicPr>
          <p:nvPr/>
        </p:nvPicPr>
        <p:blipFill>
          <a:blip r:embed="rId4"/>
          <a:stretch>
            <a:fillRect/>
          </a:stretch>
        </p:blipFill>
        <p:spPr>
          <a:xfrm>
            <a:off x="2708709" y="1285581"/>
            <a:ext cx="1748991" cy="1678781"/>
          </a:xfrm>
          <a:prstGeom prst="rect">
            <a:avLst/>
          </a:prstGeom>
        </p:spPr>
      </p:pic>
      <p:sp>
        <p:nvSpPr>
          <p:cNvPr id="17" name="Text 13"/>
          <p:cNvSpPr/>
          <p:nvPr/>
        </p:nvSpPr>
        <p:spPr>
          <a:xfrm>
            <a:off x="2689054" y="1340792"/>
            <a:ext cx="1741847" cy="1671638"/>
          </a:xfrm>
          <a:prstGeom prst="roundRect">
            <a:avLst>
              <a:gd name="adj" fmla="val 7977"/>
            </a:avLst>
          </a:prstGeom>
          <a:noFill/>
          <a:ln w="7144">
            <a:solidFill>
              <a:srgbClr val="00E5FF"/>
            </a:solidFill>
            <a:prstDash val="solid"/>
          </a:ln>
        </p:spPr>
        <p:txBody>
          <a:bodyPr wrap="square" rtlCol="0" anchor="ctr"/>
          <a:lstStyle/>
          <a:p>
            <a:pPr marL="0" indent="0">
              <a:buNone/>
            </a:pPr>
            <a:endParaRPr lang="en-US" dirty="0"/>
          </a:p>
        </p:txBody>
      </p:sp>
      <p:sp>
        <p:nvSpPr>
          <p:cNvPr id="18" name="Text 14"/>
          <p:cNvSpPr/>
          <p:nvPr/>
        </p:nvSpPr>
        <p:spPr>
          <a:xfrm>
            <a:off x="2873015" y="1369368"/>
            <a:ext cx="1420378" cy="91440"/>
          </a:xfrm>
          <a:prstGeom prst="rect">
            <a:avLst/>
          </a:prstGeom>
          <a:noFill/>
          <a:ln/>
        </p:spPr>
        <p:txBody>
          <a:bodyPr wrap="none" lIns="0" tIns="0" rIns="0" bIns="0" rtlCol="0" anchor="t">
            <a:normAutofit fontScale="25000" lnSpcReduction="20000"/>
          </a:bodyPr>
          <a:lstStyle/>
          <a:p>
            <a:pPr marL="0" indent="0" algn="l">
              <a:lnSpc>
                <a:spcPts val="928"/>
              </a:lnSpc>
              <a:buNone/>
            </a:pPr>
            <a:r>
              <a:rPr lang="en-US" sz="800" kern="0" spc="111" dirty="0">
                <a:solidFill>
                  <a:srgbClr val="7C4DFF"/>
                </a:solidFill>
                <a:latin typeface="Liberation Sans Narrow" pitchFamily="34" charset="0"/>
                <a:ea typeface="Liberation Sans Narrow" pitchFamily="34" charset="-122"/>
                <a:cs typeface="Liberation Sans Narrow" pitchFamily="34" charset="-120"/>
              </a:rPr>
              <a:t>KPI · 02</a:t>
            </a:r>
            <a:endParaRPr lang="en-US" sz="800" dirty="0"/>
          </a:p>
        </p:txBody>
      </p:sp>
      <p:sp>
        <p:nvSpPr>
          <p:cNvPr id="19" name="Text 15"/>
          <p:cNvSpPr/>
          <p:nvPr/>
        </p:nvSpPr>
        <p:spPr>
          <a:xfrm>
            <a:off x="2873015" y="1487239"/>
            <a:ext cx="1420378" cy="432054"/>
          </a:xfrm>
          <a:prstGeom prst="rect">
            <a:avLst/>
          </a:prstGeom>
          <a:noFill/>
          <a:ln/>
          <a:effectLst>
            <a:outerShdw blurRad="228600" dist="50800" dir="16200000" algn="bl" rotWithShape="0">
              <a:srgbClr val="7C4DFF">
                <a:alpha val="35000"/>
              </a:srgbClr>
            </a:outerShdw>
          </a:effectLst>
        </p:spPr>
        <p:txBody>
          <a:bodyPr wrap="none" lIns="0" tIns="0" rIns="0" bIns="0" rtlCol="0" anchor="t"/>
          <a:lstStyle/>
          <a:p>
            <a:pPr marL="0" indent="0" algn="l">
              <a:lnSpc>
                <a:spcPts val="3150"/>
              </a:lnSpc>
              <a:buNone/>
            </a:pPr>
            <a:r>
              <a:rPr lang="en-US" sz="3150" b="1" kern="0" spc="-126" dirty="0">
                <a:solidFill>
                  <a:srgbClr val="7C4DFF"/>
                </a:solidFill>
                <a:latin typeface="Liberation Sans Narrow" pitchFamily="34" charset="0"/>
                <a:ea typeface="Liberation Sans Narrow" pitchFamily="34" charset="-122"/>
                <a:cs typeface="Liberation Sans Narrow" pitchFamily="34" charset="-120"/>
              </a:rPr>
              <a:t>40%</a:t>
            </a:r>
            <a:endParaRPr lang="en-US" sz="3150" dirty="0"/>
          </a:p>
        </p:txBody>
      </p:sp>
      <p:sp>
        <p:nvSpPr>
          <p:cNvPr id="20" name="Text 16"/>
          <p:cNvSpPr/>
          <p:nvPr/>
        </p:nvSpPr>
        <p:spPr>
          <a:xfrm>
            <a:off x="2873015" y="2137097"/>
            <a:ext cx="1420378" cy="165449"/>
          </a:xfrm>
          <a:prstGeom prst="rect">
            <a:avLst/>
          </a:prstGeom>
          <a:noFill/>
          <a:ln/>
        </p:spPr>
        <p:txBody>
          <a:bodyPr wrap="none" lIns="0" tIns="0" rIns="0" bIns="0" rtlCol="0" anchor="t">
            <a:normAutofit fontScale="25000" lnSpcReduction="20000"/>
          </a:bodyPr>
          <a:lstStyle/>
          <a:p>
            <a:pPr marL="0" indent="0" algn="l">
              <a:lnSpc>
                <a:spcPts val="1519"/>
              </a:lnSpc>
              <a:buNone/>
            </a:pPr>
            <a:r>
              <a:rPr lang="en-US" sz="1013" dirty="0">
                <a:solidFill>
                  <a:srgbClr val="E6F1FF"/>
                </a:solidFill>
                <a:latin typeface="Carlito" pitchFamily="34" charset="0"/>
                <a:ea typeface="Carlito" pitchFamily="34" charset="-122"/>
                <a:cs typeface="Carlito" pitchFamily="34" charset="-120"/>
              </a:rPr>
              <a:t>OPEX Savings</a:t>
            </a:r>
            <a:endParaRPr lang="en-US" sz="1013" dirty="0"/>
          </a:p>
        </p:txBody>
      </p:sp>
      <p:sp>
        <p:nvSpPr>
          <p:cNvPr id="21" name="Text 17"/>
          <p:cNvSpPr/>
          <p:nvPr/>
        </p:nvSpPr>
        <p:spPr>
          <a:xfrm>
            <a:off x="2873015" y="2329979"/>
            <a:ext cx="1505601" cy="403845"/>
          </a:xfrm>
          <a:prstGeom prst="rect">
            <a:avLst/>
          </a:prstGeom>
          <a:noFill/>
          <a:ln/>
        </p:spPr>
        <p:txBody>
          <a:bodyPr wrap="square" lIns="0" tIns="0" rIns="0" bIns="0" rtlCol="0" anchor="t"/>
          <a:lstStyle/>
          <a:p>
            <a:pPr marL="0" indent="0" algn="l">
              <a:lnSpc>
                <a:spcPts val="1060"/>
              </a:lnSpc>
              <a:buNone/>
            </a:pPr>
            <a:r>
              <a:rPr lang="en-US" sz="800" dirty="0">
                <a:solidFill>
                  <a:srgbClr val="A9B4CC"/>
                </a:solidFill>
                <a:latin typeface="Carlito" pitchFamily="34" charset="0"/>
                <a:ea typeface="Carlito" pitchFamily="34" charset="-122"/>
                <a:cs typeface="Carlito" pitchFamily="34" charset="-120"/>
              </a:rPr>
              <a:t>Eliminates up to 40% of unnecessary hardware replacement "truck rolls."</a:t>
            </a:r>
            <a:endParaRPr lang="en-US" sz="800" dirty="0"/>
          </a:p>
        </p:txBody>
      </p:sp>
      <p:pic>
        <p:nvPicPr>
          <p:cNvPr id="22" name="Image 2" descr="preencoded.png"/>
          <p:cNvPicPr>
            <a:picLocks noChangeAspect="1"/>
          </p:cNvPicPr>
          <p:nvPr/>
        </p:nvPicPr>
        <p:blipFill>
          <a:blip r:embed="rId3"/>
          <a:stretch>
            <a:fillRect/>
          </a:stretch>
        </p:blipFill>
        <p:spPr>
          <a:xfrm>
            <a:off x="457200" y="3012430"/>
            <a:ext cx="2122922" cy="1678781"/>
          </a:xfrm>
          <a:prstGeom prst="rect">
            <a:avLst/>
          </a:prstGeom>
        </p:spPr>
      </p:pic>
      <p:sp>
        <p:nvSpPr>
          <p:cNvPr id="23" name="Text 18"/>
          <p:cNvSpPr/>
          <p:nvPr/>
        </p:nvSpPr>
        <p:spPr>
          <a:xfrm>
            <a:off x="460772" y="3016002"/>
            <a:ext cx="2115778" cy="1671638"/>
          </a:xfrm>
          <a:prstGeom prst="roundRect">
            <a:avLst>
              <a:gd name="adj" fmla="val 7977"/>
            </a:avLst>
          </a:prstGeom>
          <a:noFill/>
          <a:ln w="7144">
            <a:solidFill>
              <a:srgbClr val="00E5FF"/>
            </a:solidFill>
            <a:prstDash val="solid"/>
          </a:ln>
        </p:spPr>
        <p:txBody>
          <a:bodyPr wrap="square" rtlCol="0" anchor="ctr"/>
          <a:lstStyle/>
          <a:p>
            <a:pPr marL="0" indent="0">
              <a:buNone/>
            </a:pPr>
            <a:endParaRPr lang="en-US" dirty="0"/>
          </a:p>
        </p:txBody>
      </p:sp>
      <p:sp>
        <p:nvSpPr>
          <p:cNvPr id="24" name="Text 19"/>
          <p:cNvSpPr/>
          <p:nvPr/>
        </p:nvSpPr>
        <p:spPr>
          <a:xfrm>
            <a:off x="621506" y="3176736"/>
            <a:ext cx="1794309" cy="91440"/>
          </a:xfrm>
          <a:prstGeom prst="rect">
            <a:avLst/>
          </a:prstGeom>
          <a:noFill/>
          <a:ln/>
        </p:spPr>
        <p:txBody>
          <a:bodyPr wrap="none" lIns="0" tIns="0" rIns="0" bIns="0" rtlCol="0" anchor="t">
            <a:normAutofit fontScale="25000" lnSpcReduction="20000"/>
          </a:bodyPr>
          <a:lstStyle/>
          <a:p>
            <a:pPr marL="0" indent="0" algn="l">
              <a:lnSpc>
                <a:spcPts val="928"/>
              </a:lnSpc>
              <a:buNone/>
            </a:pPr>
            <a:r>
              <a:rPr lang="en-US" sz="800" kern="0" spc="111" dirty="0">
                <a:solidFill>
                  <a:srgbClr val="00E5FF"/>
                </a:solidFill>
                <a:latin typeface="Liberation Sans Narrow" pitchFamily="34" charset="0"/>
                <a:ea typeface="Liberation Sans Narrow" pitchFamily="34" charset="-122"/>
                <a:cs typeface="Liberation Sans Narrow" pitchFamily="34" charset="-120"/>
              </a:rPr>
              <a:t>KPI · 03</a:t>
            </a:r>
            <a:endParaRPr lang="en-US" sz="800" dirty="0"/>
          </a:p>
        </p:txBody>
      </p:sp>
      <p:sp>
        <p:nvSpPr>
          <p:cNvPr id="25" name="Text 20"/>
          <p:cNvSpPr/>
          <p:nvPr/>
        </p:nvSpPr>
        <p:spPr>
          <a:xfrm>
            <a:off x="621506" y="3294608"/>
            <a:ext cx="1794309" cy="432054"/>
          </a:xfrm>
          <a:prstGeom prst="rect">
            <a:avLst/>
          </a:prstGeom>
          <a:noFill/>
          <a:ln/>
          <a:effectLst>
            <a:outerShdw blurRad="228600" dist="50800" dir="16200000" algn="bl" rotWithShape="0">
              <a:srgbClr val="00E5FF">
                <a:alpha val="35000"/>
              </a:srgbClr>
            </a:outerShdw>
          </a:effectLst>
        </p:spPr>
        <p:txBody>
          <a:bodyPr wrap="none" lIns="0" tIns="0" rIns="0" bIns="0" rtlCol="0" anchor="t"/>
          <a:lstStyle/>
          <a:p>
            <a:pPr marL="0" indent="0" algn="l">
              <a:lnSpc>
                <a:spcPts val="3150"/>
              </a:lnSpc>
              <a:buNone/>
            </a:pPr>
            <a:r>
              <a:rPr lang="en-US" sz="3150" b="1" kern="0" spc="-126" dirty="0">
                <a:solidFill>
                  <a:srgbClr val="00E5FF"/>
                </a:solidFill>
                <a:latin typeface="Liberation Sans Narrow" pitchFamily="34" charset="0"/>
                <a:ea typeface="Liberation Sans Narrow" pitchFamily="34" charset="-122"/>
                <a:cs typeface="Liberation Sans Narrow" pitchFamily="34" charset="-120"/>
              </a:rPr>
              <a:t>100%</a:t>
            </a:r>
            <a:endParaRPr lang="en-US" sz="3150" dirty="0"/>
          </a:p>
        </p:txBody>
      </p:sp>
      <p:sp>
        <p:nvSpPr>
          <p:cNvPr id="26" name="Text 21"/>
          <p:cNvSpPr/>
          <p:nvPr/>
        </p:nvSpPr>
        <p:spPr>
          <a:xfrm>
            <a:off x="621506" y="3952838"/>
            <a:ext cx="1794309" cy="165449"/>
          </a:xfrm>
          <a:prstGeom prst="rect">
            <a:avLst/>
          </a:prstGeom>
          <a:noFill/>
          <a:ln/>
        </p:spPr>
        <p:txBody>
          <a:bodyPr wrap="none" lIns="0" tIns="0" rIns="0" bIns="0" rtlCol="0" anchor="t">
            <a:normAutofit fontScale="25000" lnSpcReduction="20000"/>
          </a:bodyPr>
          <a:lstStyle/>
          <a:p>
            <a:pPr marL="0" indent="0" algn="l">
              <a:lnSpc>
                <a:spcPts val="1519"/>
              </a:lnSpc>
              <a:buNone/>
            </a:pPr>
            <a:r>
              <a:rPr lang="en-US" sz="1013" dirty="0">
                <a:solidFill>
                  <a:srgbClr val="E6F1FF"/>
                </a:solidFill>
                <a:latin typeface="Carlito" pitchFamily="34" charset="0"/>
                <a:ea typeface="Carlito" pitchFamily="34" charset="-122"/>
                <a:cs typeface="Carlito" pitchFamily="34" charset="-120"/>
              </a:rPr>
              <a:t>Zero-Risk Remediation</a:t>
            </a:r>
            <a:endParaRPr lang="en-US" sz="1013" dirty="0"/>
          </a:p>
        </p:txBody>
      </p:sp>
      <p:sp>
        <p:nvSpPr>
          <p:cNvPr id="27" name="Text 22"/>
          <p:cNvSpPr/>
          <p:nvPr/>
        </p:nvSpPr>
        <p:spPr>
          <a:xfrm>
            <a:off x="621506" y="4145719"/>
            <a:ext cx="1794309" cy="395474"/>
          </a:xfrm>
          <a:prstGeom prst="rect">
            <a:avLst/>
          </a:prstGeom>
          <a:noFill/>
          <a:ln/>
        </p:spPr>
        <p:txBody>
          <a:bodyPr wrap="square" lIns="0" tIns="0" rIns="0" bIns="0" rtlCol="0" anchor="t"/>
          <a:lstStyle/>
          <a:p>
            <a:pPr marL="0" indent="0" algn="l">
              <a:lnSpc>
                <a:spcPts val="1038"/>
              </a:lnSpc>
              <a:buNone/>
            </a:pPr>
            <a:r>
              <a:rPr lang="en-US" sz="800" dirty="0">
                <a:solidFill>
                  <a:srgbClr val="A9B4CC"/>
                </a:solidFill>
                <a:latin typeface="Carlito" pitchFamily="34" charset="0"/>
                <a:ea typeface="Carlito" pitchFamily="34" charset="-122"/>
                <a:cs typeface="Carlito" pitchFamily="34" charset="-120"/>
              </a:rPr>
              <a:t>Fixes are mathematically proven safe in a synthetic digital twin before touching live networks.</a:t>
            </a:r>
            <a:endParaRPr lang="en-US" sz="800" dirty="0"/>
          </a:p>
        </p:txBody>
      </p:sp>
      <p:pic>
        <p:nvPicPr>
          <p:cNvPr id="28" name="Image 3" descr="preencoded.png"/>
          <p:cNvPicPr>
            <a:picLocks noChangeAspect="1"/>
          </p:cNvPicPr>
          <p:nvPr/>
        </p:nvPicPr>
        <p:blipFill>
          <a:blip r:embed="rId5"/>
          <a:stretch>
            <a:fillRect/>
          </a:stretch>
        </p:blipFill>
        <p:spPr>
          <a:xfrm>
            <a:off x="2708709" y="3012430"/>
            <a:ext cx="1748991" cy="1678781"/>
          </a:xfrm>
          <a:prstGeom prst="rect">
            <a:avLst/>
          </a:prstGeom>
        </p:spPr>
      </p:pic>
      <p:sp>
        <p:nvSpPr>
          <p:cNvPr id="29" name="Text 23"/>
          <p:cNvSpPr/>
          <p:nvPr/>
        </p:nvSpPr>
        <p:spPr>
          <a:xfrm>
            <a:off x="2712281" y="3016002"/>
            <a:ext cx="1741847" cy="1671638"/>
          </a:xfrm>
          <a:prstGeom prst="roundRect">
            <a:avLst>
              <a:gd name="adj" fmla="val 7977"/>
            </a:avLst>
          </a:prstGeom>
          <a:noFill/>
          <a:ln w="7144">
            <a:solidFill>
              <a:srgbClr val="10E0A0"/>
            </a:solidFill>
            <a:prstDash val="solid"/>
          </a:ln>
        </p:spPr>
        <p:txBody>
          <a:bodyPr wrap="square" rtlCol="0" anchor="ctr"/>
          <a:lstStyle/>
          <a:p>
            <a:pPr marL="0" indent="0">
              <a:buNone/>
            </a:pPr>
            <a:endParaRPr lang="en-US" dirty="0"/>
          </a:p>
        </p:txBody>
      </p:sp>
      <p:sp>
        <p:nvSpPr>
          <p:cNvPr id="30" name="Text 24"/>
          <p:cNvSpPr/>
          <p:nvPr/>
        </p:nvSpPr>
        <p:spPr>
          <a:xfrm>
            <a:off x="2873015" y="3176736"/>
            <a:ext cx="1420378" cy="91440"/>
          </a:xfrm>
          <a:prstGeom prst="rect">
            <a:avLst/>
          </a:prstGeom>
          <a:noFill/>
          <a:ln/>
        </p:spPr>
        <p:txBody>
          <a:bodyPr wrap="none" lIns="0" tIns="0" rIns="0" bIns="0" rtlCol="0" anchor="t">
            <a:normAutofit fontScale="25000" lnSpcReduction="20000"/>
          </a:bodyPr>
          <a:lstStyle/>
          <a:p>
            <a:pPr marL="0" indent="0" algn="l">
              <a:lnSpc>
                <a:spcPts val="928"/>
              </a:lnSpc>
              <a:buNone/>
            </a:pPr>
            <a:r>
              <a:rPr lang="en-US" sz="800" kern="0" spc="111" dirty="0">
                <a:solidFill>
                  <a:srgbClr val="10E0A0"/>
                </a:solidFill>
                <a:latin typeface="Liberation Sans Narrow" pitchFamily="34" charset="0"/>
                <a:ea typeface="Liberation Sans Narrow" pitchFamily="34" charset="-122"/>
                <a:cs typeface="Liberation Sans Narrow" pitchFamily="34" charset="-120"/>
              </a:rPr>
              <a:t>KPI · 04</a:t>
            </a:r>
            <a:endParaRPr lang="en-US" sz="800" dirty="0"/>
          </a:p>
        </p:txBody>
      </p:sp>
      <p:sp>
        <p:nvSpPr>
          <p:cNvPr id="31" name="Text 25"/>
          <p:cNvSpPr/>
          <p:nvPr/>
        </p:nvSpPr>
        <p:spPr>
          <a:xfrm>
            <a:off x="2873015" y="3294608"/>
            <a:ext cx="1420378" cy="601790"/>
          </a:xfrm>
          <a:prstGeom prst="rect">
            <a:avLst/>
          </a:prstGeom>
          <a:noFill/>
          <a:ln/>
          <a:effectLst>
            <a:outerShdw blurRad="228600" dist="50800" dir="16200000" algn="bl" rotWithShape="0">
              <a:srgbClr val="10E0A0">
                <a:alpha val="45000"/>
              </a:srgbClr>
            </a:outerShdw>
          </a:effectLst>
        </p:spPr>
        <p:txBody>
          <a:bodyPr wrap="none" lIns="0" tIns="0" rIns="0" bIns="0" rtlCol="0" anchor="t"/>
          <a:lstStyle/>
          <a:p>
            <a:pPr marL="0" indent="0" algn="l">
              <a:lnSpc>
                <a:spcPts val="4388"/>
              </a:lnSpc>
              <a:buNone/>
            </a:pPr>
            <a:r>
              <a:rPr lang="en-US" sz="4388" b="1" kern="0" spc="-175" dirty="0">
                <a:solidFill>
                  <a:srgbClr val="10E0A0"/>
                </a:solidFill>
                <a:latin typeface="Liberation Sans Narrow" pitchFamily="34" charset="0"/>
                <a:ea typeface="Liberation Sans Narrow" pitchFamily="34" charset="-122"/>
                <a:cs typeface="Liberation Sans Narrow" pitchFamily="34" charset="-120"/>
              </a:rPr>
              <a:t>0</a:t>
            </a:r>
            <a:endParaRPr lang="en-US" sz="4388" dirty="0"/>
          </a:p>
        </p:txBody>
      </p:sp>
      <p:sp>
        <p:nvSpPr>
          <p:cNvPr id="32" name="Text 26"/>
          <p:cNvSpPr/>
          <p:nvPr/>
        </p:nvSpPr>
        <p:spPr>
          <a:xfrm>
            <a:off x="2873015" y="3944466"/>
            <a:ext cx="1420378" cy="165449"/>
          </a:xfrm>
          <a:prstGeom prst="rect">
            <a:avLst/>
          </a:prstGeom>
          <a:noFill/>
          <a:ln/>
        </p:spPr>
        <p:txBody>
          <a:bodyPr wrap="none" lIns="0" tIns="0" rIns="0" bIns="0" rtlCol="0" anchor="t">
            <a:normAutofit fontScale="25000" lnSpcReduction="20000"/>
          </a:bodyPr>
          <a:lstStyle/>
          <a:p>
            <a:pPr marL="0" indent="0" algn="l">
              <a:lnSpc>
                <a:spcPts val="1519"/>
              </a:lnSpc>
              <a:buNone/>
            </a:pPr>
            <a:r>
              <a:rPr lang="en-US" sz="1013" dirty="0">
                <a:solidFill>
                  <a:srgbClr val="E6F1FF"/>
                </a:solidFill>
                <a:latin typeface="Carlito" pitchFamily="34" charset="0"/>
                <a:ea typeface="Carlito" pitchFamily="34" charset="-122"/>
                <a:cs typeface="Carlito" pitchFamily="34" charset="-120"/>
              </a:rPr>
              <a:t>Cascading Outages</a:t>
            </a:r>
            <a:endParaRPr lang="en-US" sz="1013" dirty="0"/>
          </a:p>
        </p:txBody>
      </p:sp>
      <p:sp>
        <p:nvSpPr>
          <p:cNvPr id="33" name="Text 27"/>
          <p:cNvSpPr/>
          <p:nvPr/>
        </p:nvSpPr>
        <p:spPr>
          <a:xfrm>
            <a:off x="2873015" y="4137347"/>
            <a:ext cx="1505601" cy="403845"/>
          </a:xfrm>
          <a:prstGeom prst="rect">
            <a:avLst/>
          </a:prstGeom>
          <a:noFill/>
          <a:ln/>
        </p:spPr>
        <p:txBody>
          <a:bodyPr wrap="square" lIns="0" tIns="0" rIns="0" bIns="0" rtlCol="0" anchor="t"/>
          <a:lstStyle/>
          <a:p>
            <a:pPr marL="0" indent="0" algn="l">
              <a:lnSpc>
                <a:spcPts val="1060"/>
              </a:lnSpc>
              <a:buNone/>
            </a:pPr>
            <a:r>
              <a:rPr lang="en-US" sz="800" dirty="0">
                <a:solidFill>
                  <a:srgbClr val="A9B4CC"/>
                </a:solidFill>
                <a:latin typeface="Carlito" pitchFamily="34" charset="0"/>
                <a:ea typeface="Carlito" pitchFamily="34" charset="-122"/>
                <a:cs typeface="Carlito" pitchFamily="34" charset="-120"/>
              </a:rPr>
              <a:t>Stops localized failures from spreading across the network topology.</a:t>
            </a:r>
            <a:endParaRPr lang="en-US" sz="800" dirty="0"/>
          </a:p>
        </p:txBody>
      </p:sp>
      <p:sp>
        <p:nvSpPr>
          <p:cNvPr id="34" name="Text 28"/>
          <p:cNvSpPr/>
          <p:nvPr/>
        </p:nvSpPr>
        <p:spPr>
          <a:xfrm>
            <a:off x="4689872" y="1208633"/>
            <a:ext cx="3993356" cy="3479006"/>
          </a:xfrm>
          <a:prstGeom prst="roundRect">
            <a:avLst>
              <a:gd name="adj" fmla="val 3833"/>
            </a:avLst>
          </a:prstGeom>
          <a:solidFill>
            <a:srgbClr val="FFFFFF">
              <a:alpha val="4000"/>
            </a:srgbClr>
          </a:solidFill>
          <a:ln w="7144">
            <a:solidFill>
              <a:srgbClr val="FFFFFF"/>
            </a:solidFill>
            <a:prstDash val="solid"/>
          </a:ln>
        </p:spPr>
        <p:txBody>
          <a:bodyPr wrap="square" rtlCol="0" anchor="ctr"/>
          <a:lstStyle/>
          <a:p>
            <a:pPr marL="0" indent="0">
              <a:buNone/>
            </a:pPr>
            <a:endParaRPr lang="en-US" dirty="0"/>
          </a:p>
        </p:txBody>
      </p:sp>
      <p:sp>
        <p:nvSpPr>
          <p:cNvPr id="35" name="Text 29"/>
          <p:cNvSpPr/>
          <p:nvPr/>
        </p:nvSpPr>
        <p:spPr>
          <a:xfrm>
            <a:off x="4879181" y="1383655"/>
            <a:ext cx="1763925" cy="119015"/>
          </a:xfrm>
          <a:prstGeom prst="rect">
            <a:avLst/>
          </a:prstGeom>
          <a:noFill/>
          <a:ln/>
        </p:spPr>
        <p:txBody>
          <a:bodyPr wrap="square" lIns="0" tIns="0" rIns="0" bIns="0" rtlCol="0" anchor="t">
            <a:normAutofit fontScale="92500"/>
          </a:bodyPr>
          <a:lstStyle/>
          <a:p>
            <a:pPr marL="0" indent="0" algn="l">
              <a:lnSpc>
                <a:spcPts val="928"/>
              </a:lnSpc>
              <a:buNone/>
            </a:pPr>
            <a:r>
              <a:rPr lang="en-US" sz="619" kern="0" spc="111" dirty="0">
                <a:solidFill>
                  <a:srgbClr val="6B7494"/>
                </a:solidFill>
                <a:latin typeface="Courier New" pitchFamily="34" charset="0"/>
                <a:ea typeface="Courier New" pitchFamily="34" charset="-122"/>
                <a:cs typeface="Courier New" pitchFamily="34" charset="-120"/>
              </a:rPr>
              <a:t>MTTR · TRADITIONAL VS CTG-CPM</a:t>
            </a:r>
            <a:endParaRPr lang="en-US" sz="619" dirty="0"/>
          </a:p>
        </p:txBody>
      </p:sp>
      <p:sp>
        <p:nvSpPr>
          <p:cNvPr id="36" name="Text 30"/>
          <p:cNvSpPr/>
          <p:nvPr/>
        </p:nvSpPr>
        <p:spPr>
          <a:xfrm>
            <a:off x="4879181" y="1530102"/>
            <a:ext cx="1605669" cy="231458"/>
          </a:xfrm>
          <a:prstGeom prst="rect">
            <a:avLst/>
          </a:prstGeom>
          <a:noFill/>
          <a:ln/>
        </p:spPr>
        <p:txBody>
          <a:bodyPr wrap="none" lIns="0" tIns="0" rIns="0" bIns="0" rtlCol="0" anchor="t"/>
          <a:lstStyle/>
          <a:p>
            <a:pPr marL="0" indent="0" algn="l">
              <a:lnSpc>
                <a:spcPts val="1688"/>
              </a:lnSpc>
              <a:buNone/>
            </a:pPr>
            <a:r>
              <a:rPr lang="en-US" sz="1125" dirty="0">
                <a:solidFill>
                  <a:srgbClr val="E6F1FF"/>
                </a:solidFill>
                <a:latin typeface="Carlito" pitchFamily="34" charset="0"/>
                <a:ea typeface="Carlito" pitchFamily="34" charset="-122"/>
                <a:cs typeface="Carlito" pitchFamily="34" charset="-120"/>
              </a:rPr>
              <a:t>Mean Time to Repair</a:t>
            </a:r>
            <a:endParaRPr lang="en-US" sz="1125" dirty="0"/>
          </a:p>
        </p:txBody>
      </p:sp>
      <p:sp>
        <p:nvSpPr>
          <p:cNvPr id="37" name="Text 31"/>
          <p:cNvSpPr/>
          <p:nvPr/>
        </p:nvSpPr>
        <p:spPr>
          <a:xfrm>
            <a:off x="8293894" y="1464022"/>
            <a:ext cx="200025" cy="200025"/>
          </a:xfrm>
          <a:prstGeom prst="rect">
            <a:avLst/>
          </a:prstGeom>
          <a:noFill/>
          <a:ln/>
        </p:spPr>
        <p:txBody>
          <a:bodyPr wrap="none" lIns="0" tIns="0" rIns="0" bIns="0" rtlCol="0" anchor="ctr"/>
          <a:lstStyle/>
          <a:p>
            <a:pPr marL="0" indent="0" algn="ctr">
              <a:buNone/>
            </a:pPr>
            <a:r>
              <a:rPr lang="en-US" sz="1969" dirty="0">
                <a:solidFill>
                  <a:srgbClr val="00E5FF"/>
                </a:solidFill>
                <a:latin typeface="Segoe UI Symbol" pitchFamily="34" charset="0"/>
                <a:ea typeface="Segoe UI Symbol" pitchFamily="34" charset="-122"/>
                <a:cs typeface="Segoe UI Symbol" pitchFamily="34" charset="-120"/>
              </a:rPr>
              <a:t>⌇</a:t>
            </a:r>
            <a:endParaRPr lang="en-US" sz="1969" dirty="0"/>
          </a:p>
        </p:txBody>
      </p:sp>
      <p:pic>
        <p:nvPicPr>
          <p:cNvPr id="38" name="Image 4" descr="preencoded.png"/>
          <p:cNvPicPr>
            <a:picLocks noChangeAspect="1"/>
          </p:cNvPicPr>
          <p:nvPr/>
        </p:nvPicPr>
        <p:blipFill>
          <a:blip r:embed="rId6"/>
          <a:stretch>
            <a:fillRect/>
          </a:stretch>
        </p:blipFill>
        <p:spPr>
          <a:xfrm>
            <a:off x="4879181" y="1887289"/>
            <a:ext cx="3614738" cy="7144"/>
          </a:xfrm>
          <a:prstGeom prst="rect">
            <a:avLst/>
          </a:prstGeom>
        </p:spPr>
      </p:pic>
      <p:sp>
        <p:nvSpPr>
          <p:cNvPr id="39" name="Text 32"/>
          <p:cNvSpPr/>
          <p:nvPr/>
        </p:nvSpPr>
        <p:spPr>
          <a:xfrm>
            <a:off x="4879181" y="2055168"/>
            <a:ext cx="57150" cy="57150"/>
          </a:xfrm>
          <a:prstGeom prst="ellipse">
            <a:avLst/>
          </a:prstGeom>
          <a:solidFill>
            <a:srgbClr val="FF4D6D"/>
          </a:solidFill>
          <a:ln/>
          <a:effectLst>
            <a:outerShdw blurRad="95250" dist="50800" dir="16200000" algn="bl" rotWithShape="0">
              <a:srgbClr val="FF4D6D">
                <a:alpha val="50000"/>
              </a:srgbClr>
            </a:outerShdw>
          </a:effectLst>
        </p:spPr>
        <p:txBody>
          <a:bodyPr wrap="square" rtlCol="0" anchor="ctr"/>
          <a:lstStyle/>
          <a:p>
            <a:pPr marL="0" indent="0">
              <a:buNone/>
            </a:pPr>
            <a:endParaRPr lang="en-US" dirty="0"/>
          </a:p>
        </p:txBody>
      </p:sp>
      <p:sp>
        <p:nvSpPr>
          <p:cNvPr id="40" name="Text 33"/>
          <p:cNvSpPr/>
          <p:nvPr/>
        </p:nvSpPr>
        <p:spPr>
          <a:xfrm>
            <a:off x="4993481" y="2008733"/>
            <a:ext cx="854516" cy="164592"/>
          </a:xfrm>
          <a:prstGeom prst="rect">
            <a:avLst/>
          </a:prstGeom>
          <a:noFill/>
          <a:ln/>
        </p:spPr>
        <p:txBody>
          <a:bodyPr wrap="square" lIns="0" tIns="0" rIns="0" bIns="0" rtlCol="0" anchor="t"/>
          <a:lstStyle/>
          <a:p>
            <a:pPr marL="0" indent="0" algn="l">
              <a:lnSpc>
                <a:spcPts val="1181"/>
              </a:lnSpc>
              <a:buNone/>
            </a:pPr>
            <a:r>
              <a:rPr lang="en-US" sz="788" dirty="0">
                <a:solidFill>
                  <a:srgbClr val="E6F1FF"/>
                </a:solidFill>
                <a:latin typeface="Carlito" pitchFamily="34" charset="0"/>
                <a:ea typeface="Carlito" pitchFamily="34" charset="-122"/>
                <a:cs typeface="Carlito" pitchFamily="34" charset="-120"/>
              </a:rPr>
              <a:t>Traditional MTTR</a:t>
            </a:r>
            <a:endParaRPr lang="en-US" sz="788" dirty="0"/>
          </a:p>
        </p:txBody>
      </p:sp>
      <p:sp>
        <p:nvSpPr>
          <p:cNvPr id="41" name="Text 34"/>
          <p:cNvSpPr/>
          <p:nvPr/>
        </p:nvSpPr>
        <p:spPr>
          <a:xfrm>
            <a:off x="7813365" y="2024807"/>
            <a:ext cx="680554" cy="164592"/>
          </a:xfrm>
          <a:prstGeom prst="rect">
            <a:avLst/>
          </a:prstGeom>
          <a:noFill/>
          <a:ln/>
        </p:spPr>
        <p:txBody>
          <a:bodyPr wrap="none" lIns="0" tIns="0" rIns="0" bIns="0" rtlCol="0" anchor="t"/>
          <a:lstStyle/>
          <a:p>
            <a:pPr marL="0" indent="0" algn="l">
              <a:lnSpc>
                <a:spcPts val="928"/>
              </a:lnSpc>
              <a:buNone/>
            </a:pPr>
            <a:r>
              <a:rPr lang="en-US" sz="619" kern="0" spc="111" dirty="0">
                <a:solidFill>
                  <a:srgbClr val="A9B4CC"/>
                </a:solidFill>
                <a:latin typeface="Courier New" pitchFamily="34" charset="0"/>
                <a:ea typeface="Courier New" pitchFamily="34" charset="-122"/>
                <a:cs typeface="Courier New" pitchFamily="34" charset="-120"/>
              </a:rPr>
              <a:t>HOURS → DAYS</a:t>
            </a:r>
            <a:endParaRPr lang="en-US" sz="619" dirty="0"/>
          </a:p>
        </p:txBody>
      </p:sp>
      <p:sp>
        <p:nvSpPr>
          <p:cNvPr id="42" name="Text 35"/>
          <p:cNvSpPr/>
          <p:nvPr/>
        </p:nvSpPr>
        <p:spPr>
          <a:xfrm>
            <a:off x="4882753" y="2219474"/>
            <a:ext cx="3607594" cy="250031"/>
          </a:xfrm>
          <a:prstGeom prst="roundRect">
            <a:avLst>
              <a:gd name="adj" fmla="val 30476"/>
            </a:avLst>
          </a:prstGeom>
          <a:solidFill>
            <a:srgbClr val="FFFFFF">
              <a:alpha val="4000"/>
            </a:srgbClr>
          </a:solidFill>
          <a:ln w="7144">
            <a:solidFill>
              <a:srgbClr val="FFFFFF"/>
            </a:solidFill>
            <a:prstDash val="solid"/>
          </a:ln>
        </p:spPr>
        <p:txBody>
          <a:bodyPr wrap="square" rtlCol="0" anchor="ctr"/>
          <a:lstStyle/>
          <a:p>
            <a:pPr marL="0" indent="0">
              <a:buNone/>
            </a:pPr>
            <a:endParaRPr lang="en-US" dirty="0"/>
          </a:p>
        </p:txBody>
      </p:sp>
      <p:pic>
        <p:nvPicPr>
          <p:cNvPr id="43" name="Image 5" descr="preencoded.png"/>
          <p:cNvPicPr>
            <a:picLocks noChangeAspect="1"/>
          </p:cNvPicPr>
          <p:nvPr/>
        </p:nvPicPr>
        <p:blipFill>
          <a:blip r:embed="rId7"/>
          <a:stretch>
            <a:fillRect/>
          </a:stretch>
        </p:blipFill>
        <p:spPr>
          <a:xfrm>
            <a:off x="4886325" y="2223046"/>
            <a:ext cx="3312356" cy="242888"/>
          </a:xfrm>
          <a:prstGeom prst="rect">
            <a:avLst/>
          </a:prstGeom>
        </p:spPr>
      </p:pic>
      <p:sp>
        <p:nvSpPr>
          <p:cNvPr id="44" name="Text 36"/>
          <p:cNvSpPr/>
          <p:nvPr/>
        </p:nvSpPr>
        <p:spPr>
          <a:xfrm>
            <a:off x="4886325" y="2223046"/>
            <a:ext cx="3312356" cy="242888"/>
          </a:xfrm>
          <a:prstGeom prst="rect">
            <a:avLst/>
          </a:prstGeom>
          <a:noFill/>
          <a:ln/>
        </p:spPr>
        <p:txBody>
          <a:bodyPr wrap="none" lIns="0" tIns="0" rIns="0" bIns="0" rtlCol="0" anchor="ctr"/>
          <a:lstStyle/>
          <a:p>
            <a:pPr marL="0" indent="0" algn="ctr">
              <a:lnSpc>
                <a:spcPts val="1097"/>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~4 hr</a:t>
            </a:r>
            <a:endParaRPr lang="en-US" sz="800" dirty="0"/>
          </a:p>
        </p:txBody>
      </p:sp>
      <p:sp>
        <p:nvSpPr>
          <p:cNvPr id="45" name="Text 37"/>
          <p:cNvSpPr/>
          <p:nvPr/>
        </p:nvSpPr>
        <p:spPr>
          <a:xfrm>
            <a:off x="4879181" y="2719536"/>
            <a:ext cx="57150" cy="57150"/>
          </a:xfrm>
          <a:prstGeom prst="ellipse">
            <a:avLst/>
          </a:prstGeom>
          <a:solidFill>
            <a:srgbClr val="00E5FF"/>
          </a:solidFill>
          <a:ln/>
          <a:effectLst>
            <a:outerShdw blurRad="114300" dist="50800" dir="16200000" algn="bl" rotWithShape="0">
              <a:srgbClr val="00E5FF">
                <a:alpha val="35000"/>
              </a:srgbClr>
            </a:outerShdw>
          </a:effectLst>
        </p:spPr>
        <p:txBody>
          <a:bodyPr wrap="square" rtlCol="0" anchor="ctr"/>
          <a:lstStyle/>
          <a:p>
            <a:pPr marL="0" indent="0">
              <a:buNone/>
            </a:pPr>
            <a:endParaRPr lang="en-US" dirty="0"/>
          </a:p>
        </p:txBody>
      </p:sp>
      <p:sp>
        <p:nvSpPr>
          <p:cNvPr id="46" name="Text 38"/>
          <p:cNvSpPr/>
          <p:nvPr/>
        </p:nvSpPr>
        <p:spPr>
          <a:xfrm>
            <a:off x="4959683" y="2673102"/>
            <a:ext cx="866384" cy="164592"/>
          </a:xfrm>
          <a:prstGeom prst="rect">
            <a:avLst/>
          </a:prstGeom>
          <a:noFill/>
          <a:ln/>
        </p:spPr>
        <p:txBody>
          <a:bodyPr wrap="none" lIns="0" tIns="0" rIns="0" bIns="0" rtlCol="0" anchor="t"/>
          <a:lstStyle/>
          <a:p>
            <a:pPr marL="0" indent="0" algn="l">
              <a:lnSpc>
                <a:spcPts val="1181"/>
              </a:lnSpc>
              <a:buNone/>
            </a:pPr>
            <a:r>
              <a:rPr lang="en-US" sz="800" dirty="0">
                <a:solidFill>
                  <a:srgbClr val="E6F1FF"/>
                </a:solidFill>
                <a:latin typeface="Carlito" pitchFamily="34" charset="0"/>
                <a:ea typeface="Carlito" pitchFamily="34" charset="-122"/>
                <a:cs typeface="Carlito" pitchFamily="34" charset="-120"/>
              </a:rPr>
              <a:t>CTG-CPM MTTR</a:t>
            </a:r>
            <a:endParaRPr lang="en-US" sz="800" dirty="0"/>
          </a:p>
        </p:txBody>
      </p:sp>
      <p:sp>
        <p:nvSpPr>
          <p:cNvPr id="47" name="Text 39"/>
          <p:cNvSpPr/>
          <p:nvPr/>
        </p:nvSpPr>
        <p:spPr>
          <a:xfrm>
            <a:off x="7852656" y="2689175"/>
            <a:ext cx="641263" cy="164592"/>
          </a:xfrm>
          <a:prstGeom prst="rect">
            <a:avLst/>
          </a:prstGeom>
          <a:noFill/>
          <a:ln/>
        </p:spPr>
        <p:txBody>
          <a:bodyPr wrap="none" lIns="0" tIns="0" rIns="0" bIns="0" rtlCol="0" anchor="t"/>
          <a:lstStyle/>
          <a:p>
            <a:pPr marL="0" indent="0" algn="l">
              <a:lnSpc>
                <a:spcPts val="928"/>
              </a:lnSpc>
              <a:buNone/>
            </a:pPr>
            <a:r>
              <a:rPr lang="en-US" sz="619" kern="0" spc="111" dirty="0">
                <a:solidFill>
                  <a:srgbClr val="00E5FF"/>
                </a:solidFill>
                <a:latin typeface="Liberation Sans Narrow" pitchFamily="34" charset="0"/>
                <a:ea typeface="Liberation Sans Narrow" pitchFamily="34" charset="-122"/>
                <a:cs typeface="Liberation Sans Narrow" pitchFamily="34" charset="-120"/>
              </a:rPr>
              <a:t>&lt; 10 SECONDS</a:t>
            </a:r>
            <a:endParaRPr lang="en-US" sz="619" dirty="0"/>
          </a:p>
        </p:txBody>
      </p:sp>
      <p:sp>
        <p:nvSpPr>
          <p:cNvPr id="48" name="Text 40"/>
          <p:cNvSpPr/>
          <p:nvPr/>
        </p:nvSpPr>
        <p:spPr>
          <a:xfrm>
            <a:off x="4882753" y="2883843"/>
            <a:ext cx="3607594" cy="250031"/>
          </a:xfrm>
          <a:prstGeom prst="roundRect">
            <a:avLst>
              <a:gd name="adj" fmla="val 30476"/>
            </a:avLst>
          </a:prstGeom>
          <a:solidFill>
            <a:srgbClr val="FFFFFF">
              <a:alpha val="4000"/>
            </a:srgbClr>
          </a:solidFill>
          <a:ln w="7144">
            <a:solidFill>
              <a:srgbClr val="FFFFFF"/>
            </a:solidFill>
            <a:prstDash val="solid"/>
          </a:ln>
        </p:spPr>
        <p:txBody>
          <a:bodyPr wrap="square" rtlCol="0" anchor="ctr"/>
          <a:lstStyle/>
          <a:p>
            <a:pPr marL="0" indent="0">
              <a:buNone/>
            </a:pPr>
            <a:endParaRPr lang="en-US" dirty="0"/>
          </a:p>
        </p:txBody>
      </p:sp>
      <p:pic>
        <p:nvPicPr>
          <p:cNvPr id="49" name="Image 6" descr="preencoded.png"/>
          <p:cNvPicPr>
            <a:picLocks noChangeAspect="1"/>
          </p:cNvPicPr>
          <p:nvPr/>
        </p:nvPicPr>
        <p:blipFill>
          <a:blip r:embed="rId8"/>
          <a:stretch>
            <a:fillRect/>
          </a:stretch>
        </p:blipFill>
        <p:spPr>
          <a:xfrm>
            <a:off x="4886325" y="2887414"/>
            <a:ext cx="215987" cy="242888"/>
          </a:xfrm>
          <a:prstGeom prst="rect">
            <a:avLst/>
          </a:prstGeom>
        </p:spPr>
      </p:pic>
      <p:sp>
        <p:nvSpPr>
          <p:cNvPr id="50" name="Text 41"/>
          <p:cNvSpPr/>
          <p:nvPr/>
        </p:nvSpPr>
        <p:spPr>
          <a:xfrm>
            <a:off x="4907756" y="3223171"/>
            <a:ext cx="675754" cy="164592"/>
          </a:xfrm>
          <a:prstGeom prst="rect">
            <a:avLst/>
          </a:prstGeom>
          <a:noFill/>
          <a:ln/>
        </p:spPr>
        <p:txBody>
          <a:bodyPr wrap="square" lIns="0" tIns="0" rIns="0" bIns="0" rtlCol="0" anchor="t"/>
          <a:lstStyle/>
          <a:p>
            <a:pPr marL="0" indent="0" algn="l">
              <a:lnSpc>
                <a:spcPts val="844"/>
              </a:lnSpc>
              <a:buNone/>
            </a:pPr>
            <a:r>
              <a:rPr lang="en-US" sz="800" dirty="0">
                <a:solidFill>
                  <a:srgbClr val="6B7494"/>
                </a:solidFill>
                <a:latin typeface="Liberation Sans Narrow" pitchFamily="34" charset="0"/>
                <a:ea typeface="Liberation Sans Narrow" pitchFamily="34" charset="-122"/>
                <a:cs typeface="Liberation Sans Narrow" pitchFamily="34" charset="-120"/>
              </a:rPr>
              <a:t>0s</a:t>
            </a:r>
            <a:endParaRPr lang="en-US" sz="800" dirty="0"/>
          </a:p>
        </p:txBody>
      </p:sp>
      <p:sp>
        <p:nvSpPr>
          <p:cNvPr id="51" name="Text 42"/>
          <p:cNvSpPr/>
          <p:nvPr/>
        </p:nvSpPr>
        <p:spPr>
          <a:xfrm>
            <a:off x="5597798" y="3223171"/>
            <a:ext cx="675866" cy="164592"/>
          </a:xfrm>
          <a:prstGeom prst="rect">
            <a:avLst/>
          </a:prstGeom>
          <a:noFill/>
          <a:ln/>
        </p:spPr>
        <p:txBody>
          <a:bodyPr wrap="square" lIns="0" tIns="0" rIns="0" bIns="0" rtlCol="0" anchor="t"/>
          <a:lstStyle/>
          <a:p>
            <a:pPr marL="0" indent="0" algn="l">
              <a:lnSpc>
                <a:spcPts val="844"/>
              </a:lnSpc>
              <a:buNone/>
            </a:pPr>
            <a:r>
              <a:rPr lang="en-US" sz="800" dirty="0">
                <a:solidFill>
                  <a:srgbClr val="6B7494"/>
                </a:solidFill>
                <a:latin typeface="Liberation Sans Narrow" pitchFamily="34" charset="0"/>
                <a:ea typeface="Liberation Sans Narrow" pitchFamily="34" charset="-122"/>
                <a:cs typeface="Liberation Sans Narrow" pitchFamily="34" charset="-120"/>
              </a:rPr>
              <a:t>1m</a:t>
            </a:r>
            <a:endParaRPr lang="en-US" sz="800" dirty="0"/>
          </a:p>
        </p:txBody>
      </p:sp>
      <p:sp>
        <p:nvSpPr>
          <p:cNvPr id="52" name="Text 43"/>
          <p:cNvSpPr/>
          <p:nvPr/>
        </p:nvSpPr>
        <p:spPr>
          <a:xfrm>
            <a:off x="6287951" y="3223171"/>
            <a:ext cx="711473" cy="164592"/>
          </a:xfrm>
          <a:prstGeom prst="rect">
            <a:avLst/>
          </a:prstGeom>
          <a:noFill/>
          <a:ln/>
        </p:spPr>
        <p:txBody>
          <a:bodyPr wrap="square" lIns="0" tIns="0" rIns="0" bIns="0" rtlCol="0" anchor="t"/>
          <a:lstStyle/>
          <a:p>
            <a:pPr marL="0" indent="0" algn="l">
              <a:lnSpc>
                <a:spcPts val="844"/>
              </a:lnSpc>
              <a:buNone/>
            </a:pPr>
            <a:r>
              <a:rPr lang="en-US" sz="800" dirty="0">
                <a:solidFill>
                  <a:srgbClr val="6B7494"/>
                </a:solidFill>
                <a:latin typeface="Liberation Sans Narrow" pitchFamily="34" charset="0"/>
                <a:ea typeface="Liberation Sans Narrow" pitchFamily="34" charset="-122"/>
                <a:cs typeface="Liberation Sans Narrow" pitchFamily="34" charset="-120"/>
              </a:rPr>
              <a:t>10m</a:t>
            </a:r>
            <a:endParaRPr lang="en-US" sz="800" dirty="0"/>
          </a:p>
        </p:txBody>
      </p:sp>
      <p:sp>
        <p:nvSpPr>
          <p:cNvPr id="53" name="Text 44"/>
          <p:cNvSpPr/>
          <p:nvPr/>
        </p:nvSpPr>
        <p:spPr>
          <a:xfrm>
            <a:off x="7013711" y="3223171"/>
            <a:ext cx="675866" cy="164592"/>
          </a:xfrm>
          <a:prstGeom prst="rect">
            <a:avLst/>
          </a:prstGeom>
          <a:noFill/>
          <a:ln/>
        </p:spPr>
        <p:txBody>
          <a:bodyPr wrap="square" lIns="0" tIns="0" rIns="0" bIns="0" rtlCol="0" anchor="t"/>
          <a:lstStyle/>
          <a:p>
            <a:pPr marL="0" indent="0" algn="l">
              <a:lnSpc>
                <a:spcPts val="844"/>
              </a:lnSpc>
              <a:buNone/>
            </a:pPr>
            <a:r>
              <a:rPr lang="en-US" sz="800" dirty="0">
                <a:solidFill>
                  <a:srgbClr val="6B7494"/>
                </a:solidFill>
                <a:latin typeface="Liberation Sans Narrow" pitchFamily="34" charset="0"/>
                <a:ea typeface="Liberation Sans Narrow" pitchFamily="34" charset="-122"/>
                <a:cs typeface="Liberation Sans Narrow" pitchFamily="34" charset="-120"/>
              </a:rPr>
              <a:t>1h</a:t>
            </a:r>
            <a:endParaRPr lang="en-US" sz="800" dirty="0"/>
          </a:p>
        </p:txBody>
      </p:sp>
      <p:sp>
        <p:nvSpPr>
          <p:cNvPr id="54" name="Text 45"/>
          <p:cNvSpPr/>
          <p:nvPr/>
        </p:nvSpPr>
        <p:spPr>
          <a:xfrm>
            <a:off x="7703865" y="3223171"/>
            <a:ext cx="675754" cy="164592"/>
          </a:xfrm>
          <a:prstGeom prst="rect">
            <a:avLst/>
          </a:prstGeom>
          <a:noFill/>
          <a:ln/>
        </p:spPr>
        <p:txBody>
          <a:bodyPr wrap="square" lIns="0" tIns="0" rIns="0" bIns="0" rtlCol="0" anchor="t"/>
          <a:lstStyle/>
          <a:p>
            <a:pPr marL="0" indent="0" algn="l">
              <a:lnSpc>
                <a:spcPts val="844"/>
              </a:lnSpc>
              <a:buNone/>
            </a:pPr>
            <a:r>
              <a:rPr lang="en-US" sz="800" dirty="0">
                <a:solidFill>
                  <a:srgbClr val="6B7494"/>
                </a:solidFill>
                <a:latin typeface="Liberation Sans Narrow" pitchFamily="34" charset="0"/>
                <a:ea typeface="Liberation Sans Narrow" pitchFamily="34" charset="-122"/>
                <a:cs typeface="Liberation Sans Narrow" pitchFamily="34" charset="-120"/>
              </a:rPr>
              <a:t>4h</a:t>
            </a:r>
            <a:endParaRPr lang="en-US" sz="800" dirty="0"/>
          </a:p>
        </p:txBody>
      </p:sp>
      <p:sp>
        <p:nvSpPr>
          <p:cNvPr id="55" name="Text 46"/>
          <p:cNvSpPr/>
          <p:nvPr/>
        </p:nvSpPr>
        <p:spPr>
          <a:xfrm>
            <a:off x="8379325" y="3223171"/>
            <a:ext cx="129174" cy="164592"/>
          </a:xfrm>
          <a:prstGeom prst="rect">
            <a:avLst/>
          </a:prstGeom>
          <a:noFill/>
          <a:ln/>
        </p:spPr>
        <p:txBody>
          <a:bodyPr wrap="square" lIns="0" tIns="0" rIns="0" bIns="0" rtlCol="0" anchor="t"/>
          <a:lstStyle/>
          <a:p>
            <a:pPr marL="0" indent="0" algn="l">
              <a:lnSpc>
                <a:spcPts val="844"/>
              </a:lnSpc>
              <a:buNone/>
            </a:pPr>
            <a:r>
              <a:rPr lang="en-US" sz="600" dirty="0">
                <a:solidFill>
                  <a:srgbClr val="6B7494"/>
                </a:solidFill>
                <a:latin typeface="Liberation Sans Narrow" pitchFamily="34" charset="0"/>
                <a:ea typeface="Liberation Sans Narrow" pitchFamily="34" charset="-122"/>
                <a:cs typeface="Liberation Sans Narrow" pitchFamily="34" charset="-120"/>
              </a:rPr>
              <a:t>1d</a:t>
            </a:r>
            <a:endParaRPr lang="en-US" sz="600" dirty="0"/>
          </a:p>
        </p:txBody>
      </p:sp>
      <p:pic>
        <p:nvPicPr>
          <p:cNvPr id="56" name="Image 7" descr="preencoded.png"/>
          <p:cNvPicPr>
            <a:picLocks noChangeAspect="1"/>
          </p:cNvPicPr>
          <p:nvPr/>
        </p:nvPicPr>
        <p:blipFill>
          <a:blip r:embed="rId6"/>
          <a:stretch>
            <a:fillRect/>
          </a:stretch>
        </p:blipFill>
        <p:spPr>
          <a:xfrm>
            <a:off x="4879181" y="3444627"/>
            <a:ext cx="3614738" cy="7144"/>
          </a:xfrm>
          <a:prstGeom prst="rect">
            <a:avLst/>
          </a:prstGeom>
        </p:spPr>
      </p:pic>
      <p:sp>
        <p:nvSpPr>
          <p:cNvPr id="57" name="Text 47"/>
          <p:cNvSpPr/>
          <p:nvPr/>
        </p:nvSpPr>
        <p:spPr>
          <a:xfrm>
            <a:off x="4879181" y="4089127"/>
            <a:ext cx="157163" cy="157163"/>
          </a:xfrm>
          <a:prstGeom prst="rect">
            <a:avLst/>
          </a:prstGeom>
          <a:noFill/>
          <a:ln/>
        </p:spPr>
        <p:txBody>
          <a:bodyPr wrap="none" lIns="0" tIns="0" rIns="0" bIns="0" rtlCol="0" anchor="ctr"/>
          <a:lstStyle/>
          <a:p>
            <a:pPr marL="0" indent="0" algn="ctr">
              <a:buNone/>
            </a:pPr>
            <a:r>
              <a:rPr lang="en-US" sz="1547" dirty="0">
                <a:solidFill>
                  <a:srgbClr val="7C4DFF"/>
                </a:solidFill>
                <a:latin typeface="Segoe UI Symbol" pitchFamily="34" charset="0"/>
                <a:ea typeface="Segoe UI Symbol" pitchFamily="34" charset="-122"/>
                <a:cs typeface="Segoe UI Symbol" pitchFamily="34" charset="-120"/>
              </a:rPr>
              <a:t>↘</a:t>
            </a:r>
            <a:endParaRPr lang="en-US" sz="1547" dirty="0"/>
          </a:p>
        </p:txBody>
      </p:sp>
      <p:sp>
        <p:nvSpPr>
          <p:cNvPr id="58" name="Text 48"/>
          <p:cNvSpPr/>
          <p:nvPr/>
        </p:nvSpPr>
        <p:spPr>
          <a:xfrm>
            <a:off x="5122069" y="4089127"/>
            <a:ext cx="3481578" cy="147590"/>
          </a:xfrm>
          <a:prstGeom prst="rect">
            <a:avLst/>
          </a:prstGeom>
          <a:noFill/>
          <a:ln/>
        </p:spPr>
        <p:txBody>
          <a:bodyPr wrap="square" lIns="0" tIns="0" rIns="0" bIns="0" rtlCol="0" anchor="t">
            <a:normAutofit fontScale="25000" lnSpcReduction="20000"/>
          </a:bodyPr>
          <a:lstStyle/>
          <a:p>
            <a:pPr marL="0" indent="0" algn="l">
              <a:lnSpc>
                <a:spcPts val="1266"/>
              </a:lnSpc>
              <a:buNone/>
            </a:pPr>
            <a:r>
              <a:rPr lang="en-US" sz="844" dirty="0">
                <a:solidFill>
                  <a:srgbClr val="E6F1FF"/>
                </a:solidFill>
                <a:latin typeface="Carlito" pitchFamily="34" charset="0"/>
                <a:ea typeface="Carlito" pitchFamily="34" charset="-122"/>
                <a:cs typeface="Carlito" pitchFamily="34" charset="-120"/>
              </a:rPr>
              <a:t>Orders-of-magnitude reduction.</a:t>
            </a:r>
            <a:endParaRPr lang="en-US" sz="844" dirty="0"/>
          </a:p>
        </p:txBody>
      </p:sp>
      <p:sp>
        <p:nvSpPr>
          <p:cNvPr id="59" name="Text 49"/>
          <p:cNvSpPr/>
          <p:nvPr/>
        </p:nvSpPr>
        <p:spPr>
          <a:xfrm>
            <a:off x="5122069" y="4264149"/>
            <a:ext cx="3371850" cy="248469"/>
          </a:xfrm>
          <a:prstGeom prst="rect">
            <a:avLst/>
          </a:prstGeom>
          <a:noFill/>
          <a:ln/>
        </p:spPr>
        <p:txBody>
          <a:bodyPr wrap="square" lIns="0" tIns="0" rIns="0" bIns="0" rtlCol="0" anchor="t"/>
          <a:lstStyle/>
          <a:p>
            <a:pPr marL="0" indent="0" algn="l">
              <a:lnSpc>
                <a:spcPts val="979"/>
              </a:lnSpc>
              <a:buNone/>
            </a:pPr>
            <a:r>
              <a:rPr lang="en-US" sz="800" dirty="0">
                <a:solidFill>
                  <a:srgbClr val="A9B4CC"/>
                </a:solidFill>
                <a:latin typeface="Carlito" pitchFamily="34" charset="0"/>
                <a:ea typeface="Carlito" pitchFamily="34" charset="-122"/>
                <a:cs typeface="Carlito" pitchFamily="34" charset="-120"/>
              </a:rPr>
              <a:t>Not a percentage improvement — a categorical shift from </a:t>
            </a:r>
            <a:r>
              <a:rPr lang="en-US" sz="800" dirty="0">
                <a:solidFill>
                  <a:srgbClr val="FF4D6D"/>
                </a:solidFill>
                <a:latin typeface="Courier New" pitchFamily="34" charset="0"/>
                <a:ea typeface="Courier New" pitchFamily="34" charset="-122"/>
                <a:cs typeface="Courier New" pitchFamily="34" charset="-120"/>
              </a:rPr>
              <a:t>hours/days</a:t>
            </a:r>
            <a:r>
              <a:rPr lang="en-US" sz="800" dirty="0">
                <a:solidFill>
                  <a:srgbClr val="A9B4CC"/>
                </a:solidFill>
                <a:latin typeface="Carlito" pitchFamily="34" charset="0"/>
                <a:ea typeface="Carlito" pitchFamily="34" charset="-122"/>
                <a:cs typeface="Carlito" pitchFamily="34" charset="-120"/>
              </a:rPr>
              <a:t> to </a:t>
            </a:r>
            <a:r>
              <a:rPr lang="en-US" sz="800" dirty="0">
                <a:solidFill>
                  <a:srgbClr val="00E5FF"/>
                </a:solidFill>
                <a:latin typeface="Courier New" pitchFamily="34" charset="0"/>
                <a:ea typeface="Courier New" pitchFamily="34" charset="-122"/>
                <a:cs typeface="Courier New" pitchFamily="34" charset="-120"/>
              </a:rPr>
              <a:t>single-digit seconds</a:t>
            </a:r>
            <a:r>
              <a:rPr lang="en-US" sz="800" dirty="0">
                <a:solidFill>
                  <a:srgbClr val="A9B4CC"/>
                </a:solidFill>
                <a:latin typeface="Carlito" pitchFamily="34" charset="0"/>
                <a:ea typeface="Carlito" pitchFamily="34" charset="-122"/>
                <a:cs typeface="Carlito" pitchFamily="34" charset="-120"/>
              </a:rPr>
              <a:t>.</a:t>
            </a:r>
            <a:endParaRPr lang="en-US" sz="800" dirty="0"/>
          </a:p>
        </p:txBody>
      </p:sp>
      <p:sp>
        <p:nvSpPr>
          <p:cNvPr id="60" name="Text 50"/>
          <p:cNvSpPr/>
          <p:nvPr/>
        </p:nvSpPr>
        <p:spPr>
          <a:xfrm>
            <a:off x="457200" y="4882753"/>
            <a:ext cx="1630136"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6B7494"/>
                </a:solidFill>
                <a:latin typeface="Liberation Sans Narrow" pitchFamily="34" charset="0"/>
                <a:ea typeface="Liberation Sans Narrow" pitchFamily="34" charset="-122"/>
                <a:cs typeface="Liberation Sans Narrow" pitchFamily="34" charset="-120"/>
              </a:rPr>
              <a:t>NETWORK OPERATIONS · 2026</a:t>
            </a:r>
            <a:endParaRPr lang="en-US" sz="800" dirty="0"/>
          </a:p>
        </p:txBody>
      </p:sp>
      <p:sp>
        <p:nvSpPr>
          <p:cNvPr id="61" name="Text 51"/>
          <p:cNvSpPr/>
          <p:nvPr/>
        </p:nvSpPr>
        <p:spPr>
          <a:xfrm>
            <a:off x="1886955" y="4882753"/>
            <a:ext cx="91440" cy="164592"/>
          </a:xfrm>
          <a:prstGeom prst="rect">
            <a:avLst/>
          </a:prstGeom>
          <a:noFill/>
          <a:ln/>
        </p:spPr>
        <p:txBody>
          <a:bodyPr wrap="square" lIns="0" tIns="0" rIns="0" bIns="0" rtlCol="0" anchor="t"/>
          <a:lstStyle/>
          <a:p>
            <a:pPr marL="0" indent="0" algn="l">
              <a:lnSpc>
                <a:spcPts val="928"/>
              </a:lnSpc>
              <a:buNone/>
            </a:pPr>
            <a:r>
              <a:rPr lang="en-US" sz="800" kern="0" spc="111" dirty="0">
                <a:solidFill>
                  <a:srgbClr val="6B7494"/>
                </a:solidFill>
                <a:latin typeface="Courier New" pitchFamily="34" charset="0"/>
                <a:ea typeface="Courier New" pitchFamily="34" charset="-122"/>
                <a:cs typeface="Courier New" pitchFamily="34" charset="-120"/>
              </a:rPr>
              <a:t>·</a:t>
            </a:r>
            <a:endParaRPr lang="en-US" sz="800" dirty="0"/>
          </a:p>
        </p:txBody>
      </p:sp>
      <p:sp>
        <p:nvSpPr>
          <p:cNvPr id="63" name="Text 53"/>
          <p:cNvSpPr/>
          <p:nvPr/>
        </p:nvSpPr>
        <p:spPr>
          <a:xfrm>
            <a:off x="7289304" y="4913114"/>
            <a:ext cx="57150" cy="57150"/>
          </a:xfrm>
          <a:prstGeom prst="ellipse">
            <a:avLst/>
          </a:prstGeom>
          <a:solidFill>
            <a:srgbClr val="FF4D6D"/>
          </a:solidFill>
          <a:ln/>
          <a:effectLst>
            <a:outerShdw blurRad="114300" dist="50800" dir="16200000" algn="bl" rotWithShape="0">
              <a:srgbClr val="FF4D6D">
                <a:alpha val="50000"/>
              </a:srgbClr>
            </a:outerShdw>
          </a:effectLst>
        </p:spPr>
        <p:txBody>
          <a:bodyPr wrap="square" rtlCol="0" anchor="ctr"/>
          <a:lstStyle/>
          <a:p>
            <a:pPr marL="0" indent="0">
              <a:buNone/>
            </a:pPr>
            <a:endParaRPr lang="en-US" dirty="0"/>
          </a:p>
        </p:txBody>
      </p:sp>
      <p:sp>
        <p:nvSpPr>
          <p:cNvPr id="64" name="Text 54"/>
          <p:cNvSpPr/>
          <p:nvPr/>
        </p:nvSpPr>
        <p:spPr>
          <a:xfrm>
            <a:off x="7403604" y="4913114"/>
            <a:ext cx="57150" cy="57150"/>
          </a:xfrm>
          <a:prstGeom prst="ellipse">
            <a:avLst/>
          </a:prstGeom>
          <a:solidFill>
            <a:srgbClr val="FFB347"/>
          </a:solidFill>
          <a:ln/>
          <a:effectLst>
            <a:outerShdw blurRad="114300" dist="50800" dir="16200000" algn="bl" rotWithShape="0">
              <a:srgbClr val="FFB347">
                <a:alpha val="50000"/>
              </a:srgbClr>
            </a:outerShdw>
          </a:effectLst>
        </p:spPr>
        <p:txBody>
          <a:bodyPr wrap="square" rtlCol="0" anchor="ctr"/>
          <a:lstStyle/>
          <a:p>
            <a:pPr marL="0" indent="0">
              <a:buNone/>
            </a:pPr>
            <a:endParaRPr lang="en-US" dirty="0"/>
          </a:p>
        </p:txBody>
      </p:sp>
      <p:sp>
        <p:nvSpPr>
          <p:cNvPr id="65" name="Text 55"/>
          <p:cNvSpPr/>
          <p:nvPr/>
        </p:nvSpPr>
        <p:spPr>
          <a:xfrm>
            <a:off x="7517904" y="4913114"/>
            <a:ext cx="57150" cy="57150"/>
          </a:xfrm>
          <a:prstGeom prst="ellipse">
            <a:avLst/>
          </a:prstGeom>
          <a:solidFill>
            <a:srgbClr val="10E0A0"/>
          </a:solidFill>
          <a:ln/>
          <a:effectLst>
            <a:outerShdw blurRad="114300" dist="50800" dir="16200000" algn="bl" rotWithShape="0">
              <a:srgbClr val="10E0A0">
                <a:alpha val="50000"/>
              </a:srgbClr>
            </a:outerShdw>
          </a:effectLst>
        </p:spPr>
        <p:txBody>
          <a:bodyPr wrap="square" rtlCol="0" anchor="ctr"/>
          <a:lstStyle/>
          <a:p>
            <a:pPr marL="0" indent="0">
              <a:buNone/>
            </a:pPr>
            <a:endParaRPr lang="en-US" dirty="0"/>
          </a:p>
        </p:txBody>
      </p:sp>
      <p:sp>
        <p:nvSpPr>
          <p:cNvPr id="66" name="Text 56"/>
          <p:cNvSpPr/>
          <p:nvPr/>
        </p:nvSpPr>
        <p:spPr>
          <a:xfrm>
            <a:off x="7632204" y="4882753"/>
            <a:ext cx="1382806"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A9B4CC"/>
                </a:solidFill>
                <a:latin typeface="Courier New" pitchFamily="34" charset="0"/>
                <a:ea typeface="Courier New" pitchFamily="34" charset="-122"/>
                <a:cs typeface="Courier New" pitchFamily="34" charset="-120"/>
              </a:rPr>
              <a:t>RED → GREEN HEALING</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7429500" y="-428625"/>
            <a:ext cx="2143125" cy="2143125"/>
          </a:xfrm>
          <a:prstGeom prst="ellipse">
            <a:avLst/>
          </a:prstGeom>
          <a:solidFill>
            <a:srgbClr val="00E5FF">
              <a:alpha val="10000"/>
            </a:srgbClr>
          </a:solidFill>
          <a:ln/>
        </p:spPr>
        <p:txBody>
          <a:bodyPr wrap="square" rtlCol="0" anchor="ctr"/>
          <a:lstStyle/>
          <a:p>
            <a:pPr marL="0" indent="0">
              <a:buNone/>
            </a:pPr>
            <a:endParaRPr lang="en-US" dirty="0"/>
          </a:p>
        </p:txBody>
      </p:sp>
      <p:sp>
        <p:nvSpPr>
          <p:cNvPr id="3" name="Text 1"/>
          <p:cNvSpPr/>
          <p:nvPr/>
        </p:nvSpPr>
        <p:spPr>
          <a:xfrm>
            <a:off x="-285750" y="3714750"/>
            <a:ext cx="2000250" cy="2000250"/>
          </a:xfrm>
          <a:prstGeom prst="ellipse">
            <a:avLst/>
          </a:prstGeom>
          <a:solidFill>
            <a:srgbClr val="7C4DFF">
              <a:alpha val="10000"/>
            </a:srgbClr>
          </a:solidFill>
          <a:ln/>
        </p:spPr>
        <p:txBody>
          <a:bodyPr wrap="square" rtlCol="0" anchor="ctr"/>
          <a:lstStyle/>
          <a:p>
            <a:pPr marL="0" indent="0">
              <a:buNone/>
            </a:pPr>
            <a:endParaRPr lang="en-US" dirty="0"/>
          </a:p>
        </p:txBody>
      </p:sp>
      <p:sp>
        <p:nvSpPr>
          <p:cNvPr id="4" name="Text 2"/>
          <p:cNvSpPr/>
          <p:nvPr/>
        </p:nvSpPr>
        <p:spPr>
          <a:xfrm>
            <a:off x="434340" y="388691"/>
            <a:ext cx="1500813" cy="212027"/>
          </a:xfrm>
          <a:prstGeom prst="roundRect">
            <a:avLst>
              <a:gd name="adj" fmla="val 4487860"/>
            </a:avLst>
          </a:prstGeom>
          <a:solidFill>
            <a:srgbClr val="00E5FF">
              <a:alpha val="6000"/>
            </a:srgbClr>
          </a:solidFill>
          <a:ln w="7144">
            <a:solidFill>
              <a:srgbClr val="00E5FF"/>
            </a:solidFill>
            <a:prstDash val="solid"/>
          </a:ln>
        </p:spPr>
        <p:txBody>
          <a:bodyPr wrap="square" rtlCol="0" anchor="ctr"/>
          <a:lstStyle/>
          <a:p>
            <a:pPr marL="0" indent="0">
              <a:buNone/>
            </a:pPr>
            <a:endParaRPr lang="en-US" dirty="0"/>
          </a:p>
        </p:txBody>
      </p:sp>
      <p:sp>
        <p:nvSpPr>
          <p:cNvPr id="5" name="Text 3"/>
          <p:cNvSpPr/>
          <p:nvPr/>
        </p:nvSpPr>
        <p:spPr>
          <a:xfrm>
            <a:off x="550069" y="466130"/>
            <a:ext cx="57150" cy="57150"/>
          </a:xfrm>
          <a:prstGeom prst="roundRect">
            <a:avLst>
              <a:gd name="adj" fmla="val 66667"/>
            </a:avLst>
          </a:prstGeom>
          <a:solidFill>
            <a:srgbClr val="00E5FF"/>
          </a:solidFill>
          <a:ln/>
        </p:spPr>
        <p:txBody>
          <a:bodyPr wrap="square" rtlCol="0" anchor="ctr"/>
          <a:lstStyle/>
          <a:p>
            <a:pPr marL="0" indent="0">
              <a:buNone/>
            </a:pPr>
            <a:endParaRPr lang="en-US" dirty="0"/>
          </a:p>
        </p:txBody>
      </p:sp>
      <p:sp>
        <p:nvSpPr>
          <p:cNvPr id="6" name="Text 4"/>
          <p:cNvSpPr/>
          <p:nvPr/>
        </p:nvSpPr>
        <p:spPr>
          <a:xfrm>
            <a:off x="457200" y="400050"/>
            <a:ext cx="1455093" cy="189309"/>
          </a:xfrm>
          <a:prstGeom prst="rect">
            <a:avLst/>
          </a:prstGeom>
          <a:noFill/>
          <a:ln/>
        </p:spPr>
        <p:txBody>
          <a:bodyPr wrap="none" lIns="0" tIns="0" rIns="0" bIns="0" rtlCol="0" anchor="ctr"/>
          <a:lstStyle/>
          <a:p>
            <a:pPr marL="0" indent="0" algn="ctr">
              <a:lnSpc>
                <a:spcPts val="928"/>
              </a:lnSpc>
              <a:buNone/>
            </a:pPr>
            <a:r>
              <a:rPr lang="en-US" sz="800" kern="0" spc="74" dirty="0">
                <a:solidFill>
                  <a:srgbClr val="00E5FF"/>
                </a:solidFill>
                <a:latin typeface="Courier New" pitchFamily="34" charset="0"/>
                <a:ea typeface="Courier New" pitchFamily="34" charset="-122"/>
                <a:cs typeface="Courier New" pitchFamily="34" charset="-120"/>
              </a:rPr>
              <a:t>FEASIBILITY &amp; TECH STACK</a:t>
            </a:r>
            <a:endParaRPr lang="en-US" sz="800" dirty="0"/>
          </a:p>
        </p:txBody>
      </p:sp>
      <p:sp>
        <p:nvSpPr>
          <p:cNvPr id="7" name="Text 5"/>
          <p:cNvSpPr/>
          <p:nvPr/>
        </p:nvSpPr>
        <p:spPr>
          <a:xfrm>
            <a:off x="457200" y="675084"/>
            <a:ext cx="5613157" cy="356348"/>
          </a:xfrm>
          <a:prstGeom prst="rect">
            <a:avLst/>
          </a:prstGeom>
          <a:noFill/>
          <a:ln/>
        </p:spPr>
        <p:txBody>
          <a:bodyPr wrap="square" lIns="0" tIns="0" rIns="0" bIns="0" rtlCol="0" anchor="t"/>
          <a:lstStyle/>
          <a:p>
            <a:pPr marL="0" indent="0" algn="l">
              <a:lnSpc>
                <a:spcPts val="2599"/>
              </a:lnSpc>
              <a:buNone/>
            </a:pPr>
            <a:r>
              <a:rPr lang="en-US" sz="2475" b="1" kern="0" spc="-25" dirty="0">
                <a:solidFill>
                  <a:srgbClr val="E6F1FF"/>
                </a:solidFill>
                <a:latin typeface="Carlito" pitchFamily="34" charset="0"/>
                <a:ea typeface="Carlito" pitchFamily="34" charset="-122"/>
                <a:cs typeface="Carlito" pitchFamily="34" charset="-120"/>
              </a:rPr>
              <a:t>Built on Proven, Modern Infrastructure</a:t>
            </a:r>
            <a:endParaRPr lang="en-US" sz="2475" dirty="0"/>
          </a:p>
        </p:txBody>
      </p:sp>
      <p:sp>
        <p:nvSpPr>
          <p:cNvPr id="8" name="Text 6"/>
          <p:cNvSpPr/>
          <p:nvPr/>
        </p:nvSpPr>
        <p:spPr>
          <a:xfrm>
            <a:off x="6891845" y="740718"/>
            <a:ext cx="1794955" cy="119015"/>
          </a:xfrm>
          <a:prstGeom prst="rect">
            <a:avLst/>
          </a:prstGeom>
          <a:noFill/>
          <a:ln/>
        </p:spPr>
        <p:txBody>
          <a:bodyPr wrap="none" lIns="0" tIns="0" rIns="0" bIns="0" rtlCol="0" anchor="t">
            <a:normAutofit/>
          </a:bodyPr>
          <a:lstStyle/>
          <a:p>
            <a:pPr marL="0" indent="0" algn="r">
              <a:lnSpc>
                <a:spcPts val="928"/>
              </a:lnSpc>
              <a:buNone/>
            </a:pPr>
            <a:r>
              <a:rPr lang="en-US" sz="800" kern="0" spc="111" dirty="0">
                <a:solidFill>
                  <a:srgbClr val="6B7494"/>
                </a:solidFill>
                <a:latin typeface="Liberation Sans Narrow" pitchFamily="34" charset="0"/>
                <a:ea typeface="Liberation Sans Narrow" pitchFamily="34" charset="-122"/>
                <a:cs typeface="Liberation Sans Narrow" pitchFamily="34" charset="-120"/>
              </a:rPr>
              <a:t>SLIDE · 09</a:t>
            </a:r>
            <a:endParaRPr lang="en-US" sz="800" dirty="0"/>
          </a:p>
        </p:txBody>
      </p:sp>
      <p:sp>
        <p:nvSpPr>
          <p:cNvPr id="9" name="Text 7"/>
          <p:cNvSpPr/>
          <p:nvPr/>
        </p:nvSpPr>
        <p:spPr>
          <a:xfrm>
            <a:off x="6990407" y="887164"/>
            <a:ext cx="1696393" cy="164592"/>
          </a:xfrm>
          <a:prstGeom prst="rect">
            <a:avLst/>
          </a:prstGeom>
          <a:noFill/>
          <a:ln/>
        </p:spPr>
        <p:txBody>
          <a:bodyPr wrap="none" lIns="0" tIns="0" rIns="0" bIns="0" rtlCol="0" anchor="t"/>
          <a:lstStyle/>
          <a:p>
            <a:pPr marL="0" indent="0" algn="r">
              <a:lnSpc>
                <a:spcPts val="928"/>
              </a:lnSpc>
              <a:buNone/>
            </a:pPr>
            <a:r>
              <a:rPr lang="en-US" sz="800" kern="0" spc="111" dirty="0">
                <a:solidFill>
                  <a:srgbClr val="A9B4CC"/>
                </a:solidFill>
                <a:latin typeface="Liberation Sans Narrow" pitchFamily="34" charset="0"/>
                <a:ea typeface="Liberation Sans Narrow" pitchFamily="34" charset="-122"/>
                <a:cs typeface="Liberation Sans Narrow" pitchFamily="34" charset="-120"/>
              </a:rPr>
              <a:t>5 LAYERS · 0 RESEARCH BETS</a:t>
            </a:r>
            <a:endParaRPr lang="en-US" sz="800" dirty="0"/>
          </a:p>
        </p:txBody>
      </p:sp>
      <p:sp>
        <p:nvSpPr>
          <p:cNvPr id="10" name="Text 8"/>
          <p:cNvSpPr/>
          <p:nvPr/>
        </p:nvSpPr>
        <p:spPr>
          <a:xfrm>
            <a:off x="457200" y="1270747"/>
            <a:ext cx="4907756" cy="550069"/>
          </a:xfrm>
          <a:prstGeom prst="roundRect">
            <a:avLst>
              <a:gd name="adj" fmla="val 24242"/>
            </a:avLst>
          </a:prstGeom>
          <a:solidFill>
            <a:srgbClr val="FFFFFF">
              <a:alpha val="4000"/>
            </a:srgbClr>
          </a:solidFill>
          <a:ln w="7144">
            <a:solidFill>
              <a:srgbClr val="FFFFFF"/>
            </a:solidFill>
            <a:prstDash val="solid"/>
          </a:ln>
        </p:spPr>
        <p:txBody>
          <a:bodyPr wrap="square" rtlCol="0" anchor="ctr"/>
          <a:lstStyle/>
          <a:p>
            <a:pPr marL="0" indent="0">
              <a:buNone/>
            </a:pPr>
            <a:endParaRPr lang="en-US" dirty="0"/>
          </a:p>
        </p:txBody>
      </p:sp>
      <p:sp>
        <p:nvSpPr>
          <p:cNvPr id="11" name="Text 9"/>
          <p:cNvSpPr/>
          <p:nvPr/>
        </p:nvSpPr>
        <p:spPr>
          <a:xfrm>
            <a:off x="613129" y="1396157"/>
            <a:ext cx="142484" cy="164592"/>
          </a:xfrm>
          <a:prstGeom prst="rect">
            <a:avLst/>
          </a:prstGeom>
          <a:noFill/>
          <a:ln/>
        </p:spPr>
        <p:txBody>
          <a:bodyPr wrap="square" lIns="0" tIns="0" rIns="0" bIns="0" rtlCol="0" anchor="t"/>
          <a:lstStyle/>
          <a:p>
            <a:pPr marL="0" indent="0" algn="l">
              <a:lnSpc>
                <a:spcPts val="928"/>
              </a:lnSpc>
              <a:buNone/>
            </a:pPr>
            <a:r>
              <a:rPr lang="en-US" sz="619" dirty="0">
                <a:solidFill>
                  <a:srgbClr val="6B7494"/>
                </a:solidFill>
                <a:latin typeface="Liberation Sans Narrow" pitchFamily="34" charset="0"/>
                <a:ea typeface="Liberation Sans Narrow" pitchFamily="34" charset="-122"/>
                <a:cs typeface="Liberation Sans Narrow" pitchFamily="34" charset="-120"/>
              </a:rPr>
              <a:t>01</a:t>
            </a:r>
            <a:endParaRPr lang="en-US" sz="619" dirty="0"/>
          </a:p>
        </p:txBody>
      </p:sp>
      <p:sp>
        <p:nvSpPr>
          <p:cNvPr id="12" name="Text 10"/>
          <p:cNvSpPr/>
          <p:nvPr/>
        </p:nvSpPr>
        <p:spPr>
          <a:xfrm>
            <a:off x="757238" y="1396157"/>
            <a:ext cx="807244" cy="164592"/>
          </a:xfrm>
          <a:prstGeom prst="rect">
            <a:avLst/>
          </a:prstGeom>
          <a:noFill/>
          <a:ln/>
        </p:spPr>
        <p:txBody>
          <a:bodyPr wrap="none" lIns="0" tIns="0" rIns="0" bIns="0" rtlCol="0" anchor="t"/>
          <a:lstStyle/>
          <a:p>
            <a:pPr marL="0" indent="0" algn="l">
              <a:lnSpc>
                <a:spcPts val="928"/>
              </a:lnSpc>
              <a:buNone/>
            </a:pPr>
            <a:r>
              <a:rPr lang="en-US" sz="800" kern="0" spc="99" dirty="0">
                <a:solidFill>
                  <a:srgbClr val="00E5FF"/>
                </a:solidFill>
                <a:latin typeface="Courier New" pitchFamily="34" charset="0"/>
                <a:ea typeface="Courier New" pitchFamily="34" charset="-122"/>
                <a:cs typeface="Courier New" pitchFamily="34" charset="-120"/>
              </a:rPr>
              <a:t>DATA LAYER</a:t>
            </a:r>
            <a:endParaRPr lang="en-US" sz="800" dirty="0"/>
          </a:p>
        </p:txBody>
      </p:sp>
      <p:sp>
        <p:nvSpPr>
          <p:cNvPr id="13" name="Text 11"/>
          <p:cNvSpPr/>
          <p:nvPr/>
        </p:nvSpPr>
        <p:spPr>
          <a:xfrm>
            <a:off x="1693069" y="1386557"/>
            <a:ext cx="1406576" cy="148036"/>
          </a:xfrm>
          <a:prstGeom prst="rect">
            <a:avLst/>
          </a:prstGeom>
          <a:noFill/>
          <a:ln/>
        </p:spPr>
        <p:txBody>
          <a:bodyPr wrap="none" lIns="0" tIns="0" rIns="0" bIns="0" rtlCol="0" anchor="t"/>
          <a:lstStyle/>
          <a:p>
            <a:pPr marL="0" indent="0" algn="l">
              <a:lnSpc>
                <a:spcPts val="1080"/>
              </a:lnSpc>
              <a:buNone/>
            </a:pPr>
            <a:r>
              <a:rPr lang="en-US" sz="900" b="1" dirty="0">
                <a:solidFill>
                  <a:srgbClr val="E6F1FF"/>
                </a:solidFill>
                <a:latin typeface="Carlito" pitchFamily="34" charset="0"/>
                <a:ea typeface="Carlito" pitchFamily="34" charset="-122"/>
                <a:cs typeface="Carlito" pitchFamily="34" charset="-120"/>
              </a:rPr>
              <a:t>Streaming &amp; Storage</a:t>
            </a:r>
            <a:endParaRPr lang="en-US" sz="900" dirty="0"/>
          </a:p>
        </p:txBody>
      </p:sp>
      <p:sp>
        <p:nvSpPr>
          <p:cNvPr id="17" name="Text 15"/>
          <p:cNvSpPr/>
          <p:nvPr/>
        </p:nvSpPr>
        <p:spPr>
          <a:xfrm>
            <a:off x="3021806" y="1320478"/>
            <a:ext cx="2214563" cy="306065"/>
          </a:xfrm>
          <a:prstGeom prst="rect">
            <a:avLst/>
          </a:prstGeom>
          <a:noFill/>
          <a:ln/>
        </p:spPr>
        <p:txBody>
          <a:bodyPr wrap="square" lIns="0" tIns="0" rIns="0" bIns="0" rtlCol="0" anchor="t"/>
          <a:lstStyle/>
          <a:p>
            <a:pPr marL="0" indent="0" algn="l">
              <a:lnSpc>
                <a:spcPts val="1060"/>
              </a:lnSpc>
              <a:buNone/>
            </a:pPr>
            <a:endParaRPr lang="en-US" sz="800" dirty="0">
              <a:solidFill>
                <a:schemeClr val="bg1"/>
              </a:solidFill>
            </a:endParaRPr>
          </a:p>
        </p:txBody>
      </p:sp>
      <p:sp>
        <p:nvSpPr>
          <p:cNvPr id="18" name="Text 16"/>
          <p:cNvSpPr/>
          <p:nvPr/>
        </p:nvSpPr>
        <p:spPr>
          <a:xfrm>
            <a:off x="460772" y="1822996"/>
            <a:ext cx="4907756" cy="550069"/>
          </a:xfrm>
          <a:prstGeom prst="roundRect">
            <a:avLst>
              <a:gd name="adj" fmla="val 24242"/>
            </a:avLst>
          </a:prstGeom>
          <a:solidFill>
            <a:srgbClr val="FFFFFF">
              <a:alpha val="4000"/>
            </a:srgbClr>
          </a:solidFill>
          <a:ln w="7144">
            <a:solidFill>
              <a:srgbClr val="FFFFFF"/>
            </a:solidFill>
            <a:prstDash val="solid"/>
          </a:ln>
        </p:spPr>
        <p:txBody>
          <a:bodyPr wrap="square" rtlCol="0" anchor="ctr"/>
          <a:lstStyle/>
          <a:p>
            <a:pPr marL="0" indent="0">
              <a:buNone/>
            </a:pPr>
            <a:endParaRPr lang="en-US" dirty="0"/>
          </a:p>
        </p:txBody>
      </p:sp>
      <p:sp>
        <p:nvSpPr>
          <p:cNvPr id="19" name="Text 17"/>
          <p:cNvSpPr/>
          <p:nvPr/>
        </p:nvSpPr>
        <p:spPr>
          <a:xfrm>
            <a:off x="613129" y="2039094"/>
            <a:ext cx="142484" cy="164592"/>
          </a:xfrm>
          <a:prstGeom prst="rect">
            <a:avLst/>
          </a:prstGeom>
          <a:noFill/>
          <a:ln/>
        </p:spPr>
        <p:txBody>
          <a:bodyPr wrap="square" lIns="0" tIns="0" rIns="0" bIns="0" rtlCol="0" anchor="t"/>
          <a:lstStyle/>
          <a:p>
            <a:pPr marL="0" indent="0" algn="l">
              <a:lnSpc>
                <a:spcPts val="928"/>
              </a:lnSpc>
              <a:buNone/>
            </a:pPr>
            <a:r>
              <a:rPr lang="en-US" sz="619" dirty="0">
                <a:solidFill>
                  <a:srgbClr val="6B7494"/>
                </a:solidFill>
                <a:latin typeface="Liberation Sans Narrow" pitchFamily="34" charset="0"/>
                <a:ea typeface="Liberation Sans Narrow" pitchFamily="34" charset="-122"/>
                <a:cs typeface="Liberation Sans Narrow" pitchFamily="34" charset="-120"/>
              </a:rPr>
              <a:t>02</a:t>
            </a:r>
            <a:endParaRPr lang="en-US" sz="619" dirty="0"/>
          </a:p>
        </p:txBody>
      </p:sp>
      <p:sp>
        <p:nvSpPr>
          <p:cNvPr id="20" name="Text 18"/>
          <p:cNvSpPr/>
          <p:nvPr/>
        </p:nvSpPr>
        <p:spPr>
          <a:xfrm>
            <a:off x="757238" y="2039094"/>
            <a:ext cx="940838" cy="164592"/>
          </a:xfrm>
          <a:prstGeom prst="rect">
            <a:avLst/>
          </a:prstGeom>
          <a:noFill/>
          <a:ln/>
        </p:spPr>
        <p:txBody>
          <a:bodyPr wrap="none" lIns="0" tIns="0" rIns="0" bIns="0" rtlCol="0" anchor="t"/>
          <a:lstStyle/>
          <a:p>
            <a:pPr marL="0" indent="0" algn="l">
              <a:lnSpc>
                <a:spcPts val="928"/>
              </a:lnSpc>
              <a:buNone/>
            </a:pPr>
            <a:r>
              <a:rPr lang="en-US" sz="619" kern="0" spc="99" dirty="0">
                <a:solidFill>
                  <a:srgbClr val="00E5FF"/>
                </a:solidFill>
                <a:latin typeface="Courier New" pitchFamily="34" charset="0"/>
                <a:ea typeface="Courier New" pitchFamily="34" charset="-122"/>
                <a:cs typeface="Courier New" pitchFamily="34" charset="-120"/>
              </a:rPr>
              <a:t>TOPOLOGY LAYER</a:t>
            </a:r>
            <a:endParaRPr lang="en-US" sz="619" dirty="0"/>
          </a:p>
        </p:txBody>
      </p:sp>
      <p:sp>
        <p:nvSpPr>
          <p:cNvPr id="21" name="Text 19"/>
          <p:cNvSpPr/>
          <p:nvPr/>
        </p:nvSpPr>
        <p:spPr>
          <a:xfrm>
            <a:off x="1693069" y="1960959"/>
            <a:ext cx="1320165" cy="296073"/>
          </a:xfrm>
          <a:prstGeom prst="rect">
            <a:avLst/>
          </a:prstGeom>
          <a:noFill/>
          <a:ln/>
        </p:spPr>
        <p:txBody>
          <a:bodyPr wrap="none" lIns="0" tIns="0" rIns="0" bIns="0" rtlCol="0" anchor="t"/>
          <a:lstStyle/>
          <a:p>
            <a:pPr marL="0" indent="0" algn="l">
              <a:lnSpc>
                <a:spcPts val="1080"/>
              </a:lnSpc>
              <a:buNone/>
            </a:pPr>
            <a:r>
              <a:rPr lang="en-US" sz="900" b="1" dirty="0">
                <a:solidFill>
                  <a:srgbClr val="E6F1FF"/>
                </a:solidFill>
                <a:latin typeface="Carlito" pitchFamily="34" charset="0"/>
                <a:ea typeface="Carlito" pitchFamily="34" charset="-122"/>
                <a:cs typeface="Carlito" pitchFamily="34" charset="-120"/>
              </a:rPr>
              <a:t>Graph-Aware Constraints</a:t>
            </a:r>
            <a:endParaRPr lang="en-US" sz="900" dirty="0"/>
          </a:p>
        </p:txBody>
      </p:sp>
      <p:sp>
        <p:nvSpPr>
          <p:cNvPr id="25" name="Text 23"/>
          <p:cNvSpPr/>
          <p:nvPr/>
        </p:nvSpPr>
        <p:spPr>
          <a:xfrm>
            <a:off x="460772" y="2465933"/>
            <a:ext cx="4907756" cy="550069"/>
          </a:xfrm>
          <a:prstGeom prst="roundRect">
            <a:avLst>
              <a:gd name="adj" fmla="val 24242"/>
            </a:avLst>
          </a:prstGeom>
          <a:solidFill>
            <a:srgbClr val="FFFFFF">
              <a:alpha val="4000"/>
            </a:srgbClr>
          </a:solidFill>
          <a:ln w="7144">
            <a:solidFill>
              <a:srgbClr val="FFFFFF"/>
            </a:solidFill>
            <a:prstDash val="solid"/>
          </a:ln>
        </p:spPr>
        <p:txBody>
          <a:bodyPr wrap="square" rtlCol="0" anchor="ctr"/>
          <a:lstStyle/>
          <a:p>
            <a:pPr marL="0" indent="0">
              <a:buNone/>
            </a:pPr>
            <a:endParaRPr lang="en-US" dirty="0"/>
          </a:p>
        </p:txBody>
      </p:sp>
      <p:sp>
        <p:nvSpPr>
          <p:cNvPr id="26" name="Text 24"/>
          <p:cNvSpPr/>
          <p:nvPr/>
        </p:nvSpPr>
        <p:spPr>
          <a:xfrm>
            <a:off x="613129" y="2682032"/>
            <a:ext cx="142484" cy="164592"/>
          </a:xfrm>
          <a:prstGeom prst="rect">
            <a:avLst/>
          </a:prstGeom>
          <a:noFill/>
          <a:ln/>
        </p:spPr>
        <p:txBody>
          <a:bodyPr wrap="square" lIns="0" tIns="0" rIns="0" bIns="0" rtlCol="0" anchor="t"/>
          <a:lstStyle/>
          <a:p>
            <a:pPr marL="0" indent="0" algn="l">
              <a:lnSpc>
                <a:spcPts val="928"/>
              </a:lnSpc>
              <a:buNone/>
            </a:pPr>
            <a:r>
              <a:rPr lang="en-US" sz="619" dirty="0">
                <a:solidFill>
                  <a:srgbClr val="6B7494"/>
                </a:solidFill>
                <a:latin typeface="Liberation Sans Narrow" pitchFamily="34" charset="0"/>
                <a:ea typeface="Liberation Sans Narrow" pitchFamily="34" charset="-122"/>
                <a:cs typeface="Liberation Sans Narrow" pitchFamily="34" charset="-120"/>
              </a:rPr>
              <a:t>03</a:t>
            </a:r>
            <a:endParaRPr lang="en-US" sz="619" dirty="0"/>
          </a:p>
        </p:txBody>
      </p:sp>
      <p:sp>
        <p:nvSpPr>
          <p:cNvPr id="27" name="Text 25"/>
          <p:cNvSpPr/>
          <p:nvPr/>
        </p:nvSpPr>
        <p:spPr>
          <a:xfrm>
            <a:off x="754642" y="2682032"/>
            <a:ext cx="812434" cy="164592"/>
          </a:xfrm>
          <a:prstGeom prst="rect">
            <a:avLst/>
          </a:prstGeom>
          <a:noFill/>
          <a:ln/>
        </p:spPr>
        <p:txBody>
          <a:bodyPr wrap="square" lIns="0" tIns="0" rIns="0" bIns="0" rtlCol="0" anchor="t"/>
          <a:lstStyle/>
          <a:p>
            <a:pPr marL="0" indent="0" algn="l">
              <a:lnSpc>
                <a:spcPts val="928"/>
              </a:lnSpc>
              <a:buNone/>
            </a:pPr>
            <a:r>
              <a:rPr lang="en-US" sz="800" kern="0" spc="99" dirty="0">
                <a:solidFill>
                  <a:srgbClr val="7C4DFF"/>
                </a:solidFill>
                <a:latin typeface="Courier New" pitchFamily="34" charset="0"/>
                <a:ea typeface="Courier New" pitchFamily="34" charset="-122"/>
                <a:cs typeface="Courier New" pitchFamily="34" charset="-120"/>
              </a:rPr>
              <a:t>GENAI LAYER</a:t>
            </a:r>
            <a:endParaRPr lang="en-US" sz="800" dirty="0"/>
          </a:p>
        </p:txBody>
      </p:sp>
      <p:sp>
        <p:nvSpPr>
          <p:cNvPr id="28" name="Text 26"/>
          <p:cNvSpPr/>
          <p:nvPr/>
        </p:nvSpPr>
        <p:spPr>
          <a:xfrm>
            <a:off x="1693069" y="2603897"/>
            <a:ext cx="1200150" cy="296073"/>
          </a:xfrm>
          <a:prstGeom prst="rect">
            <a:avLst/>
          </a:prstGeom>
          <a:noFill/>
          <a:ln/>
        </p:spPr>
        <p:txBody>
          <a:bodyPr wrap="square" lIns="0" tIns="0" rIns="0" bIns="0" rtlCol="0" anchor="t"/>
          <a:lstStyle/>
          <a:p>
            <a:pPr marL="0" indent="0" algn="l">
              <a:lnSpc>
                <a:spcPts val="1080"/>
              </a:lnSpc>
              <a:buNone/>
            </a:pPr>
            <a:r>
              <a:rPr lang="en-US" sz="900" b="1" dirty="0">
                <a:solidFill>
                  <a:srgbClr val="E6F1FF"/>
                </a:solidFill>
                <a:latin typeface="Carlito" pitchFamily="34" charset="0"/>
                <a:ea typeface="Carlito" pitchFamily="34" charset="-122"/>
                <a:cs typeface="Carlito" pitchFamily="34" charset="-120"/>
              </a:rPr>
              <a:t>Counterfactual Generation</a:t>
            </a:r>
            <a:endParaRPr lang="en-US" sz="900" dirty="0"/>
          </a:p>
        </p:txBody>
      </p:sp>
      <p:sp>
        <p:nvSpPr>
          <p:cNvPr id="30" name="Text 28"/>
          <p:cNvSpPr/>
          <p:nvPr/>
        </p:nvSpPr>
        <p:spPr>
          <a:xfrm>
            <a:off x="3021806" y="2606353"/>
            <a:ext cx="2214563" cy="306065"/>
          </a:xfrm>
          <a:prstGeom prst="rect">
            <a:avLst/>
          </a:prstGeom>
          <a:noFill/>
          <a:ln/>
        </p:spPr>
        <p:txBody>
          <a:bodyPr wrap="square" lIns="0" tIns="0" rIns="0" bIns="0" rtlCol="0" anchor="t"/>
          <a:lstStyle/>
          <a:p>
            <a:pPr marL="0" indent="0" algn="l">
              <a:lnSpc>
                <a:spcPts val="1060"/>
              </a:lnSpc>
              <a:buNone/>
            </a:pPr>
            <a:endParaRPr lang="en-US" sz="800" dirty="0"/>
          </a:p>
        </p:txBody>
      </p:sp>
      <p:sp>
        <p:nvSpPr>
          <p:cNvPr id="31" name="Text 29"/>
          <p:cNvSpPr/>
          <p:nvPr/>
        </p:nvSpPr>
        <p:spPr>
          <a:xfrm>
            <a:off x="460772" y="3108871"/>
            <a:ext cx="4907756" cy="550069"/>
          </a:xfrm>
          <a:prstGeom prst="roundRect">
            <a:avLst>
              <a:gd name="adj" fmla="val 24242"/>
            </a:avLst>
          </a:prstGeom>
          <a:solidFill>
            <a:srgbClr val="FFFFFF">
              <a:alpha val="4000"/>
            </a:srgbClr>
          </a:solidFill>
          <a:ln w="7144">
            <a:solidFill>
              <a:srgbClr val="FFFFFF"/>
            </a:solidFill>
            <a:prstDash val="solid"/>
          </a:ln>
        </p:spPr>
        <p:txBody>
          <a:bodyPr wrap="square" rtlCol="0" anchor="ctr"/>
          <a:lstStyle/>
          <a:p>
            <a:pPr marL="0" indent="0">
              <a:buNone/>
            </a:pPr>
            <a:endParaRPr lang="en-US" dirty="0"/>
          </a:p>
        </p:txBody>
      </p:sp>
      <p:sp>
        <p:nvSpPr>
          <p:cNvPr id="32" name="Text 30"/>
          <p:cNvSpPr/>
          <p:nvPr/>
        </p:nvSpPr>
        <p:spPr>
          <a:xfrm>
            <a:off x="613129" y="3324969"/>
            <a:ext cx="142484" cy="164592"/>
          </a:xfrm>
          <a:prstGeom prst="rect">
            <a:avLst/>
          </a:prstGeom>
          <a:noFill/>
          <a:ln/>
        </p:spPr>
        <p:txBody>
          <a:bodyPr wrap="square" lIns="0" tIns="0" rIns="0" bIns="0" rtlCol="0" anchor="t"/>
          <a:lstStyle/>
          <a:p>
            <a:pPr marL="0" indent="0" algn="l">
              <a:lnSpc>
                <a:spcPts val="928"/>
              </a:lnSpc>
              <a:buNone/>
            </a:pPr>
            <a:r>
              <a:rPr lang="en-US" sz="619" dirty="0">
                <a:solidFill>
                  <a:srgbClr val="6B7494"/>
                </a:solidFill>
                <a:latin typeface="Liberation Sans Narrow" pitchFamily="34" charset="0"/>
                <a:ea typeface="Liberation Sans Narrow" pitchFamily="34" charset="-122"/>
                <a:cs typeface="Liberation Sans Narrow" pitchFamily="34" charset="-120"/>
              </a:rPr>
              <a:t>04</a:t>
            </a:r>
            <a:endParaRPr lang="en-US" sz="619" dirty="0"/>
          </a:p>
        </p:txBody>
      </p:sp>
      <p:sp>
        <p:nvSpPr>
          <p:cNvPr id="33" name="Text 31"/>
          <p:cNvSpPr/>
          <p:nvPr/>
        </p:nvSpPr>
        <p:spPr>
          <a:xfrm>
            <a:off x="757238" y="3324969"/>
            <a:ext cx="873728" cy="164592"/>
          </a:xfrm>
          <a:prstGeom prst="rect">
            <a:avLst/>
          </a:prstGeom>
          <a:noFill/>
          <a:ln/>
        </p:spPr>
        <p:txBody>
          <a:bodyPr wrap="none" lIns="0" tIns="0" rIns="0" bIns="0" rtlCol="0" anchor="t"/>
          <a:lstStyle/>
          <a:p>
            <a:pPr marL="0" indent="0" algn="l">
              <a:lnSpc>
                <a:spcPts val="928"/>
              </a:lnSpc>
              <a:buNone/>
            </a:pPr>
            <a:r>
              <a:rPr lang="en-US" sz="619" kern="0" spc="99" dirty="0">
                <a:solidFill>
                  <a:srgbClr val="7C4DFF"/>
                </a:solidFill>
                <a:latin typeface="Courier New" pitchFamily="34" charset="0"/>
                <a:ea typeface="Courier New" pitchFamily="34" charset="-122"/>
                <a:cs typeface="Courier New" pitchFamily="34" charset="-120"/>
              </a:rPr>
              <a:t>AGENTIC LAYER</a:t>
            </a:r>
            <a:endParaRPr lang="en-US" sz="619" dirty="0"/>
          </a:p>
        </p:txBody>
      </p:sp>
      <p:sp>
        <p:nvSpPr>
          <p:cNvPr id="34" name="Text 32"/>
          <p:cNvSpPr/>
          <p:nvPr/>
        </p:nvSpPr>
        <p:spPr>
          <a:xfrm>
            <a:off x="1693069" y="3246834"/>
            <a:ext cx="1200150" cy="296073"/>
          </a:xfrm>
          <a:prstGeom prst="rect">
            <a:avLst/>
          </a:prstGeom>
          <a:noFill/>
          <a:ln/>
        </p:spPr>
        <p:txBody>
          <a:bodyPr wrap="square" lIns="0" tIns="0" rIns="0" bIns="0" rtlCol="0" anchor="t"/>
          <a:lstStyle/>
          <a:p>
            <a:pPr marL="0" indent="0" algn="l">
              <a:lnSpc>
                <a:spcPts val="1080"/>
              </a:lnSpc>
              <a:buNone/>
            </a:pPr>
            <a:r>
              <a:rPr lang="en-US" sz="900" b="1" dirty="0">
                <a:solidFill>
                  <a:srgbClr val="E6F1FF"/>
                </a:solidFill>
                <a:latin typeface="Carlito" pitchFamily="34" charset="0"/>
                <a:ea typeface="Carlito" pitchFamily="34" charset="-122"/>
                <a:cs typeface="Carlito" pitchFamily="34" charset="-120"/>
              </a:rPr>
              <a:t>Multi-Agent Orchestration</a:t>
            </a:r>
            <a:endParaRPr lang="en-US" sz="900" dirty="0"/>
          </a:p>
        </p:txBody>
      </p:sp>
      <p:sp>
        <p:nvSpPr>
          <p:cNvPr id="37" name="Text 35"/>
          <p:cNvSpPr/>
          <p:nvPr/>
        </p:nvSpPr>
        <p:spPr>
          <a:xfrm>
            <a:off x="3021806" y="3249290"/>
            <a:ext cx="2214563" cy="306065"/>
          </a:xfrm>
          <a:prstGeom prst="rect">
            <a:avLst/>
          </a:prstGeom>
          <a:noFill/>
          <a:ln/>
        </p:spPr>
        <p:txBody>
          <a:bodyPr wrap="square" lIns="0" tIns="0" rIns="0" bIns="0" rtlCol="0" anchor="t"/>
          <a:lstStyle/>
          <a:p>
            <a:pPr marL="0" indent="0" algn="l">
              <a:lnSpc>
                <a:spcPts val="1060"/>
              </a:lnSpc>
              <a:buNone/>
            </a:pPr>
            <a:endParaRPr lang="en-US" sz="800" dirty="0"/>
          </a:p>
        </p:txBody>
      </p:sp>
      <p:sp>
        <p:nvSpPr>
          <p:cNvPr id="38" name="Text 36"/>
          <p:cNvSpPr/>
          <p:nvPr/>
        </p:nvSpPr>
        <p:spPr>
          <a:xfrm>
            <a:off x="460772" y="3751808"/>
            <a:ext cx="4907756" cy="550069"/>
          </a:xfrm>
          <a:prstGeom prst="roundRect">
            <a:avLst>
              <a:gd name="adj" fmla="val 24242"/>
            </a:avLst>
          </a:prstGeom>
          <a:solidFill>
            <a:srgbClr val="FFFFFF">
              <a:alpha val="4000"/>
            </a:srgbClr>
          </a:solidFill>
          <a:ln w="7144">
            <a:solidFill>
              <a:srgbClr val="FFFFFF"/>
            </a:solidFill>
            <a:prstDash val="solid"/>
          </a:ln>
        </p:spPr>
        <p:txBody>
          <a:bodyPr wrap="square" rtlCol="0" anchor="ctr"/>
          <a:lstStyle/>
          <a:p>
            <a:pPr marL="0" indent="0">
              <a:buNone/>
            </a:pPr>
            <a:endParaRPr lang="en-US" dirty="0"/>
          </a:p>
        </p:txBody>
      </p:sp>
      <p:sp>
        <p:nvSpPr>
          <p:cNvPr id="39" name="Text 37"/>
          <p:cNvSpPr/>
          <p:nvPr/>
        </p:nvSpPr>
        <p:spPr>
          <a:xfrm>
            <a:off x="613129" y="3967907"/>
            <a:ext cx="142484" cy="164592"/>
          </a:xfrm>
          <a:prstGeom prst="rect">
            <a:avLst/>
          </a:prstGeom>
          <a:noFill/>
          <a:ln/>
        </p:spPr>
        <p:txBody>
          <a:bodyPr wrap="square" lIns="0" tIns="0" rIns="0" bIns="0" rtlCol="0" anchor="t"/>
          <a:lstStyle/>
          <a:p>
            <a:pPr marL="0" indent="0" algn="l">
              <a:lnSpc>
                <a:spcPts val="928"/>
              </a:lnSpc>
              <a:buNone/>
            </a:pPr>
            <a:r>
              <a:rPr lang="en-US" sz="619" dirty="0">
                <a:solidFill>
                  <a:srgbClr val="6B7494"/>
                </a:solidFill>
                <a:latin typeface="Liberation Sans Narrow" pitchFamily="34" charset="0"/>
                <a:ea typeface="Liberation Sans Narrow" pitchFamily="34" charset="-122"/>
                <a:cs typeface="Liberation Sans Narrow" pitchFamily="34" charset="-120"/>
              </a:rPr>
              <a:t>05</a:t>
            </a:r>
            <a:endParaRPr lang="en-US" sz="619" dirty="0"/>
          </a:p>
        </p:txBody>
      </p:sp>
      <p:sp>
        <p:nvSpPr>
          <p:cNvPr id="40" name="Text 38"/>
          <p:cNvSpPr/>
          <p:nvPr/>
        </p:nvSpPr>
        <p:spPr>
          <a:xfrm>
            <a:off x="757238" y="3967907"/>
            <a:ext cx="1008092" cy="164592"/>
          </a:xfrm>
          <a:prstGeom prst="rect">
            <a:avLst/>
          </a:prstGeom>
          <a:noFill/>
          <a:ln/>
        </p:spPr>
        <p:txBody>
          <a:bodyPr wrap="none" lIns="0" tIns="0" rIns="0" bIns="0" rtlCol="0" anchor="t"/>
          <a:lstStyle/>
          <a:p>
            <a:pPr marL="0" indent="0" algn="l">
              <a:lnSpc>
                <a:spcPts val="928"/>
              </a:lnSpc>
              <a:buNone/>
            </a:pPr>
            <a:r>
              <a:rPr lang="en-US" sz="619" kern="0" spc="99" dirty="0">
                <a:solidFill>
                  <a:srgbClr val="10E0A0"/>
                </a:solidFill>
                <a:latin typeface="Courier New" pitchFamily="34" charset="0"/>
                <a:ea typeface="Courier New" pitchFamily="34" charset="-122"/>
                <a:cs typeface="Courier New" pitchFamily="34" charset="-120"/>
              </a:rPr>
              <a:t>EXECUTION LAYER</a:t>
            </a:r>
            <a:endParaRPr lang="en-US" sz="619" dirty="0"/>
          </a:p>
        </p:txBody>
      </p:sp>
      <p:sp>
        <p:nvSpPr>
          <p:cNvPr id="41" name="Text 39"/>
          <p:cNvSpPr/>
          <p:nvPr/>
        </p:nvSpPr>
        <p:spPr>
          <a:xfrm>
            <a:off x="1693069" y="3889772"/>
            <a:ext cx="1406576" cy="296073"/>
          </a:xfrm>
          <a:prstGeom prst="rect">
            <a:avLst/>
          </a:prstGeom>
          <a:noFill/>
          <a:ln/>
        </p:spPr>
        <p:txBody>
          <a:bodyPr wrap="none" lIns="0" tIns="0" rIns="0" bIns="0" rtlCol="0" anchor="t"/>
          <a:lstStyle/>
          <a:p>
            <a:pPr marL="0" indent="0" algn="l">
              <a:lnSpc>
                <a:spcPts val="1080"/>
              </a:lnSpc>
              <a:buNone/>
            </a:pPr>
            <a:r>
              <a:rPr lang="en-US" sz="900" b="1" dirty="0">
                <a:solidFill>
                  <a:srgbClr val="E6F1FF"/>
                </a:solidFill>
                <a:latin typeface="Carlito" pitchFamily="34" charset="0"/>
                <a:ea typeface="Carlito" pitchFamily="34" charset="-122"/>
                <a:cs typeface="Carlito" pitchFamily="34" charset="-120"/>
              </a:rPr>
              <a:t>Autonomous Deployment</a:t>
            </a:r>
            <a:endParaRPr lang="en-US" sz="900" dirty="0"/>
          </a:p>
        </p:txBody>
      </p:sp>
      <p:sp>
        <p:nvSpPr>
          <p:cNvPr id="46" name="Text 44"/>
          <p:cNvSpPr/>
          <p:nvPr/>
        </p:nvSpPr>
        <p:spPr>
          <a:xfrm>
            <a:off x="3021806" y="3892228"/>
            <a:ext cx="2214563" cy="306065"/>
          </a:xfrm>
          <a:prstGeom prst="rect">
            <a:avLst/>
          </a:prstGeom>
          <a:noFill/>
          <a:ln/>
        </p:spPr>
        <p:txBody>
          <a:bodyPr wrap="square" lIns="0" tIns="0" rIns="0" bIns="0" rtlCol="0" anchor="t"/>
          <a:lstStyle/>
          <a:p>
            <a:pPr marL="0" indent="0" algn="l">
              <a:lnSpc>
                <a:spcPts val="1060"/>
              </a:lnSpc>
              <a:buNone/>
            </a:pPr>
            <a:endParaRPr lang="en-US" sz="800" dirty="0"/>
          </a:p>
        </p:txBody>
      </p:sp>
      <p:sp>
        <p:nvSpPr>
          <p:cNvPr id="47" name="Text 45"/>
          <p:cNvSpPr/>
          <p:nvPr/>
        </p:nvSpPr>
        <p:spPr>
          <a:xfrm>
            <a:off x="5604272" y="1180058"/>
            <a:ext cx="3078956" cy="1721644"/>
          </a:xfrm>
          <a:prstGeom prst="roundRect">
            <a:avLst>
              <a:gd name="adj" fmla="val 7746"/>
            </a:avLst>
          </a:prstGeom>
          <a:noFill/>
          <a:ln w="7144">
            <a:solidFill>
              <a:srgbClr val="FFFFFF"/>
            </a:solidFill>
            <a:prstDash val="solid"/>
          </a:ln>
        </p:spPr>
        <p:txBody>
          <a:bodyPr wrap="square" rtlCol="0" anchor="ctr"/>
          <a:lstStyle/>
          <a:p>
            <a:pPr marL="0" indent="0">
              <a:buNone/>
            </a:pPr>
            <a:endParaRPr lang="en-US" dirty="0"/>
          </a:p>
        </p:txBody>
      </p:sp>
      <p:pic>
        <p:nvPicPr>
          <p:cNvPr id="48" name="Image 0" descr="/tmp/h2p-fit-1785740048990-sam1jy.png"/>
          <p:cNvPicPr>
            <a:picLocks noChangeAspect="1"/>
          </p:cNvPicPr>
          <p:nvPr/>
        </p:nvPicPr>
        <p:blipFill>
          <a:blip r:embed="rId3"/>
          <a:stretch>
            <a:fillRect/>
          </a:stretch>
        </p:blipFill>
        <p:spPr>
          <a:xfrm>
            <a:off x="5607844" y="1183630"/>
            <a:ext cx="3071813" cy="1714500"/>
          </a:xfrm>
          <a:prstGeom prst="rect">
            <a:avLst/>
          </a:prstGeom>
        </p:spPr>
      </p:pic>
      <p:pic>
        <p:nvPicPr>
          <p:cNvPr id="49" name="Image 1" descr="preencoded.png"/>
          <p:cNvPicPr>
            <a:picLocks noChangeAspect="1"/>
          </p:cNvPicPr>
          <p:nvPr/>
        </p:nvPicPr>
        <p:blipFill>
          <a:blip r:embed="rId4"/>
          <a:stretch>
            <a:fillRect/>
          </a:stretch>
        </p:blipFill>
        <p:spPr>
          <a:xfrm>
            <a:off x="5607844" y="1183630"/>
            <a:ext cx="3071813" cy="1714500"/>
          </a:xfrm>
          <a:prstGeom prst="rect">
            <a:avLst/>
          </a:prstGeom>
        </p:spPr>
      </p:pic>
      <p:sp>
        <p:nvSpPr>
          <p:cNvPr id="50" name="Text 46"/>
          <p:cNvSpPr/>
          <p:nvPr/>
        </p:nvSpPr>
        <p:spPr>
          <a:xfrm>
            <a:off x="5684996" y="1271427"/>
            <a:ext cx="1107571" cy="228029"/>
          </a:xfrm>
          <a:prstGeom prst="roundRect">
            <a:avLst>
              <a:gd name="adj" fmla="val 4172923"/>
            </a:avLst>
          </a:prstGeom>
          <a:solidFill>
            <a:srgbClr val="0A0E1A">
              <a:alpha val="60000"/>
            </a:srgbClr>
          </a:solidFill>
          <a:ln w="7144">
            <a:solidFill>
              <a:srgbClr val="00E5FF"/>
            </a:solidFill>
            <a:prstDash val="solid"/>
          </a:ln>
        </p:spPr>
        <p:txBody>
          <a:bodyPr wrap="square" rtlCol="0" anchor="ctr"/>
          <a:lstStyle/>
          <a:p>
            <a:pPr marL="0" indent="0">
              <a:buNone/>
            </a:pPr>
            <a:endParaRPr lang="en-US" dirty="0"/>
          </a:p>
        </p:txBody>
      </p:sp>
      <p:sp>
        <p:nvSpPr>
          <p:cNvPr id="51" name="Text 47"/>
          <p:cNvSpPr/>
          <p:nvPr/>
        </p:nvSpPr>
        <p:spPr>
          <a:xfrm>
            <a:off x="5786438" y="1356866"/>
            <a:ext cx="57150" cy="57150"/>
          </a:xfrm>
          <a:prstGeom prst="roundRect">
            <a:avLst>
              <a:gd name="adj" fmla="val 66667"/>
            </a:avLst>
          </a:prstGeom>
          <a:solidFill>
            <a:srgbClr val="00E5FF"/>
          </a:solidFill>
          <a:ln/>
        </p:spPr>
        <p:txBody>
          <a:bodyPr wrap="square" rtlCol="0" anchor="ctr"/>
          <a:lstStyle/>
          <a:p>
            <a:pPr marL="0" indent="0">
              <a:buNone/>
            </a:pPr>
            <a:endParaRPr lang="en-US" dirty="0"/>
          </a:p>
        </p:txBody>
      </p:sp>
      <p:sp>
        <p:nvSpPr>
          <p:cNvPr id="52" name="Text 48"/>
          <p:cNvSpPr/>
          <p:nvPr/>
        </p:nvSpPr>
        <p:spPr>
          <a:xfrm>
            <a:off x="5707856" y="1283643"/>
            <a:ext cx="1061851" cy="203597"/>
          </a:xfrm>
          <a:prstGeom prst="rect">
            <a:avLst/>
          </a:prstGeom>
          <a:noFill/>
          <a:ln/>
        </p:spPr>
        <p:txBody>
          <a:bodyPr wrap="none" lIns="0" tIns="0" rIns="0" bIns="0" rtlCol="0" anchor="ctr"/>
          <a:lstStyle/>
          <a:p>
            <a:pPr marL="0" indent="0" algn="ctr">
              <a:lnSpc>
                <a:spcPts val="928"/>
              </a:lnSpc>
              <a:buNone/>
            </a:pPr>
            <a:r>
              <a:rPr lang="en-US" sz="800" kern="0" spc="87" dirty="0">
                <a:solidFill>
                  <a:srgbClr val="E6F1FF"/>
                </a:solidFill>
                <a:latin typeface="Courier New" pitchFamily="34" charset="0"/>
                <a:ea typeface="Courier New" pitchFamily="34" charset="-122"/>
                <a:cs typeface="Courier New" pitchFamily="34" charset="-120"/>
              </a:rPr>
              <a:t>PRODUCTION-GRADE</a:t>
            </a:r>
            <a:endParaRPr lang="en-US" sz="800" dirty="0"/>
          </a:p>
        </p:txBody>
      </p:sp>
      <p:sp>
        <p:nvSpPr>
          <p:cNvPr id="53" name="Text 49"/>
          <p:cNvSpPr/>
          <p:nvPr/>
        </p:nvSpPr>
        <p:spPr>
          <a:xfrm>
            <a:off x="5707856" y="2694533"/>
            <a:ext cx="3081528" cy="164592"/>
          </a:xfrm>
          <a:prstGeom prst="rect">
            <a:avLst/>
          </a:prstGeom>
          <a:noFill/>
          <a:ln/>
        </p:spPr>
        <p:txBody>
          <a:bodyPr wrap="square" lIns="0" tIns="0" rIns="0" bIns="0" rtlCol="0" anchor="t"/>
          <a:lstStyle/>
          <a:p>
            <a:pPr marL="0" indent="0" algn="l">
              <a:lnSpc>
                <a:spcPts val="928"/>
              </a:lnSpc>
              <a:buNone/>
            </a:pPr>
            <a:r>
              <a:rPr lang="en-US" sz="800" kern="0" spc="37" dirty="0">
                <a:solidFill>
                  <a:srgbClr val="A9B4CC"/>
                </a:solidFill>
                <a:latin typeface="Courier New" pitchFamily="34" charset="0"/>
                <a:ea typeface="Courier New" pitchFamily="34" charset="-122"/>
                <a:cs typeface="Courier New" pitchFamily="34" charset="-120"/>
              </a:rPr>
              <a:t>DATA CENTER · LIVE TELEMETRY INGEST</a:t>
            </a:r>
            <a:endParaRPr lang="en-US" sz="800" dirty="0"/>
          </a:p>
        </p:txBody>
      </p:sp>
      <p:pic>
        <p:nvPicPr>
          <p:cNvPr id="54" name="Image 2" descr="preencoded.png"/>
          <p:cNvPicPr>
            <a:picLocks noChangeAspect="1"/>
          </p:cNvPicPr>
          <p:nvPr/>
        </p:nvPicPr>
        <p:blipFill>
          <a:blip r:embed="rId5"/>
          <a:stretch>
            <a:fillRect/>
          </a:stretch>
        </p:blipFill>
        <p:spPr>
          <a:xfrm>
            <a:off x="5600700" y="3033861"/>
            <a:ext cx="3086100" cy="910270"/>
          </a:xfrm>
          <a:prstGeom prst="rect">
            <a:avLst/>
          </a:prstGeom>
        </p:spPr>
      </p:pic>
      <p:sp>
        <p:nvSpPr>
          <p:cNvPr id="55" name="Text 50"/>
          <p:cNvSpPr/>
          <p:nvPr/>
        </p:nvSpPr>
        <p:spPr>
          <a:xfrm>
            <a:off x="5604272" y="3037433"/>
            <a:ext cx="3078956" cy="903126"/>
          </a:xfrm>
          <a:prstGeom prst="roundRect">
            <a:avLst>
              <a:gd name="adj" fmla="val 14765"/>
            </a:avLst>
          </a:prstGeom>
          <a:noFill/>
          <a:ln w="7144">
            <a:solidFill>
              <a:srgbClr val="00E5FF"/>
            </a:solidFill>
            <a:prstDash val="solid"/>
          </a:ln>
        </p:spPr>
        <p:txBody>
          <a:bodyPr wrap="square" rtlCol="0" anchor="ctr"/>
          <a:lstStyle/>
          <a:p>
            <a:pPr marL="0" indent="0">
              <a:buNone/>
            </a:pPr>
            <a:endParaRPr lang="en-US" dirty="0"/>
          </a:p>
        </p:txBody>
      </p:sp>
      <p:sp>
        <p:nvSpPr>
          <p:cNvPr id="56" name="Text 51"/>
          <p:cNvSpPr/>
          <p:nvPr/>
        </p:nvSpPr>
        <p:spPr>
          <a:xfrm>
            <a:off x="5750719" y="3173164"/>
            <a:ext cx="142875" cy="142875"/>
          </a:xfrm>
          <a:prstGeom prst="rect">
            <a:avLst/>
          </a:prstGeom>
          <a:noFill/>
          <a:ln/>
        </p:spPr>
        <p:txBody>
          <a:bodyPr wrap="none" lIns="0" tIns="0" rIns="0" bIns="0" rtlCol="0" anchor="ctr"/>
          <a:lstStyle/>
          <a:p>
            <a:pPr marL="0" indent="0" algn="ctr">
              <a:buNone/>
            </a:pPr>
            <a:r>
              <a:rPr lang="en-US" sz="1406" dirty="0">
                <a:solidFill>
                  <a:srgbClr val="00E5FF"/>
                </a:solidFill>
                <a:latin typeface="Segoe UI Symbol" pitchFamily="34" charset="0"/>
                <a:ea typeface="Segoe UI Symbol" pitchFamily="34" charset="-122"/>
                <a:cs typeface="Segoe UI Symbol" pitchFamily="34" charset="-120"/>
              </a:rPr>
              <a:t>✓</a:t>
            </a:r>
            <a:endParaRPr lang="en-US" sz="1406" dirty="0"/>
          </a:p>
        </p:txBody>
      </p:sp>
      <p:sp>
        <p:nvSpPr>
          <p:cNvPr id="57" name="Text 52"/>
          <p:cNvSpPr/>
          <p:nvPr/>
        </p:nvSpPr>
        <p:spPr>
          <a:xfrm>
            <a:off x="5950744" y="3169593"/>
            <a:ext cx="2586038" cy="164592"/>
          </a:xfrm>
          <a:prstGeom prst="rect">
            <a:avLst/>
          </a:prstGeom>
          <a:noFill/>
          <a:ln/>
        </p:spPr>
        <p:txBody>
          <a:bodyPr wrap="none" lIns="0" tIns="0" rIns="0" bIns="0" rtlCol="0" anchor="t"/>
          <a:lstStyle/>
          <a:p>
            <a:pPr marL="0" indent="0" algn="l">
              <a:lnSpc>
                <a:spcPts val="1181"/>
              </a:lnSpc>
              <a:buNone/>
            </a:pPr>
            <a:r>
              <a:rPr lang="en-US" sz="800" dirty="0">
                <a:solidFill>
                  <a:srgbClr val="E6F1FF"/>
                </a:solidFill>
                <a:latin typeface="Carlito" pitchFamily="34" charset="0"/>
                <a:ea typeface="Carlito" pitchFamily="34" charset="-122"/>
                <a:cs typeface="Carlito" pitchFamily="34" charset="-120"/>
              </a:rPr>
              <a:t>Why this is feasible</a:t>
            </a:r>
            <a:endParaRPr lang="en-US" sz="800" dirty="0"/>
          </a:p>
        </p:txBody>
      </p:sp>
      <p:sp>
        <p:nvSpPr>
          <p:cNvPr id="58" name="Text 53"/>
          <p:cNvSpPr/>
          <p:nvPr/>
        </p:nvSpPr>
        <p:spPr>
          <a:xfrm>
            <a:off x="5750719" y="3376761"/>
            <a:ext cx="2786063" cy="431639"/>
          </a:xfrm>
          <a:prstGeom prst="rect">
            <a:avLst/>
          </a:prstGeom>
          <a:noFill/>
          <a:ln/>
        </p:spPr>
        <p:txBody>
          <a:bodyPr wrap="square" lIns="0" tIns="0" rIns="0" bIns="0" rtlCol="0" anchor="t"/>
          <a:lstStyle/>
          <a:p>
            <a:pPr marL="0" indent="0" algn="l">
              <a:lnSpc>
                <a:spcPts val="1133"/>
              </a:lnSpc>
              <a:buNone/>
            </a:pPr>
            <a:r>
              <a:rPr lang="en-US" sz="800" dirty="0">
                <a:solidFill>
                  <a:srgbClr val="A9B4CC"/>
                </a:solidFill>
                <a:latin typeface="Carlito" pitchFamily="34" charset="0"/>
                <a:ea typeface="Carlito" pitchFamily="34" charset="-122"/>
                <a:cs typeface="Carlito" pitchFamily="34" charset="-120"/>
              </a:rPr>
              <a:t>Every layer is a proven, production-grade component — no speculative research dependencies. The novelty lives in how they are wired into the closed counterfactual loop.</a:t>
            </a:r>
            <a:endParaRPr lang="en-US" sz="800" dirty="0"/>
          </a:p>
        </p:txBody>
      </p:sp>
      <p:sp>
        <p:nvSpPr>
          <p:cNvPr id="59" name="Text 54"/>
          <p:cNvSpPr/>
          <p:nvPr/>
        </p:nvSpPr>
        <p:spPr>
          <a:xfrm>
            <a:off x="5629275" y="4103080"/>
            <a:ext cx="57150" cy="57150"/>
          </a:xfrm>
          <a:prstGeom prst="ellipse">
            <a:avLst/>
          </a:prstGeom>
          <a:solidFill>
            <a:srgbClr val="00E5FF"/>
          </a:solidFill>
          <a:ln/>
          <a:effectLst>
            <a:outerShdw blurRad="114300" dist="50800" dir="16200000" algn="bl" rotWithShape="0">
              <a:srgbClr val="00E5FF">
                <a:alpha val="35000"/>
              </a:srgbClr>
            </a:outerShdw>
          </a:effectLst>
        </p:spPr>
        <p:txBody>
          <a:bodyPr wrap="square" rtlCol="0" anchor="ctr"/>
          <a:lstStyle/>
          <a:p>
            <a:pPr marL="0" indent="0">
              <a:buNone/>
            </a:pPr>
            <a:endParaRPr lang="en-US" dirty="0"/>
          </a:p>
        </p:txBody>
      </p:sp>
      <p:sp>
        <p:nvSpPr>
          <p:cNvPr id="60" name="Text 55"/>
          <p:cNvSpPr/>
          <p:nvPr/>
        </p:nvSpPr>
        <p:spPr>
          <a:xfrm>
            <a:off x="5743575" y="4103080"/>
            <a:ext cx="57150" cy="57150"/>
          </a:xfrm>
          <a:prstGeom prst="ellipse">
            <a:avLst/>
          </a:prstGeom>
          <a:solidFill>
            <a:srgbClr val="00E5FF"/>
          </a:solidFill>
          <a:ln/>
          <a:effectLst>
            <a:outerShdw blurRad="95250" dist="50800" dir="16200000" algn="bl" rotWithShape="0">
              <a:srgbClr val="00E5FF">
                <a:alpha val="35000"/>
              </a:srgbClr>
            </a:outerShdw>
          </a:effectLst>
        </p:spPr>
        <p:txBody>
          <a:bodyPr wrap="square" rtlCol="0" anchor="ctr"/>
          <a:lstStyle/>
          <a:p>
            <a:pPr marL="0" indent="0">
              <a:buNone/>
            </a:pPr>
            <a:endParaRPr lang="en-US" dirty="0"/>
          </a:p>
        </p:txBody>
      </p:sp>
      <p:sp>
        <p:nvSpPr>
          <p:cNvPr id="61" name="Text 56"/>
          <p:cNvSpPr/>
          <p:nvPr/>
        </p:nvSpPr>
        <p:spPr>
          <a:xfrm>
            <a:off x="5857875" y="4103080"/>
            <a:ext cx="57150" cy="57150"/>
          </a:xfrm>
          <a:prstGeom prst="ellipse">
            <a:avLst/>
          </a:prstGeom>
          <a:solidFill>
            <a:srgbClr val="7C4DFF"/>
          </a:solidFill>
          <a:ln/>
          <a:effectLst>
            <a:outerShdw blurRad="95250" dist="50800" dir="16200000" algn="bl" rotWithShape="0">
              <a:srgbClr val="7C4DFF">
                <a:alpha val="35000"/>
              </a:srgbClr>
            </a:outerShdw>
          </a:effectLst>
        </p:spPr>
        <p:txBody>
          <a:bodyPr wrap="square" rtlCol="0" anchor="ctr"/>
          <a:lstStyle/>
          <a:p>
            <a:pPr marL="0" indent="0">
              <a:buNone/>
            </a:pPr>
            <a:endParaRPr lang="en-US" dirty="0"/>
          </a:p>
        </p:txBody>
      </p:sp>
      <p:sp>
        <p:nvSpPr>
          <p:cNvPr id="62" name="Text 57"/>
          <p:cNvSpPr/>
          <p:nvPr/>
        </p:nvSpPr>
        <p:spPr>
          <a:xfrm>
            <a:off x="5972175" y="4103080"/>
            <a:ext cx="57150" cy="57150"/>
          </a:xfrm>
          <a:prstGeom prst="ellipse">
            <a:avLst/>
          </a:prstGeom>
          <a:solidFill>
            <a:srgbClr val="7C4DFF"/>
          </a:solidFill>
          <a:ln/>
          <a:effectLst>
            <a:outerShdw blurRad="95250" dist="50800" dir="16200000" algn="bl" rotWithShape="0">
              <a:srgbClr val="7C4DFF">
                <a:alpha val="35000"/>
              </a:srgbClr>
            </a:outerShdw>
          </a:effectLst>
        </p:spPr>
        <p:txBody>
          <a:bodyPr wrap="square" rtlCol="0" anchor="ctr"/>
          <a:lstStyle/>
          <a:p>
            <a:pPr marL="0" indent="0">
              <a:buNone/>
            </a:pPr>
            <a:endParaRPr lang="en-US" dirty="0"/>
          </a:p>
        </p:txBody>
      </p:sp>
      <p:sp>
        <p:nvSpPr>
          <p:cNvPr id="63" name="Text 58"/>
          <p:cNvSpPr/>
          <p:nvPr/>
        </p:nvSpPr>
        <p:spPr>
          <a:xfrm>
            <a:off x="6086475" y="4103080"/>
            <a:ext cx="57150" cy="57150"/>
          </a:xfrm>
          <a:prstGeom prst="ellipse">
            <a:avLst/>
          </a:prstGeom>
          <a:solidFill>
            <a:srgbClr val="10E0A0"/>
          </a:solidFill>
          <a:ln/>
          <a:effectLst>
            <a:outerShdw blurRad="114300" dist="50800" dir="16200000" algn="bl" rotWithShape="0">
              <a:srgbClr val="10E0A0">
                <a:alpha val="50000"/>
              </a:srgbClr>
            </a:outerShdw>
          </a:effectLst>
        </p:spPr>
        <p:txBody>
          <a:bodyPr wrap="square" rtlCol="0" anchor="ctr"/>
          <a:lstStyle/>
          <a:p>
            <a:pPr marL="0" indent="0">
              <a:buNone/>
            </a:pPr>
            <a:endParaRPr lang="en-US" dirty="0"/>
          </a:p>
        </p:txBody>
      </p:sp>
      <p:sp>
        <p:nvSpPr>
          <p:cNvPr id="64" name="Text 59"/>
          <p:cNvSpPr/>
          <p:nvPr/>
        </p:nvSpPr>
        <p:spPr>
          <a:xfrm>
            <a:off x="7457405" y="4072719"/>
            <a:ext cx="1574537"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A9B4CC"/>
                </a:solidFill>
                <a:latin typeface="Courier New" pitchFamily="34" charset="0"/>
                <a:ea typeface="Courier New" pitchFamily="34" charset="-122"/>
                <a:cs typeface="Courier New" pitchFamily="34" charset="-120"/>
              </a:rPr>
              <a:t>CYAN → VIOLET → GREEN</a:t>
            </a:r>
            <a:endParaRPr lang="en-US" sz="800" dirty="0"/>
          </a:p>
        </p:txBody>
      </p:sp>
      <p:sp>
        <p:nvSpPr>
          <p:cNvPr id="65" name="Text 60"/>
          <p:cNvSpPr/>
          <p:nvPr/>
        </p:nvSpPr>
        <p:spPr>
          <a:xfrm>
            <a:off x="457200" y="4882753"/>
            <a:ext cx="1630136"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6B7494"/>
                </a:solidFill>
                <a:latin typeface="Liberation Sans Narrow" pitchFamily="34" charset="0"/>
                <a:ea typeface="Liberation Sans Narrow" pitchFamily="34" charset="-122"/>
                <a:cs typeface="Liberation Sans Narrow" pitchFamily="34" charset="-120"/>
              </a:rPr>
              <a:t>NETWORK OPERATIONS · 2026</a:t>
            </a:r>
            <a:endParaRPr lang="en-US" sz="800" dirty="0"/>
          </a:p>
        </p:txBody>
      </p:sp>
      <p:sp>
        <p:nvSpPr>
          <p:cNvPr id="66" name="Text 61"/>
          <p:cNvSpPr/>
          <p:nvPr/>
        </p:nvSpPr>
        <p:spPr>
          <a:xfrm>
            <a:off x="1886955" y="4882753"/>
            <a:ext cx="91440" cy="164592"/>
          </a:xfrm>
          <a:prstGeom prst="rect">
            <a:avLst/>
          </a:prstGeom>
          <a:noFill/>
          <a:ln/>
        </p:spPr>
        <p:txBody>
          <a:bodyPr wrap="square" lIns="0" tIns="0" rIns="0" bIns="0" rtlCol="0" anchor="t"/>
          <a:lstStyle/>
          <a:p>
            <a:pPr marL="0" indent="0" algn="l">
              <a:lnSpc>
                <a:spcPts val="928"/>
              </a:lnSpc>
              <a:buNone/>
            </a:pPr>
            <a:r>
              <a:rPr lang="en-US" sz="800" kern="0" spc="111" dirty="0">
                <a:solidFill>
                  <a:srgbClr val="6B7494"/>
                </a:solidFill>
                <a:latin typeface="Courier New" pitchFamily="34" charset="0"/>
                <a:ea typeface="Courier New" pitchFamily="34" charset="-122"/>
                <a:cs typeface="Courier New" pitchFamily="34" charset="-120"/>
              </a:rPr>
              <a:t>·</a:t>
            </a:r>
            <a:endParaRPr lang="en-US" sz="800" dirty="0"/>
          </a:p>
        </p:txBody>
      </p:sp>
      <p:sp>
        <p:nvSpPr>
          <p:cNvPr id="67" name="Text 62"/>
          <p:cNvSpPr/>
          <p:nvPr/>
        </p:nvSpPr>
        <p:spPr>
          <a:xfrm>
            <a:off x="2034294" y="4882753"/>
            <a:ext cx="840836" cy="164592"/>
          </a:xfrm>
          <a:prstGeom prst="rect">
            <a:avLst/>
          </a:prstGeom>
          <a:noFill/>
          <a:ln/>
        </p:spPr>
        <p:txBody>
          <a:bodyPr wrap="none" lIns="0" tIns="0" rIns="0" bIns="0" rtlCol="0" anchor="t"/>
          <a:lstStyle/>
          <a:p>
            <a:pPr marL="0" indent="0" algn="l">
              <a:lnSpc>
                <a:spcPts val="928"/>
              </a:lnSpc>
              <a:buNone/>
            </a:pPr>
            <a:endParaRPr lang="en-US" sz="619" dirty="0"/>
          </a:p>
        </p:txBody>
      </p:sp>
      <p:sp>
        <p:nvSpPr>
          <p:cNvPr id="68" name="Text 63"/>
          <p:cNvSpPr/>
          <p:nvPr/>
        </p:nvSpPr>
        <p:spPr>
          <a:xfrm>
            <a:off x="7834908" y="4891683"/>
            <a:ext cx="100013" cy="100013"/>
          </a:xfrm>
          <a:prstGeom prst="rect">
            <a:avLst/>
          </a:prstGeom>
          <a:noFill/>
          <a:ln/>
        </p:spPr>
        <p:txBody>
          <a:bodyPr wrap="none" lIns="0" tIns="0" rIns="0" bIns="0" rtlCol="0" anchor="ctr"/>
          <a:lstStyle/>
          <a:p>
            <a:pPr marL="0" indent="0" algn="ctr">
              <a:buNone/>
            </a:pPr>
            <a:r>
              <a:rPr lang="en-US" sz="984" dirty="0">
                <a:solidFill>
                  <a:srgbClr val="00E5FF"/>
                </a:solidFill>
                <a:latin typeface="Segoe UI Symbol" pitchFamily="34" charset="0"/>
                <a:ea typeface="Segoe UI Symbol" pitchFamily="34" charset="-122"/>
                <a:cs typeface="Segoe UI Symbol" pitchFamily="34" charset="-120"/>
              </a:rPr>
              <a:t>✦</a:t>
            </a:r>
            <a:endParaRPr lang="en-US" sz="984" dirty="0"/>
          </a:p>
        </p:txBody>
      </p:sp>
      <p:sp>
        <p:nvSpPr>
          <p:cNvPr id="69" name="Text 64"/>
          <p:cNvSpPr/>
          <p:nvPr/>
        </p:nvSpPr>
        <p:spPr>
          <a:xfrm>
            <a:off x="7977184" y="4882753"/>
            <a:ext cx="940714"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A9B4CC"/>
                </a:solidFill>
                <a:latin typeface="Liberation Sans Narrow" pitchFamily="34" charset="0"/>
                <a:ea typeface="Liberation Sans Narrow" pitchFamily="34" charset="-122"/>
                <a:cs typeface="Liberation Sans Narrow" pitchFamily="34" charset="-120"/>
              </a:rPr>
              <a:t>5-LAYER STACK</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71500" y="-714375"/>
            <a:ext cx="2428875" cy="2428875"/>
          </a:xfrm>
          <a:prstGeom prst="ellipse">
            <a:avLst/>
          </a:prstGeom>
          <a:solidFill>
            <a:srgbClr val="00E5FF">
              <a:alpha val="10000"/>
            </a:srgbClr>
          </a:solidFill>
          <a:ln/>
        </p:spPr>
        <p:txBody>
          <a:bodyPr wrap="square" rtlCol="0" anchor="ctr"/>
          <a:lstStyle/>
          <a:p>
            <a:pPr marL="0" indent="0">
              <a:buNone/>
            </a:pPr>
            <a:endParaRPr lang="en-US" dirty="0"/>
          </a:p>
        </p:txBody>
      </p:sp>
      <p:sp>
        <p:nvSpPr>
          <p:cNvPr id="3" name="Text 1"/>
          <p:cNvSpPr/>
          <p:nvPr/>
        </p:nvSpPr>
        <p:spPr>
          <a:xfrm>
            <a:off x="3093244" y="2175271"/>
            <a:ext cx="3000375" cy="3000375"/>
          </a:xfrm>
          <a:prstGeom prst="ellipse">
            <a:avLst/>
          </a:prstGeom>
          <a:solidFill>
            <a:srgbClr val="7C4DFF">
              <a:alpha val="14000"/>
            </a:srgbClr>
          </a:solidFill>
          <a:ln/>
        </p:spPr>
        <p:txBody>
          <a:bodyPr wrap="square" rtlCol="0" anchor="ctr"/>
          <a:lstStyle/>
          <a:p>
            <a:pPr marL="0" indent="0">
              <a:buNone/>
            </a:pPr>
            <a:endParaRPr lang="en-US" dirty="0"/>
          </a:p>
        </p:txBody>
      </p:sp>
      <p:sp>
        <p:nvSpPr>
          <p:cNvPr id="5" name="Text 3"/>
          <p:cNvSpPr/>
          <p:nvPr/>
        </p:nvSpPr>
        <p:spPr>
          <a:xfrm>
            <a:off x="434340" y="388691"/>
            <a:ext cx="818696" cy="212027"/>
          </a:xfrm>
          <a:prstGeom prst="roundRect">
            <a:avLst>
              <a:gd name="adj" fmla="val 4487860"/>
            </a:avLst>
          </a:prstGeom>
          <a:solidFill>
            <a:srgbClr val="00E5FF">
              <a:alpha val="6000"/>
            </a:srgbClr>
          </a:solidFill>
          <a:ln w="7144">
            <a:solidFill>
              <a:srgbClr val="00E5FF"/>
            </a:solidFill>
            <a:prstDash val="solid"/>
          </a:ln>
        </p:spPr>
        <p:txBody>
          <a:bodyPr wrap="square" rtlCol="0" anchor="ctr"/>
          <a:lstStyle/>
          <a:p>
            <a:pPr marL="0" indent="0">
              <a:buNone/>
            </a:pPr>
            <a:endParaRPr lang="en-US" dirty="0"/>
          </a:p>
        </p:txBody>
      </p:sp>
      <p:sp>
        <p:nvSpPr>
          <p:cNvPr id="6" name="Text 4"/>
          <p:cNvSpPr/>
          <p:nvPr/>
        </p:nvSpPr>
        <p:spPr>
          <a:xfrm>
            <a:off x="550069" y="466130"/>
            <a:ext cx="57150" cy="57150"/>
          </a:xfrm>
          <a:prstGeom prst="roundRect">
            <a:avLst>
              <a:gd name="adj" fmla="val 66667"/>
            </a:avLst>
          </a:prstGeom>
          <a:solidFill>
            <a:srgbClr val="00E5FF"/>
          </a:solidFill>
          <a:ln/>
        </p:spPr>
        <p:txBody>
          <a:bodyPr wrap="square" rtlCol="0" anchor="ctr"/>
          <a:lstStyle/>
          <a:p>
            <a:pPr marL="0" indent="0">
              <a:buNone/>
            </a:pPr>
            <a:endParaRPr lang="en-US" dirty="0"/>
          </a:p>
        </p:txBody>
      </p:sp>
      <p:sp>
        <p:nvSpPr>
          <p:cNvPr id="7" name="Text 5"/>
          <p:cNvSpPr/>
          <p:nvPr/>
        </p:nvSpPr>
        <p:spPr>
          <a:xfrm>
            <a:off x="457200" y="400050"/>
            <a:ext cx="772976" cy="189309"/>
          </a:xfrm>
          <a:prstGeom prst="rect">
            <a:avLst/>
          </a:prstGeom>
          <a:noFill/>
          <a:ln/>
        </p:spPr>
        <p:txBody>
          <a:bodyPr wrap="none" lIns="0" tIns="0" rIns="0" bIns="0" rtlCol="0" anchor="ctr"/>
          <a:lstStyle/>
          <a:p>
            <a:pPr marL="0" indent="0" algn="ctr">
              <a:lnSpc>
                <a:spcPts val="928"/>
              </a:lnSpc>
              <a:buNone/>
            </a:pPr>
            <a:r>
              <a:rPr lang="en-US" sz="800" kern="0" spc="74" dirty="0">
                <a:solidFill>
                  <a:srgbClr val="00E5FF"/>
                </a:solidFill>
                <a:latin typeface="Courier New" pitchFamily="34" charset="0"/>
                <a:ea typeface="Courier New" pitchFamily="34" charset="-122"/>
                <a:cs typeface="Courier New" pitchFamily="34" charset="-120"/>
              </a:rPr>
              <a:t>NEXT STEPS</a:t>
            </a:r>
            <a:endParaRPr lang="en-US" sz="800" dirty="0"/>
          </a:p>
        </p:txBody>
      </p:sp>
      <p:sp>
        <p:nvSpPr>
          <p:cNvPr id="8" name="Text 6"/>
          <p:cNvSpPr/>
          <p:nvPr/>
        </p:nvSpPr>
        <p:spPr>
          <a:xfrm>
            <a:off x="457200" y="675084"/>
            <a:ext cx="3183914" cy="356348"/>
          </a:xfrm>
          <a:prstGeom prst="rect">
            <a:avLst/>
          </a:prstGeom>
          <a:noFill/>
          <a:ln/>
        </p:spPr>
        <p:txBody>
          <a:bodyPr wrap="none" lIns="0" tIns="0" rIns="0" bIns="0" rtlCol="0" anchor="t"/>
          <a:lstStyle/>
          <a:p>
            <a:pPr marL="0" indent="0" algn="l">
              <a:lnSpc>
                <a:spcPts val="2599"/>
              </a:lnSpc>
              <a:buNone/>
            </a:pPr>
            <a:r>
              <a:rPr lang="en-US" sz="2475" b="1" kern="0" spc="-25" dirty="0">
                <a:solidFill>
                  <a:srgbClr val="E6F1FF"/>
                </a:solidFill>
                <a:latin typeface="Carlito" pitchFamily="34" charset="0"/>
                <a:ea typeface="Carlito" pitchFamily="34" charset="-122"/>
                <a:cs typeface="Carlito" pitchFamily="34" charset="-120"/>
              </a:rPr>
              <a:t>The Road to Autonomy</a:t>
            </a:r>
            <a:endParaRPr lang="en-US" sz="2475" dirty="0"/>
          </a:p>
        </p:txBody>
      </p:sp>
      <p:sp>
        <p:nvSpPr>
          <p:cNvPr id="9" name="Text 7"/>
          <p:cNvSpPr/>
          <p:nvPr/>
        </p:nvSpPr>
        <p:spPr>
          <a:xfrm>
            <a:off x="7215300" y="740718"/>
            <a:ext cx="1471500" cy="119015"/>
          </a:xfrm>
          <a:prstGeom prst="rect">
            <a:avLst/>
          </a:prstGeom>
          <a:noFill/>
          <a:ln/>
        </p:spPr>
        <p:txBody>
          <a:bodyPr wrap="none" lIns="0" tIns="0" rIns="0" bIns="0" rtlCol="0" anchor="t">
            <a:normAutofit/>
          </a:bodyPr>
          <a:lstStyle/>
          <a:p>
            <a:pPr marL="0" indent="0" algn="r">
              <a:lnSpc>
                <a:spcPts val="928"/>
              </a:lnSpc>
              <a:buNone/>
            </a:pPr>
            <a:r>
              <a:rPr lang="en-US" sz="800" kern="0" spc="111" dirty="0">
                <a:solidFill>
                  <a:srgbClr val="6B7494"/>
                </a:solidFill>
                <a:latin typeface="Liberation Sans Narrow" pitchFamily="34" charset="0"/>
                <a:ea typeface="Liberation Sans Narrow" pitchFamily="34" charset="-122"/>
                <a:cs typeface="Liberation Sans Narrow" pitchFamily="34" charset="-120"/>
              </a:rPr>
              <a:t>SLIDE · 10</a:t>
            </a:r>
            <a:endParaRPr lang="en-US" sz="800" dirty="0"/>
          </a:p>
        </p:txBody>
      </p:sp>
      <p:sp>
        <p:nvSpPr>
          <p:cNvPr id="10" name="Text 8"/>
          <p:cNvSpPr/>
          <p:nvPr/>
        </p:nvSpPr>
        <p:spPr>
          <a:xfrm>
            <a:off x="7215300" y="887164"/>
            <a:ext cx="1471500" cy="164592"/>
          </a:xfrm>
          <a:prstGeom prst="rect">
            <a:avLst/>
          </a:prstGeom>
          <a:noFill/>
          <a:ln/>
        </p:spPr>
        <p:txBody>
          <a:bodyPr wrap="none" lIns="0" tIns="0" rIns="0" bIns="0" rtlCol="0" anchor="t"/>
          <a:lstStyle/>
          <a:p>
            <a:pPr marL="0" indent="0" algn="r">
              <a:lnSpc>
                <a:spcPts val="928"/>
              </a:lnSpc>
              <a:buNone/>
            </a:pPr>
            <a:r>
              <a:rPr lang="en-US" sz="800" kern="0" spc="111" dirty="0">
                <a:solidFill>
                  <a:srgbClr val="A9B4CC"/>
                </a:solidFill>
                <a:latin typeface="Liberation Sans Narrow" pitchFamily="34" charset="0"/>
                <a:ea typeface="Liberation Sans Narrow" pitchFamily="34" charset="-122"/>
                <a:cs typeface="Liberation Sans Narrow" pitchFamily="34" charset="-120"/>
              </a:rPr>
              <a:t>6-MONTH PATH TO PILOT</a:t>
            </a:r>
            <a:endParaRPr lang="en-US" sz="800" dirty="0"/>
          </a:p>
        </p:txBody>
      </p:sp>
      <p:pic>
        <p:nvPicPr>
          <p:cNvPr id="11" name="Image 0" descr="preencoded.png"/>
          <p:cNvPicPr>
            <a:picLocks noChangeAspect="1"/>
          </p:cNvPicPr>
          <p:nvPr/>
        </p:nvPicPr>
        <p:blipFill>
          <a:blip r:embed="rId3">
            <a:alphaModFix amt="55000"/>
          </a:blip>
          <a:stretch>
            <a:fillRect/>
          </a:stretch>
        </p:blipFill>
        <p:spPr>
          <a:xfrm>
            <a:off x="457200" y="1276499"/>
            <a:ext cx="8229600" cy="14288"/>
          </a:xfrm>
          <a:prstGeom prst="rect">
            <a:avLst/>
          </a:prstGeom>
        </p:spPr>
      </p:pic>
      <p:sp>
        <p:nvSpPr>
          <p:cNvPr id="12" name="Text 9"/>
          <p:cNvSpPr/>
          <p:nvPr/>
        </p:nvSpPr>
        <p:spPr>
          <a:xfrm>
            <a:off x="460772" y="1480096"/>
            <a:ext cx="2621756" cy="1421606"/>
          </a:xfrm>
          <a:prstGeom prst="roundRect">
            <a:avLst>
              <a:gd name="adj" fmla="val 9380"/>
            </a:avLst>
          </a:prstGeom>
          <a:solidFill>
            <a:srgbClr val="FFFFFF">
              <a:alpha val="4000"/>
            </a:srgbClr>
          </a:solidFill>
          <a:ln w="7144">
            <a:solidFill>
              <a:srgbClr val="FFFFFF"/>
            </a:solidFill>
            <a:prstDash val="solid"/>
          </a:ln>
        </p:spPr>
        <p:txBody>
          <a:bodyPr wrap="square" rtlCol="0" anchor="ctr"/>
          <a:lstStyle/>
          <a:p>
            <a:pPr marL="0" indent="0">
              <a:buNone/>
            </a:pPr>
            <a:endParaRPr lang="en-US" dirty="0"/>
          </a:p>
        </p:txBody>
      </p:sp>
      <p:sp>
        <p:nvSpPr>
          <p:cNvPr id="13" name="Text 10"/>
          <p:cNvSpPr/>
          <p:nvPr/>
        </p:nvSpPr>
        <p:spPr>
          <a:xfrm>
            <a:off x="621506" y="1653332"/>
            <a:ext cx="2143125" cy="164592"/>
          </a:xfrm>
          <a:prstGeom prst="rect">
            <a:avLst/>
          </a:prstGeom>
          <a:noFill/>
          <a:ln/>
        </p:spPr>
        <p:txBody>
          <a:bodyPr wrap="none" lIns="0" tIns="0" rIns="0" bIns="0" rtlCol="0" anchor="t"/>
          <a:lstStyle/>
          <a:p>
            <a:pPr marL="0" indent="0" algn="l">
              <a:lnSpc>
                <a:spcPts val="928"/>
              </a:lnSpc>
              <a:buNone/>
            </a:pPr>
            <a:r>
              <a:rPr lang="en-US" sz="800" kern="0" spc="99" dirty="0">
                <a:solidFill>
                  <a:srgbClr val="00E5FF"/>
                </a:solidFill>
                <a:latin typeface="Liberation Sans Narrow" pitchFamily="34" charset="0"/>
                <a:ea typeface="Liberation Sans Narrow" pitchFamily="34" charset="-122"/>
                <a:cs typeface="Liberation Sans Narrow" pitchFamily="34" charset="-120"/>
              </a:rPr>
              <a:t>PHASE 01 · MONTHS 1–2</a:t>
            </a:r>
            <a:endParaRPr lang="en-US" sz="800" dirty="0"/>
          </a:p>
        </p:txBody>
      </p:sp>
      <p:sp>
        <p:nvSpPr>
          <p:cNvPr id="14" name="Text 11"/>
          <p:cNvSpPr/>
          <p:nvPr/>
        </p:nvSpPr>
        <p:spPr>
          <a:xfrm>
            <a:off x="2778919" y="1640830"/>
            <a:ext cx="142875" cy="142875"/>
          </a:xfrm>
          <a:prstGeom prst="rect">
            <a:avLst/>
          </a:prstGeom>
          <a:noFill/>
          <a:ln/>
        </p:spPr>
        <p:txBody>
          <a:bodyPr wrap="none" lIns="0" tIns="0" rIns="0" bIns="0" rtlCol="0" anchor="ctr"/>
          <a:lstStyle/>
          <a:p>
            <a:pPr marL="0" indent="0" algn="ctr">
              <a:buNone/>
            </a:pPr>
            <a:r>
              <a:rPr lang="en-US" sz="1406" dirty="0">
                <a:solidFill>
                  <a:srgbClr val="6B7494"/>
                </a:solidFill>
                <a:latin typeface="Segoe UI Symbol" pitchFamily="34" charset="0"/>
                <a:ea typeface="Segoe UI Symbol" pitchFamily="34" charset="-122"/>
                <a:cs typeface="Segoe UI Symbol" pitchFamily="34" charset="-120"/>
              </a:rPr>
              <a:t>⌕</a:t>
            </a:r>
            <a:endParaRPr lang="en-US" sz="1406" dirty="0"/>
          </a:p>
        </p:txBody>
      </p:sp>
      <p:sp>
        <p:nvSpPr>
          <p:cNvPr id="15" name="Text 12"/>
          <p:cNvSpPr/>
          <p:nvPr/>
        </p:nvSpPr>
        <p:spPr>
          <a:xfrm>
            <a:off x="621506" y="1855143"/>
            <a:ext cx="2300288" cy="195172"/>
          </a:xfrm>
          <a:prstGeom prst="rect">
            <a:avLst/>
          </a:prstGeom>
          <a:noFill/>
          <a:ln/>
        </p:spPr>
        <p:txBody>
          <a:bodyPr wrap="none" lIns="0" tIns="0" rIns="0" bIns="0" rtlCol="0" anchor="t"/>
          <a:lstStyle/>
          <a:p>
            <a:pPr marL="0" indent="0" algn="l">
              <a:lnSpc>
                <a:spcPts val="1423"/>
              </a:lnSpc>
              <a:buNone/>
            </a:pPr>
            <a:r>
              <a:rPr lang="en-US" sz="1238" b="1" dirty="0">
                <a:solidFill>
                  <a:srgbClr val="E6F1FF"/>
                </a:solidFill>
                <a:latin typeface="Carlito" pitchFamily="34" charset="0"/>
                <a:ea typeface="Carlito" pitchFamily="34" charset="-122"/>
                <a:cs typeface="Carlito" pitchFamily="34" charset="-120"/>
              </a:rPr>
              <a:t>Prior Art &amp; PPA</a:t>
            </a:r>
            <a:endParaRPr lang="en-US" sz="1238" dirty="0"/>
          </a:p>
        </p:txBody>
      </p:sp>
      <p:sp>
        <p:nvSpPr>
          <p:cNvPr id="16" name="Text 13"/>
          <p:cNvSpPr/>
          <p:nvPr/>
        </p:nvSpPr>
        <p:spPr>
          <a:xfrm>
            <a:off x="621506" y="2107295"/>
            <a:ext cx="2300288" cy="339999"/>
          </a:xfrm>
          <a:prstGeom prst="rect">
            <a:avLst/>
          </a:prstGeom>
          <a:noFill/>
          <a:ln/>
        </p:spPr>
        <p:txBody>
          <a:bodyPr wrap="square" lIns="0" tIns="0" rIns="0" bIns="0" rtlCol="0" anchor="t"/>
          <a:lstStyle/>
          <a:p>
            <a:pPr marL="0" indent="0" algn="l">
              <a:lnSpc>
                <a:spcPts val="1133"/>
              </a:lnSpc>
              <a:buNone/>
            </a:pPr>
            <a:r>
              <a:rPr lang="en-US" sz="800" dirty="0">
                <a:solidFill>
                  <a:srgbClr val="A9B4CC"/>
                </a:solidFill>
                <a:latin typeface="Carlito" pitchFamily="34" charset="0"/>
                <a:ea typeface="Carlito" pitchFamily="34" charset="-122"/>
                <a:cs typeface="Carlito" pitchFamily="34" charset="-120"/>
              </a:rPr>
              <a:t>Prior Art Search &amp; Provisional Patent Application (PPA) filing.</a:t>
            </a:r>
            <a:endParaRPr lang="en-US" sz="800" dirty="0"/>
          </a:p>
        </p:txBody>
      </p:sp>
      <p:sp>
        <p:nvSpPr>
          <p:cNvPr id="17" name="Text 14"/>
          <p:cNvSpPr/>
          <p:nvPr/>
        </p:nvSpPr>
        <p:spPr>
          <a:xfrm>
            <a:off x="621506" y="2667744"/>
            <a:ext cx="57150" cy="57150"/>
          </a:xfrm>
          <a:prstGeom prst="ellipse">
            <a:avLst/>
          </a:prstGeom>
          <a:solidFill>
            <a:srgbClr val="00E5FF">
              <a:alpha val="60000"/>
            </a:srgbClr>
          </a:solidFill>
          <a:ln/>
          <a:effectLst>
            <a:outerShdw blurRad="114300" dist="50800" dir="16200000" algn="bl" rotWithShape="0">
              <a:srgbClr val="00E5FF">
                <a:alpha val="35000"/>
              </a:srgbClr>
            </a:outerShdw>
          </a:effectLst>
        </p:spPr>
        <p:txBody>
          <a:bodyPr wrap="square" rtlCol="0" anchor="ctr"/>
          <a:lstStyle/>
          <a:p>
            <a:pPr marL="0" indent="0">
              <a:buNone/>
            </a:pPr>
            <a:endParaRPr lang="en-US" dirty="0"/>
          </a:p>
        </p:txBody>
      </p:sp>
      <p:sp>
        <p:nvSpPr>
          <p:cNvPr id="18" name="Text 15"/>
          <p:cNvSpPr/>
          <p:nvPr/>
        </p:nvSpPr>
        <p:spPr>
          <a:xfrm>
            <a:off x="735806" y="2637383"/>
            <a:ext cx="2185988" cy="117872"/>
          </a:xfrm>
          <a:prstGeom prst="rect">
            <a:avLst/>
          </a:prstGeom>
          <a:noFill/>
          <a:ln/>
        </p:spPr>
        <p:txBody>
          <a:bodyPr wrap="square" lIns="0" tIns="0" rIns="0" bIns="0" rtlCol="0" anchor="t"/>
          <a:lstStyle/>
          <a:p>
            <a:pPr marL="0" indent="0" algn="l">
              <a:lnSpc>
                <a:spcPts val="928"/>
              </a:lnSpc>
              <a:buNone/>
            </a:pPr>
            <a:r>
              <a:rPr lang="en-US" sz="800" kern="0" spc="111" dirty="0">
                <a:solidFill>
                  <a:srgbClr val="6B7494"/>
                </a:solidFill>
                <a:latin typeface="Courier New" pitchFamily="34" charset="0"/>
                <a:ea typeface="Courier New" pitchFamily="34" charset="-122"/>
                <a:cs typeface="Courier New" pitchFamily="34" charset="-120"/>
              </a:rPr>
              <a:t>FOUNDATIONS</a:t>
            </a:r>
            <a:endParaRPr lang="en-US" sz="800" dirty="0"/>
          </a:p>
        </p:txBody>
      </p:sp>
      <p:pic>
        <p:nvPicPr>
          <p:cNvPr id="19" name="Image 1" descr="preencoded.png"/>
          <p:cNvPicPr>
            <a:picLocks noChangeAspect="1"/>
          </p:cNvPicPr>
          <p:nvPr/>
        </p:nvPicPr>
        <p:blipFill>
          <a:blip r:embed="rId4"/>
          <a:stretch>
            <a:fillRect/>
          </a:stretch>
        </p:blipFill>
        <p:spPr>
          <a:xfrm>
            <a:off x="3257550" y="1476524"/>
            <a:ext cx="2628900" cy="1428750"/>
          </a:xfrm>
          <a:prstGeom prst="rect">
            <a:avLst/>
          </a:prstGeom>
        </p:spPr>
      </p:pic>
      <p:sp>
        <p:nvSpPr>
          <p:cNvPr id="20" name="Text 16"/>
          <p:cNvSpPr/>
          <p:nvPr/>
        </p:nvSpPr>
        <p:spPr>
          <a:xfrm>
            <a:off x="3261122" y="1480096"/>
            <a:ext cx="2621756" cy="1421606"/>
          </a:xfrm>
          <a:prstGeom prst="roundRect">
            <a:avLst>
              <a:gd name="adj" fmla="val 9380"/>
            </a:avLst>
          </a:prstGeom>
          <a:noFill/>
          <a:ln w="7144">
            <a:solidFill>
              <a:srgbClr val="00E5FF"/>
            </a:solidFill>
            <a:prstDash val="solid"/>
          </a:ln>
        </p:spPr>
        <p:txBody>
          <a:bodyPr wrap="square" rtlCol="0" anchor="ctr"/>
          <a:lstStyle/>
          <a:p>
            <a:pPr marL="0" indent="0">
              <a:buNone/>
            </a:pPr>
            <a:endParaRPr lang="en-US" dirty="0"/>
          </a:p>
        </p:txBody>
      </p:sp>
      <p:sp>
        <p:nvSpPr>
          <p:cNvPr id="21" name="Text 17"/>
          <p:cNvSpPr/>
          <p:nvPr/>
        </p:nvSpPr>
        <p:spPr>
          <a:xfrm>
            <a:off x="3421856" y="1653332"/>
            <a:ext cx="2143125" cy="164592"/>
          </a:xfrm>
          <a:prstGeom prst="rect">
            <a:avLst/>
          </a:prstGeom>
          <a:noFill/>
          <a:ln/>
        </p:spPr>
        <p:txBody>
          <a:bodyPr wrap="none" lIns="0" tIns="0" rIns="0" bIns="0" rtlCol="0" anchor="t"/>
          <a:lstStyle/>
          <a:p>
            <a:pPr marL="0" indent="0" algn="l">
              <a:lnSpc>
                <a:spcPts val="928"/>
              </a:lnSpc>
              <a:buNone/>
            </a:pPr>
            <a:r>
              <a:rPr lang="en-US" sz="800" kern="0" spc="99" dirty="0">
                <a:solidFill>
                  <a:srgbClr val="00E5FF"/>
                </a:solidFill>
                <a:latin typeface="Liberation Sans Narrow" pitchFamily="34" charset="0"/>
                <a:ea typeface="Liberation Sans Narrow" pitchFamily="34" charset="-122"/>
                <a:cs typeface="Liberation Sans Narrow" pitchFamily="34" charset="-120"/>
              </a:rPr>
              <a:t>PHASE 02 · MONTHS 2–4</a:t>
            </a:r>
            <a:endParaRPr lang="en-US" sz="800" dirty="0"/>
          </a:p>
        </p:txBody>
      </p:sp>
      <p:sp>
        <p:nvSpPr>
          <p:cNvPr id="22" name="Text 18"/>
          <p:cNvSpPr/>
          <p:nvPr/>
        </p:nvSpPr>
        <p:spPr>
          <a:xfrm>
            <a:off x="5579269" y="1640830"/>
            <a:ext cx="142875" cy="142875"/>
          </a:xfrm>
          <a:prstGeom prst="rect">
            <a:avLst/>
          </a:prstGeom>
          <a:noFill/>
          <a:ln/>
        </p:spPr>
        <p:txBody>
          <a:bodyPr wrap="none" lIns="0" tIns="0" rIns="0" bIns="0" rtlCol="0" anchor="ctr"/>
          <a:lstStyle/>
          <a:p>
            <a:pPr marL="0" indent="0" algn="ctr">
              <a:buNone/>
            </a:pPr>
            <a:r>
              <a:rPr lang="en-US" sz="1406" dirty="0">
                <a:solidFill>
                  <a:srgbClr val="00E5FF"/>
                </a:solidFill>
                <a:latin typeface="Segoe UI Symbol" pitchFamily="34" charset="0"/>
                <a:ea typeface="Segoe UI Symbol" pitchFamily="34" charset="-122"/>
                <a:cs typeface="Segoe UI Symbol" pitchFamily="34" charset="-120"/>
              </a:rPr>
              <a:t>⚒</a:t>
            </a:r>
            <a:endParaRPr lang="en-US" sz="1406" dirty="0"/>
          </a:p>
        </p:txBody>
      </p:sp>
      <p:sp>
        <p:nvSpPr>
          <p:cNvPr id="23" name="Text 19"/>
          <p:cNvSpPr/>
          <p:nvPr/>
        </p:nvSpPr>
        <p:spPr>
          <a:xfrm>
            <a:off x="3421856" y="1855143"/>
            <a:ext cx="2300288" cy="195172"/>
          </a:xfrm>
          <a:prstGeom prst="rect">
            <a:avLst/>
          </a:prstGeom>
          <a:noFill/>
          <a:ln/>
        </p:spPr>
        <p:txBody>
          <a:bodyPr wrap="none" lIns="0" tIns="0" rIns="0" bIns="0" rtlCol="0" anchor="t"/>
          <a:lstStyle/>
          <a:p>
            <a:pPr marL="0" indent="0" algn="l">
              <a:lnSpc>
                <a:spcPts val="1423"/>
              </a:lnSpc>
              <a:buNone/>
            </a:pPr>
            <a:r>
              <a:rPr lang="en-US" sz="1238" b="1" dirty="0">
                <a:solidFill>
                  <a:srgbClr val="E6F1FF"/>
                </a:solidFill>
                <a:latin typeface="Carlito" pitchFamily="34" charset="0"/>
                <a:ea typeface="Carlito" pitchFamily="34" charset="-122"/>
                <a:cs typeface="Carlito" pitchFamily="34" charset="-120"/>
              </a:rPr>
              <a:t>Prototype Build</a:t>
            </a:r>
            <a:endParaRPr lang="en-US" sz="1238" dirty="0"/>
          </a:p>
        </p:txBody>
      </p:sp>
      <p:sp>
        <p:nvSpPr>
          <p:cNvPr id="24" name="Text 20"/>
          <p:cNvSpPr/>
          <p:nvPr/>
        </p:nvSpPr>
        <p:spPr>
          <a:xfrm>
            <a:off x="3421856" y="2107295"/>
            <a:ext cx="2300288" cy="339999"/>
          </a:xfrm>
          <a:prstGeom prst="rect">
            <a:avLst/>
          </a:prstGeom>
          <a:noFill/>
          <a:ln/>
        </p:spPr>
        <p:txBody>
          <a:bodyPr wrap="square" lIns="0" tIns="0" rIns="0" bIns="0" rtlCol="0" anchor="t"/>
          <a:lstStyle/>
          <a:p>
            <a:pPr marL="0" indent="0" algn="l">
              <a:lnSpc>
                <a:spcPts val="1133"/>
              </a:lnSpc>
              <a:buNone/>
            </a:pPr>
            <a:r>
              <a:rPr lang="en-US" sz="800" dirty="0">
                <a:solidFill>
                  <a:srgbClr val="A9B4CC"/>
                </a:solidFill>
                <a:latin typeface="Carlito" pitchFamily="34" charset="0"/>
                <a:ea typeface="Carlito" pitchFamily="34" charset="-122"/>
                <a:cs typeface="Carlito" pitchFamily="34" charset="-120"/>
              </a:rPr>
              <a:t>Build prototype using simulated network telemetry data in a sandbox.</a:t>
            </a:r>
            <a:endParaRPr lang="en-US" sz="800" dirty="0"/>
          </a:p>
        </p:txBody>
      </p:sp>
      <p:sp>
        <p:nvSpPr>
          <p:cNvPr id="25" name="Text 21"/>
          <p:cNvSpPr/>
          <p:nvPr/>
        </p:nvSpPr>
        <p:spPr>
          <a:xfrm>
            <a:off x="3421856" y="2667744"/>
            <a:ext cx="57150" cy="57150"/>
          </a:xfrm>
          <a:prstGeom prst="ellipse">
            <a:avLst/>
          </a:prstGeom>
          <a:solidFill>
            <a:srgbClr val="00E5FF"/>
          </a:solidFill>
          <a:ln/>
          <a:effectLst>
            <a:outerShdw blurRad="114300" dist="50800" dir="16200000" algn="bl" rotWithShape="0">
              <a:srgbClr val="00E5FF">
                <a:alpha val="35000"/>
              </a:srgbClr>
            </a:outerShdw>
          </a:effectLst>
        </p:spPr>
        <p:txBody>
          <a:bodyPr wrap="square" rtlCol="0" anchor="ctr"/>
          <a:lstStyle/>
          <a:p>
            <a:pPr marL="0" indent="0">
              <a:buNone/>
            </a:pPr>
            <a:endParaRPr lang="en-US" dirty="0"/>
          </a:p>
        </p:txBody>
      </p:sp>
      <p:sp>
        <p:nvSpPr>
          <p:cNvPr id="26" name="Text 22"/>
          <p:cNvSpPr/>
          <p:nvPr/>
        </p:nvSpPr>
        <p:spPr>
          <a:xfrm>
            <a:off x="3536156" y="2637383"/>
            <a:ext cx="2185988" cy="117872"/>
          </a:xfrm>
          <a:prstGeom prst="rect">
            <a:avLst/>
          </a:prstGeom>
          <a:noFill/>
          <a:ln/>
        </p:spPr>
        <p:txBody>
          <a:bodyPr wrap="none" lIns="0" tIns="0" rIns="0" bIns="0" rtlCol="0" anchor="t"/>
          <a:lstStyle/>
          <a:p>
            <a:pPr marL="0" indent="0" algn="l">
              <a:lnSpc>
                <a:spcPts val="928"/>
              </a:lnSpc>
              <a:buNone/>
            </a:pPr>
            <a:r>
              <a:rPr lang="en-US" sz="800" kern="0" spc="111" dirty="0">
                <a:solidFill>
                  <a:srgbClr val="00E5FF"/>
                </a:solidFill>
                <a:latin typeface="Courier New" pitchFamily="34" charset="0"/>
                <a:ea typeface="Courier New" pitchFamily="34" charset="-122"/>
                <a:cs typeface="Courier New" pitchFamily="34" charset="-120"/>
              </a:rPr>
              <a:t>CURRENT FOCUS</a:t>
            </a:r>
            <a:endParaRPr lang="en-US" sz="800" dirty="0"/>
          </a:p>
        </p:txBody>
      </p:sp>
      <p:sp>
        <p:nvSpPr>
          <p:cNvPr id="27" name="Text 23"/>
          <p:cNvSpPr/>
          <p:nvPr/>
        </p:nvSpPr>
        <p:spPr>
          <a:xfrm>
            <a:off x="6061472" y="1480096"/>
            <a:ext cx="2621756" cy="1421606"/>
          </a:xfrm>
          <a:prstGeom prst="roundRect">
            <a:avLst>
              <a:gd name="adj" fmla="val 9380"/>
            </a:avLst>
          </a:prstGeom>
          <a:solidFill>
            <a:srgbClr val="FFFFFF">
              <a:alpha val="4000"/>
            </a:srgbClr>
          </a:solidFill>
          <a:ln w="7144">
            <a:solidFill>
              <a:srgbClr val="FFFFFF"/>
            </a:solidFill>
            <a:prstDash val="solid"/>
          </a:ln>
        </p:spPr>
        <p:txBody>
          <a:bodyPr wrap="square" rtlCol="0" anchor="ctr"/>
          <a:lstStyle/>
          <a:p>
            <a:pPr marL="0" indent="0">
              <a:buNone/>
            </a:pPr>
            <a:endParaRPr lang="en-US" dirty="0"/>
          </a:p>
        </p:txBody>
      </p:sp>
      <p:sp>
        <p:nvSpPr>
          <p:cNvPr id="28" name="Text 24"/>
          <p:cNvSpPr/>
          <p:nvPr/>
        </p:nvSpPr>
        <p:spPr>
          <a:xfrm>
            <a:off x="6222206" y="1653332"/>
            <a:ext cx="2143125" cy="164592"/>
          </a:xfrm>
          <a:prstGeom prst="rect">
            <a:avLst/>
          </a:prstGeom>
          <a:noFill/>
          <a:ln/>
        </p:spPr>
        <p:txBody>
          <a:bodyPr wrap="none" lIns="0" tIns="0" rIns="0" bIns="0" rtlCol="0" anchor="t"/>
          <a:lstStyle/>
          <a:p>
            <a:pPr marL="0" indent="0" algn="l">
              <a:lnSpc>
                <a:spcPts val="928"/>
              </a:lnSpc>
              <a:buNone/>
            </a:pPr>
            <a:r>
              <a:rPr lang="en-US" sz="800" kern="0" spc="99" dirty="0">
                <a:solidFill>
                  <a:srgbClr val="10E0A0"/>
                </a:solidFill>
                <a:latin typeface="Liberation Sans Narrow" pitchFamily="34" charset="0"/>
                <a:ea typeface="Liberation Sans Narrow" pitchFamily="34" charset="-122"/>
                <a:cs typeface="Liberation Sans Narrow" pitchFamily="34" charset="-120"/>
              </a:rPr>
              <a:t>PHASE 03 · MONTHS 4–6</a:t>
            </a:r>
            <a:endParaRPr lang="en-US" sz="800" dirty="0"/>
          </a:p>
        </p:txBody>
      </p:sp>
      <p:sp>
        <p:nvSpPr>
          <p:cNvPr id="29" name="Text 25"/>
          <p:cNvSpPr/>
          <p:nvPr/>
        </p:nvSpPr>
        <p:spPr>
          <a:xfrm>
            <a:off x="8379619" y="1640830"/>
            <a:ext cx="142875" cy="142875"/>
          </a:xfrm>
          <a:prstGeom prst="rect">
            <a:avLst/>
          </a:prstGeom>
          <a:noFill/>
          <a:ln/>
        </p:spPr>
        <p:txBody>
          <a:bodyPr wrap="none" lIns="0" tIns="0" rIns="0" bIns="0" rtlCol="0" anchor="ctr"/>
          <a:lstStyle/>
          <a:p>
            <a:pPr marL="0" indent="0" algn="ctr">
              <a:buNone/>
            </a:pPr>
            <a:r>
              <a:rPr lang="en-US" sz="1406" dirty="0">
                <a:solidFill>
                  <a:srgbClr val="10E0A0"/>
                </a:solidFill>
                <a:latin typeface="Segoe UI Symbol" pitchFamily="34" charset="0"/>
                <a:ea typeface="Segoe UI Symbol" pitchFamily="34" charset="-122"/>
                <a:cs typeface="Segoe UI Symbol" pitchFamily="34" charset="-120"/>
              </a:rPr>
              <a:t>➤</a:t>
            </a:r>
            <a:endParaRPr lang="en-US" sz="1406" dirty="0"/>
          </a:p>
        </p:txBody>
      </p:sp>
      <p:sp>
        <p:nvSpPr>
          <p:cNvPr id="30" name="Text 26"/>
          <p:cNvSpPr/>
          <p:nvPr/>
        </p:nvSpPr>
        <p:spPr>
          <a:xfrm>
            <a:off x="6222206" y="1855143"/>
            <a:ext cx="2300288" cy="195172"/>
          </a:xfrm>
          <a:prstGeom prst="rect">
            <a:avLst/>
          </a:prstGeom>
          <a:noFill/>
          <a:ln/>
        </p:spPr>
        <p:txBody>
          <a:bodyPr wrap="none" lIns="0" tIns="0" rIns="0" bIns="0" rtlCol="0" anchor="t"/>
          <a:lstStyle/>
          <a:p>
            <a:pPr marL="0" indent="0" algn="l">
              <a:lnSpc>
                <a:spcPts val="1423"/>
              </a:lnSpc>
              <a:buNone/>
            </a:pPr>
            <a:r>
              <a:rPr lang="en-US" sz="1238" b="1" dirty="0">
                <a:solidFill>
                  <a:srgbClr val="E6F1FF"/>
                </a:solidFill>
                <a:latin typeface="Carlito" pitchFamily="34" charset="0"/>
                <a:ea typeface="Carlito" pitchFamily="34" charset="-122"/>
                <a:cs typeface="Carlito" pitchFamily="34" charset="-120"/>
              </a:rPr>
              <a:t>Live Pilot</a:t>
            </a:r>
            <a:endParaRPr lang="en-US" sz="1238" dirty="0"/>
          </a:p>
        </p:txBody>
      </p:sp>
      <p:sp>
        <p:nvSpPr>
          <p:cNvPr id="31" name="Text 27"/>
          <p:cNvSpPr/>
          <p:nvPr/>
        </p:nvSpPr>
        <p:spPr>
          <a:xfrm>
            <a:off x="6222206" y="2107295"/>
            <a:ext cx="2410015" cy="169999"/>
          </a:xfrm>
          <a:prstGeom prst="rect">
            <a:avLst/>
          </a:prstGeom>
          <a:noFill/>
          <a:ln/>
        </p:spPr>
        <p:txBody>
          <a:bodyPr wrap="square" lIns="0" tIns="0" rIns="0" bIns="0" rtlCol="0" anchor="t"/>
          <a:lstStyle/>
          <a:p>
            <a:pPr marL="0" indent="0" algn="l">
              <a:lnSpc>
                <a:spcPts val="1133"/>
              </a:lnSpc>
              <a:buNone/>
            </a:pPr>
            <a:r>
              <a:rPr lang="en-US" sz="731" dirty="0">
                <a:solidFill>
                  <a:srgbClr val="A9B4CC"/>
                </a:solidFill>
                <a:latin typeface="Carlito" pitchFamily="34" charset="0"/>
                <a:ea typeface="Carlito" pitchFamily="34" charset="-122"/>
                <a:cs typeface="Carlito" pitchFamily="34" charset="-120"/>
              </a:rPr>
              <a:t>Pilot deployment on a live enterprise testbed.</a:t>
            </a:r>
            <a:endParaRPr lang="en-US" sz="731" dirty="0"/>
          </a:p>
        </p:txBody>
      </p:sp>
      <p:sp>
        <p:nvSpPr>
          <p:cNvPr id="32" name="Text 28"/>
          <p:cNvSpPr/>
          <p:nvPr/>
        </p:nvSpPr>
        <p:spPr>
          <a:xfrm>
            <a:off x="6222206" y="2667744"/>
            <a:ext cx="57150" cy="57150"/>
          </a:xfrm>
          <a:prstGeom prst="ellipse">
            <a:avLst/>
          </a:prstGeom>
          <a:solidFill>
            <a:srgbClr val="10E0A0">
              <a:alpha val="60000"/>
            </a:srgbClr>
          </a:solidFill>
          <a:ln/>
          <a:effectLst>
            <a:outerShdw blurRad="114300" dist="50800" dir="16200000" algn="bl" rotWithShape="0">
              <a:srgbClr val="10E0A0">
                <a:alpha val="50000"/>
              </a:srgbClr>
            </a:outerShdw>
          </a:effectLst>
        </p:spPr>
        <p:txBody>
          <a:bodyPr wrap="square" rtlCol="0" anchor="ctr"/>
          <a:lstStyle/>
          <a:p>
            <a:pPr marL="0" indent="0">
              <a:buNone/>
            </a:pPr>
            <a:endParaRPr lang="en-US" dirty="0"/>
          </a:p>
        </p:txBody>
      </p:sp>
      <p:sp>
        <p:nvSpPr>
          <p:cNvPr id="33" name="Text 29"/>
          <p:cNvSpPr/>
          <p:nvPr/>
        </p:nvSpPr>
        <p:spPr>
          <a:xfrm>
            <a:off x="6336506" y="2637383"/>
            <a:ext cx="2185988" cy="117872"/>
          </a:xfrm>
          <a:prstGeom prst="rect">
            <a:avLst/>
          </a:prstGeom>
          <a:noFill/>
          <a:ln/>
        </p:spPr>
        <p:txBody>
          <a:bodyPr wrap="square" lIns="0" tIns="0" rIns="0" bIns="0" rtlCol="0" anchor="t"/>
          <a:lstStyle/>
          <a:p>
            <a:pPr marL="0" indent="0" algn="l">
              <a:lnSpc>
                <a:spcPts val="928"/>
              </a:lnSpc>
              <a:buNone/>
            </a:pPr>
            <a:r>
              <a:rPr lang="en-US" sz="800" kern="0" spc="111" dirty="0">
                <a:solidFill>
                  <a:srgbClr val="6B7494"/>
                </a:solidFill>
                <a:latin typeface="Courier New" pitchFamily="34" charset="0"/>
                <a:ea typeface="Courier New" pitchFamily="34" charset="-122"/>
                <a:cs typeface="Courier New" pitchFamily="34" charset="-120"/>
              </a:rPr>
              <a:t>PRODUCTION</a:t>
            </a:r>
            <a:endParaRPr lang="en-US" sz="800" dirty="0"/>
          </a:p>
        </p:txBody>
      </p:sp>
      <p:sp>
        <p:nvSpPr>
          <p:cNvPr id="46" name="Text 41"/>
          <p:cNvSpPr/>
          <p:nvPr/>
        </p:nvSpPr>
        <p:spPr>
          <a:xfrm>
            <a:off x="6672263" y="3923928"/>
            <a:ext cx="128588" cy="128588"/>
          </a:xfrm>
          <a:prstGeom prst="rect">
            <a:avLst/>
          </a:prstGeom>
          <a:noFill/>
          <a:ln/>
        </p:spPr>
        <p:txBody>
          <a:bodyPr wrap="none" lIns="0" tIns="0" rIns="0" bIns="0" rtlCol="0" anchor="ctr"/>
          <a:lstStyle/>
          <a:p>
            <a:pPr marL="0" indent="0" algn="ctr">
              <a:buNone/>
            </a:pPr>
            <a:endParaRPr lang="en-US" sz="1266" dirty="0"/>
          </a:p>
        </p:txBody>
      </p:sp>
      <p:sp>
        <p:nvSpPr>
          <p:cNvPr id="48" name="Text 43"/>
          <p:cNvSpPr/>
          <p:nvPr/>
        </p:nvSpPr>
        <p:spPr>
          <a:xfrm>
            <a:off x="6858000" y="3982864"/>
            <a:ext cx="1130284" cy="160734"/>
          </a:xfrm>
          <a:prstGeom prst="rect">
            <a:avLst/>
          </a:prstGeom>
          <a:noFill/>
          <a:ln/>
        </p:spPr>
        <p:txBody>
          <a:bodyPr wrap="none" lIns="0" tIns="0" rIns="0" bIns="0" rtlCol="0" anchor="t"/>
          <a:lstStyle/>
          <a:p>
            <a:pPr marL="0" indent="0" algn="l">
              <a:lnSpc>
                <a:spcPts val="1266"/>
              </a:lnSpc>
              <a:buNone/>
            </a:pPr>
            <a:endParaRPr lang="en-US" sz="844" dirty="0"/>
          </a:p>
        </p:txBody>
      </p:sp>
      <p:sp>
        <p:nvSpPr>
          <p:cNvPr id="49" name="Text 44"/>
          <p:cNvSpPr/>
          <p:nvPr/>
        </p:nvSpPr>
        <p:spPr>
          <a:xfrm>
            <a:off x="457200" y="4925616"/>
            <a:ext cx="1630136"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6B7494"/>
                </a:solidFill>
                <a:latin typeface="Liberation Sans Narrow" pitchFamily="34" charset="0"/>
                <a:ea typeface="Liberation Sans Narrow" pitchFamily="34" charset="-122"/>
                <a:cs typeface="Liberation Sans Narrow" pitchFamily="34" charset="-120"/>
              </a:rPr>
              <a:t>NETWORK OPERATIONS · 2026</a:t>
            </a:r>
            <a:endParaRPr lang="en-US" sz="800" dirty="0"/>
          </a:p>
        </p:txBody>
      </p:sp>
      <p:sp>
        <p:nvSpPr>
          <p:cNvPr id="50" name="Text 45"/>
          <p:cNvSpPr/>
          <p:nvPr/>
        </p:nvSpPr>
        <p:spPr>
          <a:xfrm>
            <a:off x="1886955" y="4925616"/>
            <a:ext cx="91440" cy="164592"/>
          </a:xfrm>
          <a:prstGeom prst="rect">
            <a:avLst/>
          </a:prstGeom>
          <a:noFill/>
          <a:ln/>
        </p:spPr>
        <p:txBody>
          <a:bodyPr wrap="square" lIns="0" tIns="0" rIns="0" bIns="0" rtlCol="0" anchor="t"/>
          <a:lstStyle/>
          <a:p>
            <a:pPr marL="0" indent="0" algn="l">
              <a:lnSpc>
                <a:spcPts val="928"/>
              </a:lnSpc>
              <a:buNone/>
            </a:pPr>
            <a:r>
              <a:rPr lang="en-US" sz="800" kern="0" spc="111" dirty="0">
                <a:solidFill>
                  <a:srgbClr val="6B7494"/>
                </a:solidFill>
                <a:latin typeface="Courier New" pitchFamily="34" charset="0"/>
                <a:ea typeface="Courier New" pitchFamily="34" charset="-122"/>
                <a:cs typeface="Courier New" pitchFamily="34" charset="-120"/>
              </a:rPr>
              <a:t>·</a:t>
            </a:r>
            <a:endParaRPr lang="en-US" sz="800" dirty="0"/>
          </a:p>
        </p:txBody>
      </p:sp>
      <p:sp>
        <p:nvSpPr>
          <p:cNvPr id="52" name="Text 47"/>
          <p:cNvSpPr/>
          <p:nvPr/>
        </p:nvSpPr>
        <p:spPr>
          <a:xfrm>
            <a:off x="7289304" y="4955977"/>
            <a:ext cx="57150" cy="57150"/>
          </a:xfrm>
          <a:prstGeom prst="ellipse">
            <a:avLst/>
          </a:prstGeom>
          <a:solidFill>
            <a:srgbClr val="FF4D6D"/>
          </a:solidFill>
          <a:ln/>
          <a:effectLst>
            <a:outerShdw blurRad="114300" dist="50800" dir="16200000" algn="bl" rotWithShape="0">
              <a:srgbClr val="FF4D6D">
                <a:alpha val="50000"/>
              </a:srgbClr>
            </a:outerShdw>
          </a:effectLst>
        </p:spPr>
        <p:txBody>
          <a:bodyPr wrap="square" rtlCol="0" anchor="ctr"/>
          <a:lstStyle/>
          <a:p>
            <a:pPr marL="0" indent="0">
              <a:buNone/>
            </a:pPr>
            <a:endParaRPr lang="en-US" dirty="0"/>
          </a:p>
        </p:txBody>
      </p:sp>
      <p:sp>
        <p:nvSpPr>
          <p:cNvPr id="53" name="Text 48"/>
          <p:cNvSpPr/>
          <p:nvPr/>
        </p:nvSpPr>
        <p:spPr>
          <a:xfrm>
            <a:off x="7403604" y="4955977"/>
            <a:ext cx="57150" cy="57150"/>
          </a:xfrm>
          <a:prstGeom prst="ellipse">
            <a:avLst/>
          </a:prstGeom>
          <a:solidFill>
            <a:srgbClr val="FFB347"/>
          </a:solidFill>
          <a:ln/>
          <a:effectLst>
            <a:outerShdw blurRad="114300" dist="50800" dir="16200000" algn="bl" rotWithShape="0">
              <a:srgbClr val="FFB347">
                <a:alpha val="50000"/>
              </a:srgbClr>
            </a:outerShdw>
          </a:effectLst>
        </p:spPr>
        <p:txBody>
          <a:bodyPr wrap="square" rtlCol="0" anchor="ctr"/>
          <a:lstStyle/>
          <a:p>
            <a:pPr marL="0" indent="0">
              <a:buNone/>
            </a:pPr>
            <a:endParaRPr lang="en-US" dirty="0"/>
          </a:p>
        </p:txBody>
      </p:sp>
      <p:sp>
        <p:nvSpPr>
          <p:cNvPr id="54" name="Text 49"/>
          <p:cNvSpPr/>
          <p:nvPr/>
        </p:nvSpPr>
        <p:spPr>
          <a:xfrm>
            <a:off x="7517904" y="4955977"/>
            <a:ext cx="57150" cy="57150"/>
          </a:xfrm>
          <a:prstGeom prst="ellipse">
            <a:avLst/>
          </a:prstGeom>
          <a:solidFill>
            <a:srgbClr val="10E0A0"/>
          </a:solidFill>
          <a:ln/>
          <a:effectLst>
            <a:outerShdw blurRad="114300" dist="50800" dir="16200000" algn="bl" rotWithShape="0">
              <a:srgbClr val="10E0A0">
                <a:alpha val="50000"/>
              </a:srgbClr>
            </a:outerShdw>
          </a:effectLst>
        </p:spPr>
        <p:txBody>
          <a:bodyPr wrap="square" rtlCol="0" anchor="ctr"/>
          <a:lstStyle/>
          <a:p>
            <a:pPr marL="0" indent="0">
              <a:buNone/>
            </a:pPr>
            <a:endParaRPr lang="en-US" dirty="0"/>
          </a:p>
        </p:txBody>
      </p:sp>
      <p:sp>
        <p:nvSpPr>
          <p:cNvPr id="55" name="Text 50"/>
          <p:cNvSpPr/>
          <p:nvPr/>
        </p:nvSpPr>
        <p:spPr>
          <a:xfrm>
            <a:off x="7632204" y="4925616"/>
            <a:ext cx="1382806"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A9B4CC"/>
                </a:solidFill>
                <a:latin typeface="Courier New" pitchFamily="34" charset="0"/>
                <a:ea typeface="Courier New" pitchFamily="34" charset="-122"/>
                <a:cs typeface="Courier New" pitchFamily="34" charset="-120"/>
              </a:rPr>
              <a:t>RED → GREEN HEALING</a:t>
            </a:r>
            <a:endParaRPr lang="en-US" sz="800" dirty="0"/>
          </a:p>
        </p:txBody>
      </p:sp>
      <p:sp>
        <p:nvSpPr>
          <p:cNvPr id="56" name="Text 51"/>
          <p:cNvSpPr/>
          <p:nvPr/>
        </p:nvSpPr>
        <p:spPr>
          <a:xfrm>
            <a:off x="421481" y="1172455"/>
            <a:ext cx="185738" cy="185738"/>
          </a:xfrm>
          <a:prstGeom prst="ellipse">
            <a:avLst/>
          </a:prstGeom>
          <a:solidFill>
            <a:srgbClr val="0A0E1A"/>
          </a:solidFill>
          <a:ln w="14288">
            <a:solidFill>
              <a:srgbClr val="00E5FF"/>
            </a:solidFill>
            <a:prstDash val="solid"/>
          </a:ln>
          <a:effectLst>
            <a:outerShdw blurRad="152400" dist="50800" dir="16200000" algn="bl" rotWithShape="0">
              <a:srgbClr val="00E5FF">
                <a:alpha val="35000"/>
              </a:srgbClr>
            </a:outerShdw>
          </a:effectLst>
        </p:spPr>
        <p:txBody>
          <a:bodyPr wrap="square" rtlCol="0" anchor="ctr"/>
          <a:lstStyle/>
          <a:p>
            <a:pPr marL="0" indent="0">
              <a:buNone/>
            </a:pPr>
            <a:endParaRPr lang="en-US" dirty="0"/>
          </a:p>
        </p:txBody>
      </p:sp>
      <p:sp>
        <p:nvSpPr>
          <p:cNvPr id="57" name="Text 52"/>
          <p:cNvSpPr/>
          <p:nvPr/>
        </p:nvSpPr>
        <p:spPr>
          <a:xfrm>
            <a:off x="457200" y="1176486"/>
            <a:ext cx="2743200" cy="200025"/>
          </a:xfrm>
          <a:prstGeom prst="rect">
            <a:avLst/>
          </a:prstGeom>
          <a:noFill/>
          <a:ln/>
        </p:spPr>
        <p:txBody>
          <a:bodyPr wrap="none" lIns="0" tIns="0" rIns="0" bIns="0" rtlCol="0" anchor="ctr"/>
          <a:lstStyle/>
          <a:p>
            <a:pPr marL="0" indent="0" algn="l">
              <a:lnSpc>
                <a:spcPts val="928"/>
              </a:lnSpc>
              <a:buNone/>
            </a:pPr>
            <a:r>
              <a:rPr lang="en-US" sz="800" dirty="0">
                <a:solidFill>
                  <a:srgbClr val="00E5FF"/>
                </a:solidFill>
                <a:latin typeface="Liberation Sans Narrow" pitchFamily="34" charset="0"/>
                <a:ea typeface="Liberation Sans Narrow" pitchFamily="34" charset="-122"/>
                <a:cs typeface="Liberation Sans Narrow" pitchFamily="34" charset="-120"/>
              </a:rPr>
              <a:t>01</a:t>
            </a:r>
            <a:endParaRPr lang="en-US" sz="800" dirty="0"/>
          </a:p>
        </p:txBody>
      </p:sp>
      <p:sp>
        <p:nvSpPr>
          <p:cNvPr id="58" name="Text 53"/>
          <p:cNvSpPr/>
          <p:nvPr/>
        </p:nvSpPr>
        <p:spPr>
          <a:xfrm>
            <a:off x="4447935" y="1163205"/>
            <a:ext cx="185738" cy="185738"/>
          </a:xfrm>
          <a:prstGeom prst="ellipse">
            <a:avLst/>
          </a:prstGeom>
          <a:solidFill>
            <a:srgbClr val="00E5FF"/>
          </a:solidFill>
          <a:ln w="14288">
            <a:solidFill>
              <a:srgbClr val="00E5FF"/>
            </a:solidFill>
            <a:prstDash val="solid"/>
          </a:ln>
          <a:effectLst>
            <a:outerShdw blurRad="266700" dist="50800" dir="16200000" algn="bl" rotWithShape="0">
              <a:srgbClr val="00E5FF">
                <a:alpha val="35000"/>
              </a:srgbClr>
            </a:outerShdw>
          </a:effectLst>
        </p:spPr>
        <p:txBody>
          <a:bodyPr wrap="square" rtlCol="0" anchor="ctr"/>
          <a:lstStyle/>
          <a:p>
            <a:pPr marL="0" indent="0">
              <a:buNone/>
            </a:pPr>
            <a:endParaRPr lang="en-US" dirty="0"/>
          </a:p>
        </p:txBody>
      </p:sp>
      <p:sp>
        <p:nvSpPr>
          <p:cNvPr id="59" name="Text 54"/>
          <p:cNvSpPr/>
          <p:nvPr/>
        </p:nvSpPr>
        <p:spPr>
          <a:xfrm>
            <a:off x="4471988" y="1176486"/>
            <a:ext cx="1471613" cy="200025"/>
          </a:xfrm>
          <a:prstGeom prst="rect">
            <a:avLst/>
          </a:prstGeom>
          <a:noFill/>
          <a:ln/>
        </p:spPr>
        <p:txBody>
          <a:bodyPr wrap="none" lIns="0" tIns="0" rIns="0" bIns="0" rtlCol="0" anchor="ctr"/>
          <a:lstStyle/>
          <a:p>
            <a:pPr marL="0" indent="0" algn="l">
              <a:lnSpc>
                <a:spcPts val="928"/>
              </a:lnSpc>
              <a:buNone/>
            </a:pPr>
            <a:r>
              <a:rPr lang="en-US" sz="800" dirty="0">
                <a:solidFill>
                  <a:srgbClr val="0A0E1A"/>
                </a:solidFill>
                <a:latin typeface="Liberation Sans Narrow" pitchFamily="34" charset="0"/>
                <a:ea typeface="Liberation Sans Narrow" pitchFamily="34" charset="-122"/>
                <a:cs typeface="Liberation Sans Narrow" pitchFamily="34" charset="-120"/>
              </a:rPr>
              <a:t>02</a:t>
            </a:r>
            <a:endParaRPr lang="en-US" sz="800" dirty="0"/>
          </a:p>
        </p:txBody>
      </p:sp>
      <p:sp>
        <p:nvSpPr>
          <p:cNvPr id="60" name="Text 55"/>
          <p:cNvSpPr/>
          <p:nvPr/>
        </p:nvSpPr>
        <p:spPr>
          <a:xfrm>
            <a:off x="8466165" y="1177395"/>
            <a:ext cx="185738" cy="185738"/>
          </a:xfrm>
          <a:prstGeom prst="ellipse">
            <a:avLst/>
          </a:prstGeom>
          <a:solidFill>
            <a:srgbClr val="0A0E1A"/>
          </a:solidFill>
          <a:ln w="14288">
            <a:solidFill>
              <a:srgbClr val="00E5FF"/>
            </a:solidFill>
            <a:prstDash val="solid"/>
          </a:ln>
          <a:effectLst>
            <a:outerShdw blurRad="152400" dist="50800" dir="16200000" algn="bl" rotWithShape="0">
              <a:srgbClr val="00E5FF">
                <a:alpha val="35000"/>
              </a:srgbClr>
            </a:outerShdw>
          </a:effectLst>
        </p:spPr>
        <p:txBody>
          <a:bodyPr wrap="square" rtlCol="0" anchor="ctr"/>
          <a:lstStyle/>
          <a:p>
            <a:pPr marL="0" indent="0">
              <a:buNone/>
            </a:pPr>
            <a:endParaRPr lang="en-US" dirty="0"/>
          </a:p>
        </p:txBody>
      </p:sp>
      <p:sp>
        <p:nvSpPr>
          <p:cNvPr id="61" name="Text 56"/>
          <p:cNvSpPr/>
          <p:nvPr/>
        </p:nvSpPr>
        <p:spPr>
          <a:xfrm>
            <a:off x="8486775" y="1176486"/>
            <a:ext cx="200025" cy="200025"/>
          </a:xfrm>
          <a:prstGeom prst="rect">
            <a:avLst/>
          </a:prstGeom>
          <a:noFill/>
          <a:ln/>
        </p:spPr>
        <p:txBody>
          <a:bodyPr wrap="none" lIns="0" tIns="0" rIns="0" bIns="0" rtlCol="0" anchor="ctr"/>
          <a:lstStyle/>
          <a:p>
            <a:pPr marL="0" indent="0" algn="l">
              <a:lnSpc>
                <a:spcPts val="928"/>
              </a:lnSpc>
              <a:buNone/>
            </a:pPr>
            <a:r>
              <a:rPr lang="en-US" sz="800" dirty="0">
                <a:solidFill>
                  <a:srgbClr val="00E5FF"/>
                </a:solidFill>
                <a:latin typeface="Liberation Sans Narrow" pitchFamily="34" charset="0"/>
                <a:ea typeface="Liberation Sans Narrow" pitchFamily="34" charset="-122"/>
                <a:cs typeface="Liberation Sans Narrow" pitchFamily="34" charset="-120"/>
              </a:rPr>
              <a:t>03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2487</Words>
  <Application>Microsoft Office PowerPoint</Application>
  <PresentationFormat>On-screen Show (16:9)</PresentationFormat>
  <Paragraphs>268</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Carlito</vt:lpstr>
      <vt:lpstr>Courier New</vt:lpstr>
      <vt:lpstr>Liberation Sans Narrow</vt:lpstr>
      <vt:lpstr>Segoe UI 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cp:lastModifiedBy>
  <cp:revision>3</cp:revision>
  <dcterms:created xsi:type="dcterms:W3CDTF">2026-08-03T06:54:09Z</dcterms:created>
  <dcterms:modified xsi:type="dcterms:W3CDTF">2026-08-03T07:06:26Z</dcterms:modified>
</cp:coreProperties>
</file>